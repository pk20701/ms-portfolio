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352" r:id="rId2"/>
    <p:sldId id="356" r:id="rId3"/>
    <p:sldId id="374" r:id="rId4"/>
    <p:sldId id="258" r:id="rId5"/>
    <p:sldId id="259" r:id="rId6"/>
    <p:sldId id="367" r:id="rId7"/>
    <p:sldId id="368" r:id="rId8"/>
    <p:sldId id="364" r:id="rId9"/>
    <p:sldId id="359" r:id="rId10"/>
    <p:sldId id="361" r:id="rId11"/>
    <p:sldId id="362" r:id="rId12"/>
    <p:sldId id="366" r:id="rId13"/>
    <p:sldId id="365" r:id="rId14"/>
    <p:sldId id="360" r:id="rId15"/>
    <p:sldId id="260" r:id="rId16"/>
    <p:sldId id="373" r:id="rId17"/>
    <p:sldId id="363" r:id="rId18"/>
    <p:sldId id="262" r:id="rId19"/>
    <p:sldId id="370" r:id="rId20"/>
    <p:sldId id="263" r:id="rId21"/>
    <p:sldId id="369" r:id="rId22"/>
    <p:sldId id="376" r:id="rId23"/>
    <p:sldId id="377" r:id="rId24"/>
    <p:sldId id="371" r:id="rId25"/>
    <p:sldId id="372" r:id="rId26"/>
    <p:sldId id="355" r:id="rId27"/>
    <p:sldId id="357"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7" d="100"/>
          <a:sy n="107" d="100"/>
        </p:scale>
        <p:origin x="138" y="1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1876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F4255-1955-F99A-28DB-5906EA204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8DAAD2-EB77-8650-C9B9-C31DF97AE18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DD8BA93-E61A-9D7A-4E07-30CAB2C256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E5166B-30AC-D252-9A71-C80DA714E9A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8680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B83D9-F74B-EF9C-6910-921D58B95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13AC8A-55F9-7F32-67DF-BD3D2F1F1A4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6BDF2BF-3984-A90E-2AF7-8F134B700A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88C9D0-5B87-90BA-E2E9-87C7AB37103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1008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94CCB-4628-2D8E-4C60-1E72CAE9F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6F5247-7F06-358B-1679-37E4E2BDE84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2B84CBC-D0BF-D52C-8C24-1E9B85A07B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CBDFDC-6CBD-45D6-BAE5-21A831466D7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52055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F7404-9095-D6D4-2488-085F9B872C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47CC85-F661-BCE0-EF14-C649DDAE559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9934293-294C-4327-8343-A284AF7AC7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744B0C-B784-DF01-1088-09E83BD0B75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3464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3910D-6495-62F0-E27D-0E7A2D629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99E09-C152-5253-8384-4F68EF1279E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0BD145F-22A2-DCCB-4E1E-24EDD8540A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41C7DF-B131-ACE1-724E-DA03D24EB6F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680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BD4DA-839B-FEF0-54A5-7FC67CFE7C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7B67EB-288E-A6F8-5D68-71F42F29C3A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0F115D0-C5FD-55E7-6776-3E1142CE2D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EC8F1E-FC17-BE7A-4848-79165DE9FEA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1419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164FD-A856-9DC6-E8C1-E942C0AF87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49B8E-5052-1F66-85C3-ED01DDA32D0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3FDA665-2472-0139-8057-7EDA0ACF24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579167-BDB6-40F6-7E2C-F6DC7E856CD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27792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51EE2-240C-ACD8-5B6B-8538FC892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8268A2-0F25-9833-8A9D-DFCFA3F75FD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C88F1E7-49BD-5E61-543F-CCE656D77A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A906C2-AED9-207B-B913-ECF8AC3D078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55225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B2106-D5DD-A31F-6951-FF63F4FB9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428E2D-C823-DF76-710E-187B2FCF80D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E1DA9B3-9A2D-0BD7-2EB4-1866D01340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33EDFC-245B-0358-ABC0-AFDEC497E75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35875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51C7C-6631-A71F-70E2-0F46304A4D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9836B2-A3E7-BF15-5275-A7810038172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B821BC5-8D3E-55A5-14D7-33D1FDBED9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A01587-4C53-0E7F-0CE2-F811EE1939FD}"/>
              </a:ext>
            </a:extLst>
          </p:cNvPr>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302781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58E16-3796-FC58-301D-FA53B3F80C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F4979A-C620-E2B1-68DE-33CB862A208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CD637D0-8F65-5301-16D4-B0B232C6CC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25F929-9B0C-3BB8-BE43-C2A241B9754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79857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1096A-1AD4-D073-4819-19FA2C50A6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2B0C2-0262-977F-1B5D-BBC7D6B49B8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C0A8DC3-543E-EFF7-9F67-E5BA1EC716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4D4F2C-0ECF-7619-EABD-97FA008CEDBD}"/>
              </a:ext>
            </a:extLst>
          </p:cNvPr>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906148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1C468-502F-ACC2-B1B4-92150C7C66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E89094-3F36-9E4C-E5F6-13B698FFBB5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44A7B4F-E111-BC24-9A00-84F29988E2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B1AEE7-2B85-28B4-8CBB-20EA2A802522}"/>
              </a:ext>
            </a:extLst>
          </p:cNvPr>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26902897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CBCC4-2BAA-0EE8-96E3-3717BDB634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F3BD88-F838-E8DD-2009-31ADE5BDF66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4318E13-825E-5100-921C-3A486AF071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D329AA-270D-692E-6946-7905AEDFAACB}"/>
              </a:ext>
            </a:extLst>
          </p:cNvPr>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32037744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BFE31-DA0E-17B1-934F-71CD6A4E08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44F84A-02A0-7843-F48A-CB832114237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7638E7E-2154-3CB2-6355-DECB9488DF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DD1022-2103-D30E-7C0E-9E6742B86441}"/>
              </a:ext>
            </a:extLst>
          </p:cNvPr>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36829958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04689-D16E-1405-1AF1-BC5E7DD14D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723A30-1F7D-87E8-1A1A-77AC20203F1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19DE644-7C85-E120-DD3C-5FE94E59F9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D81635-C53C-44BE-D2CB-97FE853BE4F3}"/>
              </a:ext>
            </a:extLst>
          </p:cNvPr>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29871365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FCA00-3559-6618-589F-69DFD8D16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9895D-C483-4A09-1FCC-4CB20AAFC3D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8246720-D176-BC8F-A1E3-C9947E52EE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2B51B4-C59E-EE76-BCD6-A28300562544}"/>
              </a:ext>
            </a:extLst>
          </p:cNvPr>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94404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4" name="Rectangle 3"/>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solidFill>
                <a:prstClr val="white"/>
              </a:solidFill>
              <a:latin typeface="Arial" pitchFamily="34" charset="0"/>
              <a:cs typeface="Arial" pitchFamily="34" charset="0"/>
            </a:endParaRPr>
          </a:p>
        </p:txBody>
      </p:sp>
      <p:sp>
        <p:nvSpPr>
          <p:cNvPr id="5" name="Rectangle 4"/>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solidFill>
                <a:prstClr val="white"/>
              </a:solidFill>
            </a:endParaRPr>
          </a:p>
        </p:txBody>
      </p:sp>
      <p:sp>
        <p:nvSpPr>
          <p:cNvPr id="6" name="Rectangle 5"/>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solidFill>
                <a:prstClr val="white"/>
              </a:solidFill>
            </a:endParaRPr>
          </a:p>
        </p:txBody>
      </p:sp>
      <p:sp>
        <p:nvSpPr>
          <p:cNvPr id="8" name="Rectangle 7"/>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solidFill>
                <a:prstClr val="white"/>
              </a:solidFill>
            </a:endParaRPr>
          </a:p>
        </p:txBody>
      </p:sp>
      <p:pic>
        <p:nvPicPr>
          <p:cNvPr id="9" name="Picture 10" descr="BITS_university_logo_whitevert.png"/>
          <p:cNvPicPr>
            <a:picLocks noChangeAspect="1"/>
          </p:cNvPicPr>
          <p:nvPr userDrawn="1"/>
        </p:nvPicPr>
        <p:blipFill>
          <a:blip r:embed="rId2">
            <a:extLst>
              <a:ext uri="{28A0092B-C50C-407E-A947-70E740481C1C}">
                <a14:useLocalDpi xmlns:a14="http://schemas.microsoft.com/office/drawing/2010/main" val="0"/>
              </a:ext>
            </a:extLst>
          </a:blip>
          <a:srcRect t="2" b="28592"/>
          <a:stretch>
            <a:fillRect/>
          </a:stretch>
        </p:blipFill>
        <p:spPr bwMode="auto">
          <a:xfrm>
            <a:off x="101600" y="3352803"/>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1"/>
          <p:cNvGrpSpPr>
            <a:grpSpLocks/>
          </p:cNvGrpSpPr>
          <p:nvPr userDrawn="1"/>
        </p:nvGrpSpPr>
        <p:grpSpPr bwMode="auto">
          <a:xfrm>
            <a:off x="-101600" y="5257802"/>
            <a:ext cx="2946400" cy="651821"/>
            <a:chOff x="76200" y="2209800"/>
            <a:chExt cx="2209800" cy="651821"/>
          </a:xfrm>
        </p:grpSpPr>
        <p:sp>
          <p:nvSpPr>
            <p:cNvPr id="11" name="TextBox 10"/>
            <p:cNvSpPr txBox="1"/>
            <p:nvPr userDrawn="1"/>
          </p:nvSpPr>
          <p:spPr>
            <a:xfrm>
              <a:off x="76200" y="2209800"/>
              <a:ext cx="2209800" cy="427040"/>
            </a:xfrm>
            <a:prstGeom prst="rect">
              <a:avLst/>
            </a:prstGeom>
            <a:noFill/>
          </p:spPr>
          <p:txBody>
            <a:bodyPr>
              <a:spAutoFit/>
            </a:bodyPr>
            <a:lstStyle/>
            <a:p>
              <a:pPr algn="ctr" eaLnBrk="1" fontAlgn="auto" hangingPunct="1">
                <a:spcBef>
                  <a:spcPts val="0"/>
                </a:spcBef>
                <a:spcAft>
                  <a:spcPts val="0"/>
                </a:spcAft>
                <a:defRPr/>
              </a:pPr>
              <a:r>
                <a:rPr lang="en-US" sz="2175" b="1" spc="-113" dirty="0">
                  <a:solidFill>
                    <a:prstClr val="white"/>
                  </a:solidFill>
                  <a:latin typeface="Arial"/>
                  <a:ea typeface="+mn-ea"/>
                  <a:cs typeface="Arial"/>
                </a:rPr>
                <a:t>BITS</a:t>
              </a:r>
              <a:r>
                <a:rPr lang="en-US" sz="2175" spc="-113" dirty="0">
                  <a:solidFill>
                    <a:prstClr val="white"/>
                  </a:solidFill>
                  <a:latin typeface="Arial"/>
                  <a:ea typeface="+mn-ea"/>
                  <a:cs typeface="Arial"/>
                </a:rPr>
                <a:t> Pilani</a:t>
              </a:r>
            </a:p>
          </p:txBody>
        </p:sp>
        <p:sp>
          <p:nvSpPr>
            <p:cNvPr id="12" name="TextBox 11"/>
            <p:cNvSpPr txBox="1"/>
            <p:nvPr userDrawn="1"/>
          </p:nvSpPr>
          <p:spPr>
            <a:xfrm>
              <a:off x="228600" y="2665413"/>
              <a:ext cx="1905000" cy="196208"/>
            </a:xfrm>
            <a:prstGeom prst="rect">
              <a:avLst/>
            </a:prstGeom>
            <a:noFill/>
          </p:spPr>
          <p:txBody>
            <a:bodyPr>
              <a:spAutoFit/>
            </a:bodyPr>
            <a:lstStyle/>
            <a:p>
              <a:pPr algn="ctr" eaLnBrk="1" fontAlgn="auto" hangingPunct="1">
                <a:spcBef>
                  <a:spcPts val="0"/>
                </a:spcBef>
                <a:spcAft>
                  <a:spcPts val="0"/>
                </a:spcAft>
                <a:defRPr/>
              </a:pPr>
              <a:r>
                <a:rPr lang="en-US" sz="675" spc="-113" dirty="0">
                  <a:solidFill>
                    <a:srgbClr val="FFFFFF"/>
                  </a:solidFill>
                  <a:latin typeface="Arial"/>
                  <a:ea typeface="+mn-ea"/>
                  <a:cs typeface="Arial"/>
                </a:rPr>
                <a:t>Pilani | Dubai | Goa | Hyderabad</a:t>
              </a:r>
            </a:p>
          </p:txBody>
        </p:sp>
      </p:gr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8124148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438400" y="3552825"/>
            <a:ext cx="9107055" cy="1524000"/>
          </a:xfrm>
        </p:spPr>
        <p:txBody>
          <a:bodyPr/>
          <a:lstStyle/>
          <a:p>
            <a:pPr algn="ctr">
              <a:lnSpc>
                <a:spcPts val="3888"/>
              </a:lnSpc>
            </a:pPr>
            <a:r>
              <a:rPr lang="en-US" sz="3200" kern="0" spc="-203" dirty="0">
                <a:solidFill>
                  <a:srgbClr val="FFFFFF"/>
                </a:solidFill>
                <a:ea typeface="Inter SemiBold" pitchFamily="34" charset="-122"/>
                <a:cs typeface="Inter SemiBold" pitchFamily="34" charset="-120"/>
              </a:rPr>
              <a:t>Final Report Presentation : </a:t>
            </a:r>
            <a:br>
              <a:rPr lang="en-US" sz="3200" kern="0" spc="-203" dirty="0">
                <a:solidFill>
                  <a:srgbClr val="FFFFFF"/>
                </a:solidFill>
                <a:ea typeface="Inter SemiBold" pitchFamily="34" charset="-122"/>
                <a:cs typeface="Inter SemiBold" pitchFamily="34" charset="-120"/>
              </a:rPr>
            </a:br>
            <a:r>
              <a:rPr lang="en-US" sz="3200" kern="0" spc="-203" dirty="0">
                <a:solidFill>
                  <a:srgbClr val="FFFFFF"/>
                </a:solidFill>
                <a:ea typeface="Inter SemiBold" pitchFamily="34" charset="-122"/>
                <a:cs typeface="Inter SemiBold" pitchFamily="34" charset="-120"/>
              </a:rPr>
              <a:t>A Hybrid Scoring Framework for Jira Requirement Quality:</a:t>
            </a:r>
            <a:br>
              <a:rPr lang="en-US" sz="3200" kern="0" spc="-203" dirty="0">
                <a:solidFill>
                  <a:srgbClr val="FFFFFF"/>
                </a:solidFill>
                <a:ea typeface="Inter SemiBold" pitchFamily="34" charset="-122"/>
                <a:cs typeface="Inter SemiBold" pitchFamily="34" charset="-120"/>
              </a:rPr>
            </a:br>
            <a:r>
              <a:rPr lang="en-US" sz="3200" kern="0" spc="-203" dirty="0">
                <a:solidFill>
                  <a:srgbClr val="FFFFFF"/>
                </a:solidFill>
                <a:ea typeface="Inter SemiBold" pitchFamily="34" charset="-122"/>
                <a:cs typeface="Inter SemiBold" pitchFamily="34" charset="-120"/>
              </a:rPr>
              <a:t>Integrating Domain Rules with Machine Learning Classification</a:t>
            </a:r>
            <a:endParaRPr lang="en-US" sz="3200" dirty="0"/>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a:xfrm>
            <a:off x="8839200" y="6340476"/>
            <a:ext cx="18288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8D7E44-7D4F-4942-A8C9-2DF6BF8399E8}" type="slidenum">
              <a:rPr lang="en-US" smtClean="0"/>
              <a:pPr/>
              <a:t>1</a:t>
            </a:fld>
            <a:endParaRPr lang="en-US" dirty="0"/>
          </a:p>
        </p:txBody>
      </p:sp>
      <p:graphicFrame>
        <p:nvGraphicFramePr>
          <p:cNvPr id="6" name="Table 5">
            <a:extLst>
              <a:ext uri="{FF2B5EF4-FFF2-40B4-BE49-F238E27FC236}">
                <a16:creationId xmlns:a16="http://schemas.microsoft.com/office/drawing/2014/main" id="{E9989FA6-C690-93A7-24AC-4068EE95EE75}"/>
              </a:ext>
            </a:extLst>
          </p:cNvPr>
          <p:cNvGraphicFramePr>
            <a:graphicFrameLocks noGrp="1"/>
          </p:cNvGraphicFramePr>
          <p:nvPr>
            <p:extLst>
              <p:ext uri="{D42A27DB-BD31-4B8C-83A1-F6EECF244321}">
                <p14:modId xmlns:p14="http://schemas.microsoft.com/office/powerpoint/2010/main" val="2690112936"/>
              </p:ext>
            </p:extLst>
          </p:nvPr>
        </p:nvGraphicFramePr>
        <p:xfrm>
          <a:off x="8319247" y="5160911"/>
          <a:ext cx="2899580" cy="941792"/>
        </p:xfrm>
        <a:graphic>
          <a:graphicData uri="http://schemas.openxmlformats.org/drawingml/2006/table">
            <a:tbl>
              <a:tblPr/>
              <a:tblGrid>
                <a:gridCol w="2899580">
                  <a:extLst>
                    <a:ext uri="{9D8B030D-6E8A-4147-A177-3AD203B41FA5}">
                      <a16:colId xmlns:a16="http://schemas.microsoft.com/office/drawing/2014/main" val="4215647134"/>
                    </a:ext>
                  </a:extLst>
                </a:gridCol>
              </a:tblGrid>
              <a:tr h="310030">
                <a:tc>
                  <a:txBody>
                    <a:bodyPr/>
                    <a:lstStyle/>
                    <a:p>
                      <a:pPr algn="ctr" fontAlgn="ctr"/>
                      <a:r>
                        <a:rPr lang="en-US" sz="1200" b="1" i="0" u="none" strike="noStrike" dirty="0">
                          <a:solidFill>
                            <a:schemeClr val="bg1"/>
                          </a:solidFill>
                          <a:effectLst/>
                          <a:latin typeface="+mj-lt"/>
                        </a:rPr>
                        <a:t>KAMTHEKAR PRASANNA YESHWANTRAO </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973968"/>
                  </a:ext>
                </a:extLst>
              </a:tr>
              <a:tr h="125078">
                <a:tc>
                  <a:txBody>
                    <a:bodyPr/>
                    <a:lstStyle/>
                    <a:p>
                      <a:pPr algn="ctr">
                        <a:lnSpc>
                          <a:spcPts val="1744"/>
                        </a:lnSpc>
                        <a:spcBef>
                          <a:spcPts val="745"/>
                        </a:spcBef>
                      </a:pPr>
                      <a:r>
                        <a:rPr lang="en-US" sz="1200" b="1" kern="0" spc="-26" dirty="0">
                          <a:solidFill>
                            <a:srgbClr val="FFFFFF">
                              <a:alpha val="80000"/>
                            </a:srgbClr>
                          </a:solidFill>
                          <a:latin typeface="+mj-lt"/>
                          <a:ea typeface="Inter Medium" pitchFamily="34" charset="-122"/>
                          <a:cs typeface="Inter Medium" pitchFamily="34" charset="-120"/>
                        </a:rPr>
                        <a:t> BITS ID: 2024DA04180</a:t>
                      </a:r>
                      <a:endParaRPr lang="en-US" sz="1200" b="1" dirty="0">
                        <a:latin typeface="+mj-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3590566"/>
                  </a:ext>
                </a:extLst>
              </a:tr>
              <a:tr h="125078">
                <a:tc>
                  <a:txBody>
                    <a:bodyPr/>
                    <a:lstStyle/>
                    <a:p>
                      <a:pPr algn="ctr">
                        <a:lnSpc>
                          <a:spcPts val="1744"/>
                        </a:lnSpc>
                        <a:spcBef>
                          <a:spcPts val="745"/>
                        </a:spcBef>
                      </a:pPr>
                      <a:r>
                        <a:rPr lang="en-US" sz="1200" dirty="0">
                          <a:solidFill>
                            <a:srgbClr val="DCE7F0"/>
                          </a:solidFill>
                          <a:latin typeface="Calibri" pitchFamily="34" charset="0"/>
                          <a:ea typeface="Calibri" pitchFamily="34" charset="-122"/>
                          <a:cs typeface="Calibri" pitchFamily="34" charset="-120"/>
                        </a:rPr>
                        <a:t>M.Tech. Data Science &amp; Engineering </a:t>
                      </a:r>
                      <a:endParaRPr lang="en-US" sz="1200" b="1" dirty="0">
                        <a:latin typeface="+mj-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2062130"/>
                  </a:ext>
                </a:extLst>
              </a:tr>
              <a:tr h="125078">
                <a:tc>
                  <a:txBody>
                    <a:bodyPr/>
                    <a:lstStyle/>
                    <a:p>
                      <a:pPr marL="0" marR="0" lvl="0" indent="0" algn="ctr" defTabSz="914400" rtl="0" eaLnBrk="1" fontAlgn="auto" latinLnBrk="0" hangingPunct="1">
                        <a:lnSpc>
                          <a:spcPts val="1744"/>
                        </a:lnSpc>
                        <a:spcBef>
                          <a:spcPts val="745"/>
                        </a:spcBef>
                        <a:spcAft>
                          <a:spcPts val="0"/>
                        </a:spcAft>
                        <a:buClrTx/>
                        <a:buSzTx/>
                        <a:buFontTx/>
                        <a:buNone/>
                        <a:tabLst/>
                        <a:defRPr/>
                      </a:pPr>
                      <a:r>
                        <a:rPr lang="en-US" sz="1100" kern="1200" dirty="0">
                          <a:solidFill>
                            <a:srgbClr val="DCE7F0"/>
                          </a:solidFill>
                          <a:latin typeface="Calibri" pitchFamily="34" charset="0"/>
                          <a:ea typeface="Calibri" pitchFamily="34" charset="-122"/>
                          <a:cs typeface="Calibri" pitchFamily="34" charset="-120"/>
                        </a:rPr>
                        <a:t>BITS PILANI - WILP DIVISION</a:t>
                      </a:r>
                      <a:endParaRPr lang="en-US" sz="1100" b="1" dirty="0">
                        <a:latin typeface="+mj-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0680347"/>
                  </a:ext>
                </a:extLst>
              </a:tr>
            </a:tbl>
          </a:graphicData>
        </a:graphic>
      </p:graphicFrame>
    </p:spTree>
    <p:extLst>
      <p:ext uri="{BB962C8B-B14F-4D97-AF65-F5344CB8AC3E}">
        <p14:creationId xmlns:p14="http://schemas.microsoft.com/office/powerpoint/2010/main" val="1445644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DA047-AC02-E547-A979-1400C07B4AF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40CF88-6D9C-044D-D7F6-950775299912}"/>
              </a:ext>
            </a:extLst>
          </p:cNvPr>
          <p:cNvSpPr/>
          <p:nvPr/>
        </p:nvSpPr>
        <p:spPr>
          <a:xfrm>
            <a:off x="254454" y="103882"/>
            <a:ext cx="11334750" cy="548580"/>
          </a:xfrm>
          <a:prstGeom prst="rect">
            <a:avLst/>
          </a:prstGeom>
          <a:noFill/>
          <a:ln>
            <a:miter lim="800000"/>
          </a:ln>
        </p:spPr>
        <p:txBody>
          <a:bodyPr wrap="square" lIns="0" tIns="0" rIns="0" bIns="0" rtlCol="0" anchor="t"/>
          <a:lstStyle/>
          <a:p>
            <a:pPr marL="0" marR="0" lvl="0" indent="0" algn="ctr" defTabSz="914400" rtl="0" eaLnBrk="1" fontAlgn="auto" latinLnBrk="0" hangingPunct="1">
              <a:lnSpc>
                <a:spcPts val="4320"/>
              </a:lnSpc>
              <a:spcBef>
                <a:spcPts val="0"/>
              </a:spcBef>
              <a:spcAft>
                <a:spcPts val="0"/>
              </a:spcAft>
              <a:buClrTx/>
              <a:buSzTx/>
              <a:buFontTx/>
              <a:buNone/>
              <a:tabLst/>
              <a:defRPr/>
            </a:pPr>
            <a:r>
              <a:rPr kumimoji="0" lang="en-US" sz="3750" b="1" i="0" u="none" strike="noStrike" kern="0" cap="none" spc="-225" normalizeH="0" baseline="0" noProof="0" dirty="0">
                <a:ln>
                  <a:noFill/>
                </a:ln>
                <a:solidFill>
                  <a:srgbClr val="FFFFFF"/>
                </a:solidFill>
                <a:effectLst/>
                <a:uLnTx/>
                <a:uFillTx/>
                <a:latin typeface="Calibri Light" panose="020F0302020204030204"/>
                <a:ea typeface="Inter SemiBold" pitchFamily="34" charset="-122"/>
                <a:cs typeface="+mn-cs"/>
              </a:rPr>
              <a:t>Table of Contents</a:t>
            </a:r>
          </a:p>
        </p:txBody>
      </p:sp>
      <p:sp>
        <p:nvSpPr>
          <p:cNvPr id="4" name="TextBox 3">
            <a:extLst>
              <a:ext uri="{FF2B5EF4-FFF2-40B4-BE49-F238E27FC236}">
                <a16:creationId xmlns:a16="http://schemas.microsoft.com/office/drawing/2014/main" id="{201DE968-1C0F-1BC5-53ED-97F9EF1D9246}"/>
              </a:ext>
            </a:extLst>
          </p:cNvPr>
          <p:cNvSpPr txBox="1"/>
          <p:nvPr/>
        </p:nvSpPr>
        <p:spPr>
          <a:xfrm>
            <a:off x="786294" y="1209941"/>
            <a:ext cx="10002129" cy="5386090"/>
          </a:xfrm>
          <a:prstGeom prst="rect">
            <a:avLst/>
          </a:prstGeom>
          <a:noFill/>
        </p:spPr>
        <p:txBody>
          <a:bodyPr wrap="square" rtlCol="0">
            <a:spAutoFit/>
          </a:bodyPr>
          <a:lstStyle/>
          <a:p>
            <a:pPr marL="285750" indent="-283464">
              <a:spcAft>
                <a:spcPts val="600"/>
              </a:spcAft>
              <a:buFont typeface="Arial" panose="020B0604020202020204" pitchFamily="34" charset="0"/>
              <a:buChar char="•"/>
            </a:pPr>
            <a:r>
              <a:rPr lang="en-US" kern="0" dirty="0">
                <a:solidFill>
                  <a:schemeClr val="bg1"/>
                </a:solidFill>
                <a:latin typeface="+mj-lt"/>
                <a:ea typeface="Inter SemiBold" pitchFamily="34" charset="-122"/>
              </a:rPr>
              <a:t>Introduction – Problem Statement</a:t>
            </a:r>
          </a:p>
          <a:p>
            <a:pPr marL="285750" indent="-283464">
              <a:spcAft>
                <a:spcPts val="600"/>
              </a:spcAft>
              <a:buFont typeface="Arial" panose="020B0604020202020204" pitchFamily="34" charset="0"/>
              <a:buChar char="•"/>
            </a:pPr>
            <a:r>
              <a:rPr lang="en-US" kern="0" dirty="0">
                <a:solidFill>
                  <a:schemeClr val="bg1"/>
                </a:solidFill>
                <a:latin typeface="+mj-lt"/>
                <a:ea typeface="Inter SemiBold" pitchFamily="34" charset="-122"/>
              </a:rPr>
              <a:t>Objectives &amp; Scope</a:t>
            </a:r>
          </a:p>
          <a:p>
            <a:pPr marL="285750" indent="-283464">
              <a:spcAft>
                <a:spcPts val="600"/>
              </a:spcAft>
              <a:buFont typeface="Arial" panose="020B0604020202020204" pitchFamily="34" charset="0"/>
              <a:buChar char="•"/>
            </a:pPr>
            <a:r>
              <a:rPr lang="en-US" kern="0" dirty="0">
                <a:solidFill>
                  <a:schemeClr val="bg1"/>
                </a:solidFill>
                <a:ea typeface="Inter SemiBold" pitchFamily="34" charset="-122"/>
              </a:rPr>
              <a:t>Research Methodology	</a:t>
            </a:r>
          </a:p>
          <a:p>
            <a:pPr marL="285750" indent="-283464">
              <a:spcAft>
                <a:spcPts val="600"/>
              </a:spcAft>
              <a:buFont typeface="Arial" panose="020B0604020202020204" pitchFamily="34" charset="0"/>
              <a:buChar char="•"/>
            </a:pPr>
            <a:r>
              <a:rPr lang="en-US" kern="0" dirty="0">
                <a:solidFill>
                  <a:schemeClr val="bg1"/>
                </a:solidFill>
                <a:latin typeface="+mj-lt"/>
                <a:ea typeface="Inter SemiBold" pitchFamily="34" charset="-122"/>
              </a:rPr>
              <a:t>Literature Review</a:t>
            </a:r>
          </a:p>
          <a:p>
            <a:pPr marL="285750" indent="-283464">
              <a:spcAft>
                <a:spcPts val="600"/>
              </a:spcAft>
              <a:buFont typeface="Arial" panose="020B0604020202020204" pitchFamily="34" charset="0"/>
              <a:buChar char="•"/>
            </a:pPr>
            <a:r>
              <a:rPr lang="en-US" kern="0" dirty="0">
                <a:solidFill>
                  <a:schemeClr val="bg1"/>
                </a:solidFill>
                <a:latin typeface="+mj-lt"/>
                <a:ea typeface="Inter SemiBold" pitchFamily="34" charset="-122"/>
              </a:rPr>
              <a:t>Three-Layer Architecture Diagram</a:t>
            </a:r>
          </a:p>
          <a:p>
            <a:pPr marL="285750" indent="-283464">
              <a:spcAft>
                <a:spcPts val="600"/>
              </a:spcAft>
              <a:buFont typeface="Arial" panose="020B0604020202020204" pitchFamily="34" charset="0"/>
              <a:buChar char="•"/>
            </a:pPr>
            <a:r>
              <a:rPr lang="en-US" kern="0" dirty="0">
                <a:solidFill>
                  <a:schemeClr val="bg1"/>
                </a:solidFill>
                <a:latin typeface="+mj-lt"/>
                <a:ea typeface="Inter SemiBold" pitchFamily="34" charset="-122"/>
                <a:cs typeface="Inter SemiBold" pitchFamily="34" charset="-120"/>
              </a:rPr>
              <a:t>Data Preparation and Ingestion</a:t>
            </a:r>
          </a:p>
          <a:p>
            <a:pPr marL="285750" indent="-283464">
              <a:spcAft>
                <a:spcPts val="600"/>
              </a:spcAft>
              <a:buFont typeface="Arial" panose="020B0604020202020204" pitchFamily="34" charset="0"/>
              <a:buChar char="•"/>
            </a:pPr>
            <a:r>
              <a:rPr lang="en-US" kern="0" dirty="0">
                <a:solidFill>
                  <a:schemeClr val="bg1"/>
                </a:solidFill>
                <a:latin typeface="+mj-lt"/>
                <a:ea typeface="Inter SemiBold" pitchFamily="34" charset="-122"/>
              </a:rPr>
              <a:t>Rule Engine – Syntactic Gates</a:t>
            </a:r>
          </a:p>
          <a:p>
            <a:pPr marL="285750" indent="-283464">
              <a:spcAft>
                <a:spcPts val="600"/>
              </a:spcAft>
              <a:buFont typeface="Arial" panose="020B0604020202020204" pitchFamily="34" charset="0"/>
              <a:buChar char="•"/>
            </a:pPr>
            <a:r>
              <a:rPr lang="en-US" kern="0" dirty="0">
                <a:solidFill>
                  <a:schemeClr val="bg1"/>
                </a:solidFill>
                <a:latin typeface="+mj-lt"/>
                <a:ea typeface="Inter SemiBold" pitchFamily="34" charset="-122"/>
              </a:rPr>
              <a:t>Feature Engineering </a:t>
            </a:r>
          </a:p>
          <a:p>
            <a:pPr marL="285750" indent="-283464">
              <a:spcAft>
                <a:spcPts val="600"/>
              </a:spcAft>
              <a:buFont typeface="Arial" panose="020B0604020202020204" pitchFamily="34" charset="0"/>
              <a:buChar char="•"/>
            </a:pPr>
            <a:r>
              <a:rPr lang="en-US" kern="0" dirty="0">
                <a:solidFill>
                  <a:schemeClr val="bg1"/>
                </a:solidFill>
                <a:latin typeface="+mj-lt"/>
                <a:ea typeface="Inter SemiBold" pitchFamily="34" charset="-122"/>
              </a:rPr>
              <a:t>ML Transparency: Model Comparison ,  Performance Results</a:t>
            </a:r>
          </a:p>
          <a:p>
            <a:pPr marL="285750" indent="-283464">
              <a:spcAft>
                <a:spcPts val="600"/>
              </a:spcAft>
              <a:buFont typeface="Arial" panose="020B0604020202020204" pitchFamily="34" charset="0"/>
              <a:buChar char="•"/>
            </a:pPr>
            <a:r>
              <a:rPr lang="en-US" kern="0" dirty="0">
                <a:solidFill>
                  <a:schemeClr val="bg1"/>
                </a:solidFill>
                <a:latin typeface="+mj-lt"/>
                <a:ea typeface="Inter SemiBold" pitchFamily="34" charset="-122"/>
              </a:rPr>
              <a:t>Hybrid Score Engine with Tunable Parameters</a:t>
            </a:r>
          </a:p>
          <a:p>
            <a:pPr marL="285750" indent="-283464">
              <a:spcAft>
                <a:spcPts val="600"/>
              </a:spcAft>
              <a:buFont typeface="Arial" panose="020B0604020202020204" pitchFamily="34" charset="0"/>
              <a:buChar char="•"/>
            </a:pPr>
            <a:r>
              <a:rPr lang="en-US" kern="0" dirty="0">
                <a:solidFill>
                  <a:schemeClr val="bg1"/>
                </a:solidFill>
                <a:latin typeface="+mj-lt"/>
                <a:ea typeface="Inter SemiBold" pitchFamily="34" charset="-122"/>
              </a:rPr>
              <a:t>UI – Insights, Dashboard </a:t>
            </a:r>
          </a:p>
          <a:p>
            <a:pPr marL="285750" indent="-283464">
              <a:spcAft>
                <a:spcPts val="600"/>
              </a:spcAft>
              <a:buFont typeface="Arial" panose="020B0604020202020204" pitchFamily="34" charset="0"/>
              <a:buChar char="•"/>
            </a:pPr>
            <a:r>
              <a:rPr lang="en-US" kern="0" dirty="0">
                <a:solidFill>
                  <a:schemeClr val="bg1"/>
                </a:solidFill>
                <a:latin typeface="+mj-lt"/>
                <a:ea typeface="Inter SemiBold" pitchFamily="34" charset="-122"/>
              </a:rPr>
              <a:t>Conversational Chatbot</a:t>
            </a:r>
          </a:p>
          <a:p>
            <a:pPr marL="285750" indent="-283464">
              <a:spcAft>
                <a:spcPts val="600"/>
              </a:spcAft>
              <a:buFont typeface="Arial" panose="020B0604020202020204" pitchFamily="34" charset="0"/>
              <a:buChar char="•"/>
            </a:pPr>
            <a:r>
              <a:rPr lang="en-US" kern="0" dirty="0">
                <a:solidFill>
                  <a:schemeClr val="bg1"/>
                </a:solidFill>
                <a:latin typeface="+mj-lt"/>
                <a:ea typeface="Inter SemiBold" pitchFamily="34" charset="-122"/>
              </a:rPr>
              <a:t>Demo</a:t>
            </a:r>
            <a:endParaRPr lang="en-US" dirty="0">
              <a:solidFill>
                <a:schemeClr val="bg1"/>
              </a:solidFill>
              <a:latin typeface="+mj-lt"/>
            </a:endParaRPr>
          </a:p>
          <a:p>
            <a:pPr marL="285750" indent="-283464">
              <a:spcAft>
                <a:spcPts val="600"/>
              </a:spcAft>
              <a:buFont typeface="Arial" panose="020B0604020202020204" pitchFamily="34" charset="0"/>
              <a:buChar char="•"/>
            </a:pPr>
            <a:r>
              <a:rPr lang="en-US" kern="0" dirty="0">
                <a:solidFill>
                  <a:schemeClr val="bg1"/>
                </a:solidFill>
                <a:latin typeface="+mj-lt"/>
                <a:ea typeface="Inter SemiBold" pitchFamily="34" charset="-122"/>
              </a:rPr>
              <a:t>Conclusion</a:t>
            </a:r>
          </a:p>
          <a:p>
            <a:pPr marL="285750" indent="-283464">
              <a:buFont typeface="Arial" panose="020B0604020202020204" pitchFamily="34" charset="0"/>
              <a:buChar char="•"/>
            </a:pPr>
            <a:endParaRPr lang="en-US" sz="1100" b="1" kern="0" spc="-225" dirty="0">
              <a:solidFill>
                <a:srgbClr val="FFFFFF"/>
              </a:solidFill>
              <a:ea typeface="Inter SemiBold" pitchFamily="34" charset="-122"/>
            </a:endParaRPr>
          </a:p>
          <a:p>
            <a:pPr marL="285750" indent="-283464">
              <a:buFont typeface="Arial" panose="020B0604020202020204" pitchFamily="34" charset="0"/>
              <a:buChar char="•"/>
            </a:pPr>
            <a:endParaRPr lang="en-US" sz="1100" dirty="0"/>
          </a:p>
        </p:txBody>
      </p:sp>
    </p:spTree>
    <p:extLst>
      <p:ext uri="{BB962C8B-B14F-4D97-AF65-F5344CB8AC3E}">
        <p14:creationId xmlns:p14="http://schemas.microsoft.com/office/powerpoint/2010/main" val="715729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0EFF5-0684-6365-8896-F30DC27CF76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BBC1440-51B3-7D2D-9328-B4A1A5DAFB32}"/>
              </a:ext>
            </a:extLst>
          </p:cNvPr>
          <p:cNvSpPr/>
          <p:nvPr/>
        </p:nvSpPr>
        <p:spPr>
          <a:xfrm>
            <a:off x="287069" y="297151"/>
            <a:ext cx="11549509" cy="556171"/>
          </a:xfrm>
          <a:prstGeom prst="rect">
            <a:avLst/>
          </a:prstGeom>
          <a:noFill/>
          <a:ln>
            <a:miter lim="800000"/>
          </a:ln>
        </p:spPr>
        <p:txBody>
          <a:bodyPr wrap="square" lIns="0" tIns="0" rIns="0" bIns="0" rtlCol="0" anchor="t"/>
          <a:lstStyle/>
          <a:p>
            <a:pPr marL="0" marR="0" lvl="0" indent="0" algn="ctr" defTabSz="914400" rtl="0" eaLnBrk="1" fontAlgn="auto" latinLnBrk="0" hangingPunct="1">
              <a:lnSpc>
                <a:spcPts val="4380"/>
              </a:lnSpc>
              <a:spcBef>
                <a:spcPts val="0"/>
              </a:spcBef>
              <a:spcAft>
                <a:spcPts val="0"/>
              </a:spcAft>
              <a:buClrTx/>
              <a:buSzTx/>
              <a:buFontTx/>
              <a:buNone/>
              <a:tabLst/>
              <a:defRPr/>
            </a:pPr>
            <a:r>
              <a:rPr kumimoji="0" lang="en-US" sz="3000" b="1" i="0" u="none" strike="noStrike" kern="0" cap="none" spc="-225" normalizeH="0" baseline="0" noProof="0" dirty="0">
                <a:ln>
                  <a:noFill/>
                </a:ln>
                <a:solidFill>
                  <a:srgbClr val="FFFFFF"/>
                </a:solidFill>
                <a:effectLst/>
                <a:uLnTx/>
                <a:uFillTx/>
                <a:latin typeface="+mj-lt"/>
                <a:ea typeface="Inter SemiBold" pitchFamily="34" charset="-122"/>
                <a:cs typeface="Inter SemiBold" pitchFamily="34" charset="-120"/>
              </a:rPr>
              <a:t>Problem Statement : Semantically Hollow </a:t>
            </a:r>
            <a:r>
              <a:rPr lang="en-US" sz="3000" b="1" kern="0" spc="-225" dirty="0">
                <a:solidFill>
                  <a:srgbClr val="FFFFFF"/>
                </a:solidFill>
                <a:latin typeface="+mj-lt"/>
                <a:ea typeface="Inter SemiBold" pitchFamily="34" charset="-122"/>
              </a:rPr>
              <a:t>Jira</a:t>
            </a:r>
            <a:r>
              <a:rPr kumimoji="0" lang="en-US" sz="3000" b="1" i="0" u="none" strike="noStrike" kern="0" cap="none" spc="-225" normalizeH="0" baseline="0" noProof="0" dirty="0">
                <a:ln>
                  <a:noFill/>
                </a:ln>
                <a:solidFill>
                  <a:srgbClr val="FFFFFF"/>
                </a:solidFill>
                <a:effectLst/>
                <a:uLnTx/>
                <a:uFillTx/>
                <a:latin typeface="+mj-lt"/>
                <a:ea typeface="Inter SemiBold" pitchFamily="34" charset="-122"/>
                <a:cs typeface="Inter SemiBold" pitchFamily="34" charset="-120"/>
              </a:rPr>
              <a:t> Requirements</a:t>
            </a:r>
            <a:endParaRPr kumimoji="0" lang="en-US" sz="3000" b="1" i="0" u="none" strike="noStrike" kern="1200" cap="none" spc="0" normalizeH="0" baseline="0" noProof="0" dirty="0">
              <a:ln>
                <a:noFill/>
              </a:ln>
              <a:solidFill>
                <a:prstClr val="black"/>
              </a:solidFill>
              <a:effectLst/>
              <a:uLnTx/>
              <a:uFillTx/>
              <a:latin typeface="+mj-lt"/>
              <a:ea typeface="+mn-ea"/>
              <a:cs typeface="+mn-cs"/>
            </a:endParaRPr>
          </a:p>
        </p:txBody>
      </p:sp>
      <p:sp>
        <p:nvSpPr>
          <p:cNvPr id="3" name="Text 1">
            <a:extLst>
              <a:ext uri="{FF2B5EF4-FFF2-40B4-BE49-F238E27FC236}">
                <a16:creationId xmlns:a16="http://schemas.microsoft.com/office/drawing/2014/main" id="{FEC9168A-E594-C9DD-E226-6C8415B7E2CE}"/>
              </a:ext>
            </a:extLst>
          </p:cNvPr>
          <p:cNvSpPr/>
          <p:nvPr/>
        </p:nvSpPr>
        <p:spPr>
          <a:xfrm>
            <a:off x="-651901" y="2559240"/>
            <a:ext cx="11334750" cy="556172"/>
          </a:xfrm>
          <a:prstGeom prst="rect">
            <a:avLst/>
          </a:prstGeom>
          <a:noFill/>
          <a:ln>
            <a:miter lim="800000"/>
          </a:ln>
        </p:spPr>
        <p:txBody>
          <a:bodyPr wrap="square" lIns="0" tIns="0" rIns="0" bIns="0" rtlCol="0" anchor="t"/>
          <a:lstStyle/>
          <a:p>
            <a:pPr marR="0" lvl="0" defTabSz="914400" rtl="0" eaLnBrk="1" fontAlgn="auto" latinLnBrk="0" hangingPunct="1">
              <a:spcBef>
                <a:spcPts val="838"/>
              </a:spcBef>
              <a:spcAft>
                <a:spcPts val="0"/>
              </a:spcAft>
              <a:buClrTx/>
              <a:buSzTx/>
              <a:tabLst/>
              <a:defRPr/>
            </a:pPr>
            <a:endParaRPr kumimoji="0" lang="en-US" sz="1600" b="0" i="0" u="none" strike="noStrike" kern="1200" cap="none" spc="0" normalizeH="0" baseline="0" noProof="0" dirty="0">
              <a:ln>
                <a:noFill/>
              </a:ln>
              <a:solidFill>
                <a:prstClr val="black"/>
              </a:solidFill>
              <a:effectLst/>
              <a:uLnTx/>
              <a:uFillTx/>
              <a:ea typeface="+mn-ea"/>
              <a:cs typeface="+mn-cs"/>
            </a:endParaRPr>
          </a:p>
        </p:txBody>
      </p:sp>
      <p:sp>
        <p:nvSpPr>
          <p:cNvPr id="24" name="Shape 18">
            <a:extLst>
              <a:ext uri="{FF2B5EF4-FFF2-40B4-BE49-F238E27FC236}">
                <a16:creationId xmlns:a16="http://schemas.microsoft.com/office/drawing/2014/main" id="{00641504-591F-47EB-37A8-1E1C37129F09}"/>
              </a:ext>
            </a:extLst>
          </p:cNvPr>
          <p:cNvSpPr/>
          <p:nvPr/>
        </p:nvSpPr>
        <p:spPr>
          <a:xfrm>
            <a:off x="0" y="6134100"/>
            <a:ext cx="12192000" cy="723900"/>
          </a:xfrm>
          <a:prstGeom prst="rect">
            <a:avLst/>
          </a:prstGeom>
          <a:solidFill>
            <a:schemeClr val="accent1">
              <a:lumMod val="50000"/>
            </a:schemeClr>
          </a:solidFill>
          <a:ln>
            <a:miter lim="800000"/>
          </a:ln>
        </p:spPr>
        <p:txBody>
          <a:bodyPr/>
          <a:lstStyle/>
          <a:p>
            <a:endParaRPr lang="en-US" dirty="0"/>
          </a:p>
        </p:txBody>
      </p:sp>
      <p:sp>
        <p:nvSpPr>
          <p:cNvPr id="25" name="Text 19">
            <a:extLst>
              <a:ext uri="{FF2B5EF4-FFF2-40B4-BE49-F238E27FC236}">
                <a16:creationId xmlns:a16="http://schemas.microsoft.com/office/drawing/2014/main" id="{AB5C1364-7AEB-21CB-0AD2-3D6DEB0EFD21}"/>
              </a:ext>
            </a:extLst>
          </p:cNvPr>
          <p:cNvSpPr/>
          <p:nvPr/>
        </p:nvSpPr>
        <p:spPr>
          <a:xfrm>
            <a:off x="627794" y="1335069"/>
            <a:ext cx="12106275" cy="1346671"/>
          </a:xfrm>
          <a:prstGeom prst="rect">
            <a:avLst/>
          </a:prstGeom>
          <a:noFill/>
          <a:ln>
            <a:miter lim="800000"/>
          </a:ln>
        </p:spPr>
        <p:txBody>
          <a:bodyPr wrap="square" lIns="0" tIns="0" rIns="0" bIns="0" numCol="2" rtlCol="0" anchor="ctr"/>
          <a:lstStyle/>
          <a:p>
            <a:endParaRPr lang="en-US" sz="1400" dirty="0">
              <a:solidFill>
                <a:schemeClr val="bg1"/>
              </a:solidFill>
            </a:endParaRPr>
          </a:p>
          <a:p>
            <a:r>
              <a:rPr lang="en-US" sz="1400" b="1" dirty="0">
                <a:solidFill>
                  <a:schemeClr val="bg1"/>
                </a:solidFill>
              </a:rPr>
              <a:t>Why It's Hollow:</a:t>
            </a:r>
          </a:p>
          <a:p>
            <a:pPr marL="285750" indent="-285750">
              <a:buFont typeface="Arial" panose="020B0604020202020204" pitchFamily="34" charset="0"/>
              <a:buChar char="•"/>
            </a:pPr>
            <a:r>
              <a:rPr lang="en-US" sz="1400" dirty="0">
                <a:solidFill>
                  <a:schemeClr val="bg1"/>
                </a:solidFill>
              </a:rPr>
              <a:t>No specific issue identified</a:t>
            </a:r>
          </a:p>
          <a:p>
            <a:pPr marL="285750" indent="-285750">
              <a:buFont typeface="Arial" panose="020B0604020202020204" pitchFamily="34" charset="0"/>
              <a:buChar char="•"/>
            </a:pPr>
            <a:r>
              <a:rPr lang="en-US" sz="1400" dirty="0">
                <a:solidFill>
                  <a:schemeClr val="bg1"/>
                </a:solidFill>
              </a:rPr>
              <a:t>No scope defined</a:t>
            </a:r>
          </a:p>
          <a:p>
            <a:pPr marL="285750" indent="-285750">
              <a:buFont typeface="Arial" panose="020B0604020202020204" pitchFamily="34" charset="0"/>
              <a:buChar char="•"/>
            </a:pPr>
            <a:r>
              <a:rPr lang="en-US" sz="1400" dirty="0">
                <a:solidFill>
                  <a:schemeClr val="bg1"/>
                </a:solidFill>
              </a:rPr>
              <a:t>No acceptance criteria referenced</a:t>
            </a:r>
          </a:p>
          <a:p>
            <a:pPr marL="285750" indent="-285750">
              <a:buFont typeface="Arial" panose="020B0604020202020204" pitchFamily="34" charset="0"/>
              <a:buChar char="•"/>
            </a:pPr>
            <a:r>
              <a:rPr lang="en-US" sz="1400" dirty="0">
                <a:solidFill>
                  <a:schemeClr val="bg1"/>
                </a:solidFill>
              </a:rPr>
              <a:t>Developer has to guess what to fix</a:t>
            </a:r>
          </a:p>
          <a:p>
            <a:endParaRPr lang="en-US" sz="1400" dirty="0">
              <a:solidFill>
                <a:schemeClr val="bg1"/>
              </a:solidFill>
            </a:endParaRPr>
          </a:p>
          <a:p>
            <a:r>
              <a:rPr lang="en-US" sz="1400" b="1" dirty="0">
                <a:solidFill>
                  <a:schemeClr val="bg1"/>
                </a:solidFill>
              </a:rPr>
              <a:t>Impact:</a:t>
            </a:r>
          </a:p>
          <a:p>
            <a:pPr marL="171450" indent="-171450">
              <a:buFont typeface="Arial" panose="020B0604020202020204" pitchFamily="34" charset="0"/>
              <a:buChar char="•"/>
            </a:pPr>
            <a:r>
              <a:rPr lang="en-US" sz="1400" dirty="0">
                <a:solidFill>
                  <a:schemeClr val="bg1"/>
                </a:solidFill>
              </a:rPr>
              <a:t>Sprint spillover</a:t>
            </a:r>
          </a:p>
          <a:p>
            <a:pPr marL="171450" indent="-171450">
              <a:buFont typeface="Arial" panose="020B0604020202020204" pitchFamily="34" charset="0"/>
              <a:buChar char="•"/>
            </a:pPr>
            <a:r>
              <a:rPr lang="en-US" sz="1400" dirty="0">
                <a:solidFill>
                  <a:schemeClr val="bg1"/>
                </a:solidFill>
              </a:rPr>
              <a:t>Developer time goes in clarifying the issue.</a:t>
            </a:r>
          </a:p>
          <a:p>
            <a:pPr marL="171450" indent="-171450">
              <a:buFont typeface="Arial" panose="020B0604020202020204" pitchFamily="34" charset="0"/>
              <a:buChar char="•"/>
            </a:pPr>
            <a:r>
              <a:rPr lang="en-US" sz="1400" dirty="0">
                <a:solidFill>
                  <a:schemeClr val="bg1"/>
                </a:solidFill>
              </a:rPr>
              <a:t>Audit Issue – No traceable evidences</a:t>
            </a:r>
          </a:p>
        </p:txBody>
      </p:sp>
      <p:sp>
        <p:nvSpPr>
          <p:cNvPr id="26" name="TextBox 25">
            <a:extLst>
              <a:ext uri="{FF2B5EF4-FFF2-40B4-BE49-F238E27FC236}">
                <a16:creationId xmlns:a16="http://schemas.microsoft.com/office/drawing/2014/main" id="{0F799AD1-092A-F912-51AF-F26732C54A8A}"/>
              </a:ext>
            </a:extLst>
          </p:cNvPr>
          <p:cNvSpPr txBox="1"/>
          <p:nvPr/>
        </p:nvSpPr>
        <p:spPr>
          <a:xfrm>
            <a:off x="519358" y="1030592"/>
            <a:ext cx="10977282" cy="584775"/>
          </a:xfrm>
          <a:prstGeom prst="rect">
            <a:avLst/>
          </a:prstGeom>
          <a:noFill/>
        </p:spPr>
        <p:txBody>
          <a:bodyPr wrap="square" rtlCol="0">
            <a:spAutoFit/>
          </a:bodyPr>
          <a:lstStyle/>
          <a:p>
            <a:r>
              <a:rPr lang="en-US" sz="1400" dirty="0">
                <a:solidFill>
                  <a:schemeClr val="bg1"/>
                </a:solidFill>
              </a:rPr>
              <a:t>Example of Semantic Hollowness:  "Fix the issues found during testing so that the application is stable"</a:t>
            </a:r>
          </a:p>
          <a:p>
            <a:endParaRPr lang="en-US" dirty="0"/>
          </a:p>
        </p:txBody>
      </p:sp>
      <p:sp>
        <p:nvSpPr>
          <p:cNvPr id="28" name="Shape 2">
            <a:extLst>
              <a:ext uri="{FF2B5EF4-FFF2-40B4-BE49-F238E27FC236}">
                <a16:creationId xmlns:a16="http://schemas.microsoft.com/office/drawing/2014/main" id="{A1F1E9B0-B76D-607D-8E13-06F5DADB409B}"/>
              </a:ext>
            </a:extLst>
          </p:cNvPr>
          <p:cNvSpPr/>
          <p:nvPr/>
        </p:nvSpPr>
        <p:spPr>
          <a:xfrm>
            <a:off x="276488" y="3198744"/>
            <a:ext cx="2667000" cy="3243263"/>
          </a:xfrm>
          <a:prstGeom prst="rect">
            <a:avLst/>
          </a:prstGeom>
          <a:solidFill>
            <a:srgbClr val="FFD9AD"/>
          </a:solidFill>
          <a:ln>
            <a:miter lim="800000"/>
          </a:ln>
        </p:spPr>
        <p:txBody>
          <a:bodyPr/>
          <a:lstStyle/>
          <a:p>
            <a:endParaRPr lang="en-US" dirty="0"/>
          </a:p>
        </p:txBody>
      </p:sp>
      <p:sp>
        <p:nvSpPr>
          <p:cNvPr id="30" name="Text 3">
            <a:extLst>
              <a:ext uri="{FF2B5EF4-FFF2-40B4-BE49-F238E27FC236}">
                <a16:creationId xmlns:a16="http://schemas.microsoft.com/office/drawing/2014/main" id="{FAFC3619-2C33-DADE-E16E-0C55BDBF2E3D}"/>
              </a:ext>
            </a:extLst>
          </p:cNvPr>
          <p:cNvSpPr/>
          <p:nvPr/>
        </p:nvSpPr>
        <p:spPr>
          <a:xfrm>
            <a:off x="562238" y="3695979"/>
            <a:ext cx="2190750" cy="578346"/>
          </a:xfrm>
          <a:prstGeom prst="rect">
            <a:avLst/>
          </a:prstGeom>
          <a:noFill/>
          <a:ln>
            <a:miter lim="800000"/>
          </a:ln>
        </p:spPr>
        <p:txBody>
          <a:bodyPr wrap="square" lIns="0" tIns="0" rIns="0" bIns="0" rtlCol="0" anchor="t"/>
          <a:lstStyle/>
          <a:p>
            <a:pPr marL="0" marR="0" lvl="0" indent="0" algn="l" defTabSz="914400" rtl="0" eaLnBrk="1" fontAlgn="auto" latinLnBrk="0" hangingPunct="1">
              <a:lnSpc>
                <a:spcPts val="2278"/>
              </a:lnSpc>
              <a:spcBef>
                <a:spcPts val="0"/>
              </a:spcBef>
              <a:spcAft>
                <a:spcPts val="0"/>
              </a:spcAft>
              <a:buClrTx/>
              <a:buSzTx/>
              <a:buFontTx/>
              <a:buNone/>
              <a:tabLst/>
              <a:defRPr/>
            </a:pPr>
            <a:r>
              <a:rPr kumimoji="0" lang="en-US" sz="1950" b="0" i="0" u="none" strike="noStrike" kern="0" cap="none" spc="-117" normalizeH="0" baseline="0" noProof="0" dirty="0">
                <a:ln>
                  <a:noFill/>
                </a:ln>
                <a:solidFill>
                  <a:srgbClr val="333333"/>
                </a:solidFill>
                <a:effectLst/>
                <a:uLnTx/>
                <a:uFillTx/>
                <a:latin typeface="Inter SemiBold" pitchFamily="34" charset="0"/>
                <a:ea typeface="Inter SemiBold" pitchFamily="34" charset="-122"/>
                <a:cs typeface="Inter SemiBold" pitchFamily="34" charset="-120"/>
              </a:rPr>
              <a:t>Time-Consuming</a:t>
            </a:r>
            <a:br>
              <a:rPr kumimoji="0" lang="en-US" sz="1950" b="0" i="0" u="none" strike="noStrike" kern="0" cap="none" spc="-117" normalizeH="0" baseline="0" noProof="0" dirty="0">
                <a:ln>
                  <a:noFill/>
                </a:ln>
                <a:solidFill>
                  <a:srgbClr val="333333"/>
                </a:solidFill>
                <a:effectLst/>
                <a:uLnTx/>
                <a:uFillTx/>
                <a:latin typeface="Inter SemiBold" pitchFamily="34" charset="0"/>
                <a:ea typeface="Inter SemiBold" pitchFamily="34" charset="-122"/>
                <a:cs typeface="Inter SemiBold" pitchFamily="34" charset="-120"/>
              </a:rPr>
            </a:br>
            <a:r>
              <a:rPr kumimoji="0" lang="en-US" sz="1950" b="0" i="0" u="none" strike="noStrike" kern="0" cap="none" spc="-117" normalizeH="0" baseline="0" noProof="0" dirty="0">
                <a:ln>
                  <a:noFill/>
                </a:ln>
                <a:solidFill>
                  <a:srgbClr val="333333"/>
                </a:solidFill>
                <a:effectLst/>
                <a:uLnTx/>
                <a:uFillTx/>
                <a:latin typeface="Inter SemiBold" pitchFamily="34" charset="0"/>
                <a:ea typeface="Inter SemiBold" pitchFamily="34" charset="-122"/>
                <a:cs typeface="Inter SemiBold" pitchFamily="34" charset="-120"/>
              </a:rPr>
              <a:t>Jira Reviews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4">
            <a:extLst>
              <a:ext uri="{FF2B5EF4-FFF2-40B4-BE49-F238E27FC236}">
                <a16:creationId xmlns:a16="http://schemas.microsoft.com/office/drawing/2014/main" id="{F496E862-FF48-D331-F512-AF92989AD6CC}"/>
              </a:ext>
            </a:extLst>
          </p:cNvPr>
          <p:cNvSpPr/>
          <p:nvPr/>
        </p:nvSpPr>
        <p:spPr>
          <a:xfrm>
            <a:off x="562238" y="4347102"/>
            <a:ext cx="2230338" cy="1320850"/>
          </a:xfrm>
          <a:prstGeom prst="rect">
            <a:avLst/>
          </a:prstGeom>
          <a:noFill/>
          <a:ln>
            <a:miter lim="800000"/>
          </a:ln>
        </p:spPr>
        <p:txBody>
          <a:bodyPr wrap="square" lIns="0" tIns="0" rIns="0" bIns="0" rtlCol="0" anchor="t"/>
          <a:lstStyle/>
          <a:p>
            <a:pPr>
              <a:spcBef>
                <a:spcPts val="838"/>
              </a:spcBef>
              <a:defRPr/>
            </a:pPr>
            <a:r>
              <a:rPr lang="en-US" sz="1400" kern="0" spc="-30" dirty="0">
                <a:solidFill>
                  <a:srgbClr val="000000">
                    <a:alpha val="55000"/>
                  </a:srgbClr>
                </a:solidFill>
                <a:latin typeface="Inter Medium" pitchFamily="34" charset="0"/>
                <a:ea typeface="Inter Medium" pitchFamily="34" charset="-122"/>
              </a:rPr>
              <a:t>Stakeholders—including project managers, product owners, scrum masters, and developers—currently lose 4–6 hours per sprint manually validating documentation or scheduling clarification meetings.</a:t>
            </a:r>
          </a:p>
        </p:txBody>
      </p:sp>
      <p:sp>
        <p:nvSpPr>
          <p:cNvPr id="34" name="Shape 5">
            <a:extLst>
              <a:ext uri="{FF2B5EF4-FFF2-40B4-BE49-F238E27FC236}">
                <a16:creationId xmlns:a16="http://schemas.microsoft.com/office/drawing/2014/main" id="{2CE389D1-E074-37B6-BD9D-680961144B22}"/>
              </a:ext>
            </a:extLst>
          </p:cNvPr>
          <p:cNvSpPr/>
          <p:nvPr/>
        </p:nvSpPr>
        <p:spPr>
          <a:xfrm>
            <a:off x="1252801" y="2841557"/>
            <a:ext cx="714375" cy="714375"/>
          </a:xfrm>
          <a:prstGeom prst="ellipse">
            <a:avLst/>
          </a:prstGeom>
          <a:solidFill>
            <a:srgbClr val="FFFFFF"/>
          </a:solidFill>
          <a:ln w="38100">
            <a:solidFill>
              <a:srgbClr val="FFC17A"/>
            </a:solidFill>
            <a:prstDash val="solid"/>
            <a:miter lim="800000"/>
          </a:ln>
        </p:spPr>
        <p:txBody>
          <a:bodyPr/>
          <a:lstStyle/>
          <a:p>
            <a:endParaRPr lang="en-US" dirty="0"/>
          </a:p>
        </p:txBody>
      </p:sp>
      <p:pic>
        <p:nvPicPr>
          <p:cNvPr id="36" name="Image 0" descr="0d598362.png">
            <a:extLst>
              <a:ext uri="{FF2B5EF4-FFF2-40B4-BE49-F238E27FC236}">
                <a16:creationId xmlns:a16="http://schemas.microsoft.com/office/drawing/2014/main" id="{57E2FF56-3D43-C0B1-5CC5-C27B6B57CDFF}"/>
              </a:ext>
            </a:extLst>
          </p:cNvPr>
          <p:cNvPicPr>
            <a:picLocks noChangeAspect="1"/>
          </p:cNvPicPr>
          <p:nvPr/>
        </p:nvPicPr>
        <p:blipFill>
          <a:blip r:embed="rId3"/>
          <a:stretch>
            <a:fillRect/>
          </a:stretch>
        </p:blipFill>
        <p:spPr>
          <a:xfrm>
            <a:off x="1375584" y="3056427"/>
            <a:ext cx="476250" cy="285750"/>
          </a:xfrm>
          <a:prstGeom prst="rect">
            <a:avLst/>
          </a:prstGeom>
        </p:spPr>
      </p:pic>
      <p:sp>
        <p:nvSpPr>
          <p:cNvPr id="38" name="Shape 6">
            <a:extLst>
              <a:ext uri="{FF2B5EF4-FFF2-40B4-BE49-F238E27FC236}">
                <a16:creationId xmlns:a16="http://schemas.microsoft.com/office/drawing/2014/main" id="{4F4D73A7-6022-DEE6-2CCF-120D7C1E1465}"/>
              </a:ext>
            </a:extLst>
          </p:cNvPr>
          <p:cNvSpPr/>
          <p:nvPr/>
        </p:nvSpPr>
        <p:spPr>
          <a:xfrm>
            <a:off x="3133988" y="3198744"/>
            <a:ext cx="2667000" cy="3243263"/>
          </a:xfrm>
          <a:prstGeom prst="rect">
            <a:avLst/>
          </a:prstGeom>
          <a:solidFill>
            <a:srgbClr val="FEC088"/>
          </a:solidFill>
          <a:ln>
            <a:miter lim="800000"/>
          </a:ln>
        </p:spPr>
        <p:txBody>
          <a:bodyPr/>
          <a:lstStyle/>
          <a:p>
            <a:endParaRPr lang="en-US" dirty="0"/>
          </a:p>
        </p:txBody>
      </p:sp>
      <p:sp>
        <p:nvSpPr>
          <p:cNvPr id="40" name="Text 7">
            <a:extLst>
              <a:ext uri="{FF2B5EF4-FFF2-40B4-BE49-F238E27FC236}">
                <a16:creationId xmlns:a16="http://schemas.microsoft.com/office/drawing/2014/main" id="{3A00ED5F-8E6C-BA32-86AE-EE5F08A417AF}"/>
              </a:ext>
            </a:extLst>
          </p:cNvPr>
          <p:cNvSpPr/>
          <p:nvPr/>
        </p:nvSpPr>
        <p:spPr>
          <a:xfrm>
            <a:off x="3419738" y="3695979"/>
            <a:ext cx="2190750" cy="578346"/>
          </a:xfrm>
          <a:prstGeom prst="rect">
            <a:avLst/>
          </a:prstGeom>
          <a:noFill/>
          <a:ln>
            <a:miter lim="800000"/>
          </a:ln>
        </p:spPr>
        <p:txBody>
          <a:bodyPr wrap="square" lIns="0" tIns="0" rIns="0" bIns="0" rtlCol="0" anchor="t"/>
          <a:lstStyle/>
          <a:p>
            <a:pPr marL="0" marR="0" lvl="0" indent="0" algn="l" defTabSz="914400" rtl="0" eaLnBrk="1" fontAlgn="auto" latinLnBrk="0" hangingPunct="1">
              <a:lnSpc>
                <a:spcPts val="2278"/>
              </a:lnSpc>
              <a:spcBef>
                <a:spcPts val="0"/>
              </a:spcBef>
              <a:spcAft>
                <a:spcPts val="0"/>
              </a:spcAft>
              <a:buClrTx/>
              <a:buSzTx/>
              <a:buFontTx/>
              <a:buNone/>
              <a:tabLst/>
              <a:defRPr/>
            </a:pPr>
            <a:r>
              <a:rPr kumimoji="0" lang="en-US" sz="1950" b="0" i="0" u="none" strike="noStrike" kern="0" cap="none" spc="-117" normalizeH="0" baseline="0" noProof="0" dirty="0">
                <a:ln>
                  <a:noFill/>
                </a:ln>
                <a:solidFill>
                  <a:srgbClr val="333333"/>
                </a:solidFill>
                <a:effectLst/>
                <a:uLnTx/>
                <a:uFillTx/>
                <a:latin typeface="Inter SemiBold" pitchFamily="34" charset="0"/>
                <a:ea typeface="Inter SemiBold" pitchFamily="34" charset="-122"/>
                <a:cs typeface="Inter SemiBold" pitchFamily="34" charset="-120"/>
              </a:rPr>
              <a:t>Difficulty Extracting</a:t>
            </a:r>
            <a:br>
              <a:rPr kumimoji="0" lang="en-US" sz="1950" b="0" i="0" u="none" strike="noStrike" kern="0" cap="none" spc="-117" normalizeH="0" baseline="0" noProof="0" dirty="0">
                <a:ln>
                  <a:noFill/>
                </a:ln>
                <a:solidFill>
                  <a:srgbClr val="333333"/>
                </a:solidFill>
                <a:effectLst/>
                <a:uLnTx/>
                <a:uFillTx/>
                <a:latin typeface="Inter SemiBold" pitchFamily="34" charset="0"/>
                <a:ea typeface="Inter SemiBold" pitchFamily="34" charset="-122"/>
                <a:cs typeface="Inter SemiBold" pitchFamily="34" charset="-120"/>
              </a:rPr>
            </a:br>
            <a:r>
              <a:rPr kumimoji="0" lang="en-US" sz="1950" b="0" i="0" u="none" strike="noStrike" kern="0" cap="none" spc="-117" normalizeH="0" baseline="0" noProof="0" dirty="0">
                <a:ln>
                  <a:noFill/>
                </a:ln>
                <a:solidFill>
                  <a:srgbClr val="333333"/>
                </a:solidFill>
                <a:effectLst/>
                <a:uLnTx/>
                <a:uFillTx/>
                <a:latin typeface="Inter SemiBold" pitchFamily="34" charset="0"/>
                <a:ea typeface="Inter SemiBold" pitchFamily="34" charset="-122"/>
                <a:cs typeface="Inter SemiBold" pitchFamily="34" charset="-120"/>
              </a:rPr>
              <a:t>Insights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8">
            <a:extLst>
              <a:ext uri="{FF2B5EF4-FFF2-40B4-BE49-F238E27FC236}">
                <a16:creationId xmlns:a16="http://schemas.microsoft.com/office/drawing/2014/main" id="{C06C9F08-D515-2E3E-8B46-604D63280432}"/>
              </a:ext>
            </a:extLst>
          </p:cNvPr>
          <p:cNvSpPr/>
          <p:nvPr/>
        </p:nvSpPr>
        <p:spPr>
          <a:xfrm>
            <a:off x="3419738" y="4347102"/>
            <a:ext cx="2190750" cy="1320850"/>
          </a:xfrm>
          <a:prstGeom prst="rect">
            <a:avLst/>
          </a:prstGeom>
          <a:noFill/>
          <a:ln>
            <a:miter lim="800000"/>
          </a:ln>
        </p:spPr>
        <p:txBody>
          <a:bodyPr wrap="square" lIns="0" tIns="0" rIns="0" bIns="0" rtlCol="0" anchor="t"/>
          <a:lstStyle/>
          <a:p>
            <a:pPr marL="0" marR="0" lvl="0" indent="0" algn="l" defTabSz="914400" rtl="0" eaLnBrk="1" fontAlgn="auto" latinLnBrk="0" hangingPunct="1">
              <a:lnSpc>
                <a:spcPts val="2080"/>
              </a:lnSpc>
              <a:spcBef>
                <a:spcPts val="562"/>
              </a:spcBef>
              <a:spcAft>
                <a:spcPts val="0"/>
              </a:spcAft>
              <a:buClrTx/>
              <a:buSzTx/>
              <a:buFontTx/>
              <a:buNone/>
              <a:tabLst/>
              <a:defRPr/>
            </a:pP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Raw Jira data is dense</a:t>
            </a:r>
            <a:b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b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and lacks actionable</a:t>
            </a:r>
            <a:b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b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insights, hindering</a:t>
            </a:r>
            <a:b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b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effective analysis and</a:t>
            </a:r>
            <a:b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b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decision-making.</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9">
            <a:extLst>
              <a:ext uri="{FF2B5EF4-FFF2-40B4-BE49-F238E27FC236}">
                <a16:creationId xmlns:a16="http://schemas.microsoft.com/office/drawing/2014/main" id="{2E0EF338-699B-0A63-B730-09C2DC932977}"/>
              </a:ext>
            </a:extLst>
          </p:cNvPr>
          <p:cNvSpPr/>
          <p:nvPr/>
        </p:nvSpPr>
        <p:spPr>
          <a:xfrm>
            <a:off x="4110301" y="2841557"/>
            <a:ext cx="714375" cy="714375"/>
          </a:xfrm>
          <a:prstGeom prst="ellipse">
            <a:avLst/>
          </a:prstGeom>
          <a:solidFill>
            <a:srgbClr val="FFFFFF"/>
          </a:solidFill>
          <a:ln w="38100">
            <a:solidFill>
              <a:srgbClr val="FEA555"/>
            </a:solidFill>
            <a:prstDash val="solid"/>
            <a:miter lim="800000"/>
          </a:ln>
        </p:spPr>
        <p:txBody>
          <a:bodyPr/>
          <a:lstStyle/>
          <a:p>
            <a:endParaRPr lang="en-US" dirty="0"/>
          </a:p>
        </p:txBody>
      </p:sp>
      <p:pic>
        <p:nvPicPr>
          <p:cNvPr id="46" name="Image 1" descr="-46fedc5e.png">
            <a:extLst>
              <a:ext uri="{FF2B5EF4-FFF2-40B4-BE49-F238E27FC236}">
                <a16:creationId xmlns:a16="http://schemas.microsoft.com/office/drawing/2014/main" id="{8E9B6F63-2135-160D-AE7B-CA4D4DF283B6}"/>
              </a:ext>
            </a:extLst>
          </p:cNvPr>
          <p:cNvPicPr>
            <a:picLocks noChangeAspect="1"/>
          </p:cNvPicPr>
          <p:nvPr/>
        </p:nvPicPr>
        <p:blipFill>
          <a:blip r:embed="rId4"/>
          <a:stretch>
            <a:fillRect/>
          </a:stretch>
        </p:blipFill>
        <p:spPr>
          <a:xfrm>
            <a:off x="4320985" y="3089913"/>
            <a:ext cx="295275" cy="238125"/>
          </a:xfrm>
          <a:prstGeom prst="rect">
            <a:avLst/>
          </a:prstGeom>
        </p:spPr>
      </p:pic>
      <p:sp>
        <p:nvSpPr>
          <p:cNvPr id="48" name="Shape 10">
            <a:extLst>
              <a:ext uri="{FF2B5EF4-FFF2-40B4-BE49-F238E27FC236}">
                <a16:creationId xmlns:a16="http://schemas.microsoft.com/office/drawing/2014/main" id="{9BE11F8D-90A8-CD0D-BDB6-4E3D04900F65}"/>
              </a:ext>
            </a:extLst>
          </p:cNvPr>
          <p:cNvSpPr/>
          <p:nvPr/>
        </p:nvSpPr>
        <p:spPr>
          <a:xfrm>
            <a:off x="5991488" y="3198744"/>
            <a:ext cx="2667000" cy="3243263"/>
          </a:xfrm>
          <a:prstGeom prst="rect">
            <a:avLst/>
          </a:prstGeom>
          <a:solidFill>
            <a:srgbClr val="FD864D"/>
          </a:solidFill>
          <a:ln>
            <a:miter lim="800000"/>
          </a:ln>
        </p:spPr>
        <p:txBody>
          <a:bodyPr/>
          <a:lstStyle/>
          <a:p>
            <a:endParaRPr lang="en-US" dirty="0"/>
          </a:p>
        </p:txBody>
      </p:sp>
      <p:sp>
        <p:nvSpPr>
          <p:cNvPr id="50" name="Text 11">
            <a:extLst>
              <a:ext uri="{FF2B5EF4-FFF2-40B4-BE49-F238E27FC236}">
                <a16:creationId xmlns:a16="http://schemas.microsoft.com/office/drawing/2014/main" id="{D762D58B-0560-4AE3-E656-5B2A5A38B484}"/>
              </a:ext>
            </a:extLst>
          </p:cNvPr>
          <p:cNvSpPr/>
          <p:nvPr/>
        </p:nvSpPr>
        <p:spPr>
          <a:xfrm>
            <a:off x="6277238" y="3695979"/>
            <a:ext cx="2190750" cy="867519"/>
          </a:xfrm>
          <a:prstGeom prst="rect">
            <a:avLst/>
          </a:prstGeom>
          <a:noFill/>
          <a:ln>
            <a:miter lim="800000"/>
          </a:ln>
        </p:spPr>
        <p:txBody>
          <a:bodyPr wrap="square" lIns="0" tIns="0" rIns="0" bIns="0" rtlCol="0" anchor="t"/>
          <a:lstStyle/>
          <a:p>
            <a:pPr marL="0" marR="0" lvl="0" indent="0" algn="l" defTabSz="914400" rtl="0" eaLnBrk="1" fontAlgn="auto" latinLnBrk="0" hangingPunct="1">
              <a:lnSpc>
                <a:spcPts val="2278"/>
              </a:lnSpc>
              <a:spcBef>
                <a:spcPts val="0"/>
              </a:spcBef>
              <a:spcAft>
                <a:spcPts val="0"/>
              </a:spcAft>
              <a:buClrTx/>
              <a:buSzTx/>
              <a:buFontTx/>
              <a:buNone/>
              <a:tabLst/>
              <a:defRPr/>
            </a:pPr>
            <a:r>
              <a:rPr kumimoji="0" lang="en-US" sz="1950" b="0" i="0" u="none" strike="noStrike" kern="0" cap="none" spc="-117" normalizeH="0" baseline="0" noProof="0" dirty="0">
                <a:ln>
                  <a:noFill/>
                </a:ln>
                <a:solidFill>
                  <a:srgbClr val="333333"/>
                </a:solidFill>
                <a:effectLst/>
                <a:uLnTx/>
                <a:uFillTx/>
                <a:latin typeface="Inter SemiBold" pitchFamily="34" charset="0"/>
                <a:ea typeface="Inter SemiBold" pitchFamily="34" charset="-122"/>
                <a:cs typeface="Inter SemiBold" pitchFamily="34" charset="-120"/>
              </a:rPr>
              <a:t>The Problem:</a:t>
            </a:r>
            <a:br>
              <a:rPr kumimoji="0" lang="en-US" sz="1950" b="0" i="0" u="none" strike="noStrike" kern="0" cap="none" spc="-117" normalizeH="0" baseline="0" noProof="0" dirty="0">
                <a:ln>
                  <a:noFill/>
                </a:ln>
                <a:solidFill>
                  <a:srgbClr val="333333"/>
                </a:solidFill>
                <a:effectLst/>
                <a:uLnTx/>
                <a:uFillTx/>
                <a:latin typeface="Inter SemiBold" pitchFamily="34" charset="0"/>
                <a:ea typeface="Inter SemiBold" pitchFamily="34" charset="-122"/>
                <a:cs typeface="Inter SemiBold" pitchFamily="34" charset="-120"/>
              </a:rPr>
            </a:br>
            <a:r>
              <a:rPr kumimoji="0" lang="en-US" sz="1950" b="0" i="0" u="none" strike="noStrike" kern="0" cap="none" spc="-117" normalizeH="0" baseline="0" noProof="0" dirty="0">
                <a:ln>
                  <a:noFill/>
                </a:ln>
                <a:solidFill>
                  <a:srgbClr val="333333"/>
                </a:solidFill>
                <a:effectLst/>
                <a:uLnTx/>
                <a:uFillTx/>
                <a:latin typeface="Inter SemiBold" pitchFamily="34" charset="0"/>
                <a:ea typeface="Inter SemiBold" pitchFamily="34" charset="-122"/>
                <a:cs typeface="Inter SemiBold" pitchFamily="34" charset="-120"/>
              </a:rPr>
              <a:t>Semantic</a:t>
            </a:r>
            <a:br>
              <a:rPr kumimoji="0" lang="en-US" sz="1950" b="0" i="0" u="none" strike="noStrike" kern="0" cap="none" spc="-117" normalizeH="0" baseline="0" noProof="0" dirty="0">
                <a:ln>
                  <a:noFill/>
                </a:ln>
                <a:solidFill>
                  <a:srgbClr val="333333"/>
                </a:solidFill>
                <a:effectLst/>
                <a:uLnTx/>
                <a:uFillTx/>
                <a:latin typeface="Inter SemiBold" pitchFamily="34" charset="0"/>
                <a:ea typeface="Inter SemiBold" pitchFamily="34" charset="-122"/>
                <a:cs typeface="Inter SemiBold" pitchFamily="34" charset="-120"/>
              </a:rPr>
            </a:br>
            <a:r>
              <a:rPr kumimoji="0" lang="en-US" sz="1950" b="0" i="0" u="none" strike="noStrike" kern="0" cap="none" spc="-117" normalizeH="0" baseline="0" noProof="0" dirty="0">
                <a:ln>
                  <a:noFill/>
                </a:ln>
                <a:solidFill>
                  <a:srgbClr val="333333"/>
                </a:solidFill>
                <a:effectLst/>
                <a:uLnTx/>
                <a:uFillTx/>
                <a:latin typeface="Inter SemiBold" pitchFamily="34" charset="0"/>
                <a:ea typeface="Inter SemiBold" pitchFamily="34" charset="-122"/>
                <a:cs typeface="Inter SemiBold" pitchFamily="34" charset="-120"/>
              </a:rPr>
              <a:t>Hollowness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12">
            <a:extLst>
              <a:ext uri="{FF2B5EF4-FFF2-40B4-BE49-F238E27FC236}">
                <a16:creationId xmlns:a16="http://schemas.microsoft.com/office/drawing/2014/main" id="{0145196A-360A-F713-A370-BB17DBEC40EC}"/>
              </a:ext>
            </a:extLst>
          </p:cNvPr>
          <p:cNvSpPr/>
          <p:nvPr/>
        </p:nvSpPr>
        <p:spPr>
          <a:xfrm>
            <a:off x="6277238" y="4636275"/>
            <a:ext cx="2190750" cy="1585020"/>
          </a:xfrm>
          <a:prstGeom prst="rect">
            <a:avLst/>
          </a:prstGeom>
          <a:noFill/>
          <a:ln>
            <a:miter lim="800000"/>
          </a:ln>
        </p:spPr>
        <p:txBody>
          <a:bodyPr wrap="square" lIns="0" tIns="0" rIns="0" bIns="0" rtlCol="0" anchor="t"/>
          <a:lstStyle/>
          <a:p>
            <a:pPr marL="0" marR="0" lvl="0" indent="0" algn="l" defTabSz="914400" rtl="0" eaLnBrk="1" fontAlgn="auto" latinLnBrk="0" hangingPunct="1">
              <a:lnSpc>
                <a:spcPts val="2080"/>
              </a:lnSpc>
              <a:spcBef>
                <a:spcPts val="562"/>
              </a:spcBef>
              <a:spcAft>
                <a:spcPts val="0"/>
              </a:spcAft>
              <a:buClrTx/>
              <a:buSzTx/>
              <a:buFontTx/>
              <a:buNone/>
              <a:tabLst/>
              <a:defRPr/>
            </a:pP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Requirements are</a:t>
            </a:r>
            <a:b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b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structurally sound but</a:t>
            </a:r>
            <a:b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b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lack meaningful,</a:t>
            </a:r>
            <a:b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b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actionable information,</a:t>
            </a:r>
            <a:b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b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as exemplified by vague</a:t>
            </a:r>
            <a:b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b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statements.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Shape 13">
            <a:extLst>
              <a:ext uri="{FF2B5EF4-FFF2-40B4-BE49-F238E27FC236}">
                <a16:creationId xmlns:a16="http://schemas.microsoft.com/office/drawing/2014/main" id="{5DD7EB85-5617-0C0F-C3AA-1833FA954158}"/>
              </a:ext>
            </a:extLst>
          </p:cNvPr>
          <p:cNvSpPr/>
          <p:nvPr/>
        </p:nvSpPr>
        <p:spPr>
          <a:xfrm>
            <a:off x="6967801" y="2841557"/>
            <a:ext cx="714375" cy="714375"/>
          </a:xfrm>
          <a:prstGeom prst="ellipse">
            <a:avLst/>
          </a:prstGeom>
          <a:solidFill>
            <a:srgbClr val="FFFFFF"/>
          </a:solidFill>
          <a:ln w="38100">
            <a:solidFill>
              <a:srgbClr val="FC641B"/>
            </a:solidFill>
            <a:prstDash val="solid"/>
            <a:miter lim="800000"/>
          </a:ln>
        </p:spPr>
        <p:txBody>
          <a:bodyPr/>
          <a:lstStyle/>
          <a:p>
            <a:endParaRPr lang="en-US" dirty="0"/>
          </a:p>
        </p:txBody>
      </p:sp>
      <p:pic>
        <p:nvPicPr>
          <p:cNvPr id="56" name="Image 2" descr="-3945d9e.png">
            <a:extLst>
              <a:ext uri="{FF2B5EF4-FFF2-40B4-BE49-F238E27FC236}">
                <a16:creationId xmlns:a16="http://schemas.microsoft.com/office/drawing/2014/main" id="{DEB7A71E-64EE-ECD8-D70E-4A95BA73BF0F}"/>
              </a:ext>
            </a:extLst>
          </p:cNvPr>
          <p:cNvPicPr>
            <a:picLocks noChangeAspect="1"/>
          </p:cNvPicPr>
          <p:nvPr/>
        </p:nvPicPr>
        <p:blipFill>
          <a:blip r:embed="rId5"/>
          <a:stretch>
            <a:fillRect/>
          </a:stretch>
        </p:blipFill>
        <p:spPr>
          <a:xfrm>
            <a:off x="7144985" y="3022942"/>
            <a:ext cx="342900" cy="333375"/>
          </a:xfrm>
          <a:prstGeom prst="rect">
            <a:avLst/>
          </a:prstGeom>
        </p:spPr>
      </p:pic>
      <p:sp>
        <p:nvSpPr>
          <p:cNvPr id="58" name="Shape 14">
            <a:extLst>
              <a:ext uri="{FF2B5EF4-FFF2-40B4-BE49-F238E27FC236}">
                <a16:creationId xmlns:a16="http://schemas.microsoft.com/office/drawing/2014/main" id="{D3E6164F-4FD7-6189-F77C-814E5C5A1DE7}"/>
              </a:ext>
            </a:extLst>
          </p:cNvPr>
          <p:cNvSpPr/>
          <p:nvPr/>
        </p:nvSpPr>
        <p:spPr>
          <a:xfrm>
            <a:off x="8848988" y="3198744"/>
            <a:ext cx="2667000" cy="3243263"/>
          </a:xfrm>
          <a:prstGeom prst="rect">
            <a:avLst/>
          </a:prstGeom>
          <a:solidFill>
            <a:srgbClr val="FF8000"/>
          </a:solidFill>
          <a:ln>
            <a:miter lim="800000"/>
          </a:ln>
        </p:spPr>
        <p:txBody>
          <a:bodyPr/>
          <a:lstStyle/>
          <a:p>
            <a:endParaRPr lang="en-US" dirty="0"/>
          </a:p>
        </p:txBody>
      </p:sp>
      <p:sp>
        <p:nvSpPr>
          <p:cNvPr id="60" name="Text 15">
            <a:extLst>
              <a:ext uri="{FF2B5EF4-FFF2-40B4-BE49-F238E27FC236}">
                <a16:creationId xmlns:a16="http://schemas.microsoft.com/office/drawing/2014/main" id="{00A6E907-8F63-85C6-AF0E-B021DC40CCBA}"/>
              </a:ext>
            </a:extLst>
          </p:cNvPr>
          <p:cNvSpPr/>
          <p:nvPr/>
        </p:nvSpPr>
        <p:spPr>
          <a:xfrm>
            <a:off x="9134738" y="3695979"/>
            <a:ext cx="2190750" cy="578346"/>
          </a:xfrm>
          <a:prstGeom prst="rect">
            <a:avLst/>
          </a:prstGeom>
          <a:noFill/>
          <a:ln>
            <a:miter lim="800000"/>
          </a:ln>
        </p:spPr>
        <p:txBody>
          <a:bodyPr wrap="square" lIns="0" tIns="0" rIns="0" bIns="0" rtlCol="0" anchor="t"/>
          <a:lstStyle/>
          <a:p>
            <a:pPr marL="0" marR="0" lvl="0" indent="0" algn="l" defTabSz="914400" rtl="0" eaLnBrk="1" fontAlgn="auto" latinLnBrk="0" hangingPunct="1">
              <a:lnSpc>
                <a:spcPts val="2278"/>
              </a:lnSpc>
              <a:spcBef>
                <a:spcPts val="0"/>
              </a:spcBef>
              <a:spcAft>
                <a:spcPts val="0"/>
              </a:spcAft>
              <a:buClrTx/>
              <a:buSzTx/>
              <a:buFontTx/>
              <a:buNone/>
              <a:tabLst/>
              <a:defRPr/>
            </a:pPr>
            <a:r>
              <a:rPr kumimoji="0" lang="en-US" sz="1950" b="0" i="0" u="none" strike="noStrike" kern="0" cap="none" spc="-117" normalizeH="0" baseline="0" noProof="0" dirty="0">
                <a:ln>
                  <a:noFill/>
                </a:ln>
                <a:solidFill>
                  <a:srgbClr val="333333"/>
                </a:solidFill>
                <a:effectLst/>
                <a:uLnTx/>
                <a:uFillTx/>
                <a:latin typeface="Inter SemiBold" pitchFamily="34" charset="0"/>
                <a:ea typeface="Inter SemiBold" pitchFamily="34" charset="-122"/>
                <a:cs typeface="Inter SemiBold" pitchFamily="34" charset="-120"/>
              </a:rPr>
              <a:t>Limitations of</a:t>
            </a:r>
            <a:br>
              <a:rPr kumimoji="0" lang="en-US" sz="1950" b="0" i="0" u="none" strike="noStrike" kern="0" cap="none" spc="-117" normalizeH="0" baseline="0" noProof="0" dirty="0">
                <a:ln>
                  <a:noFill/>
                </a:ln>
                <a:solidFill>
                  <a:srgbClr val="333333"/>
                </a:solidFill>
                <a:effectLst/>
                <a:uLnTx/>
                <a:uFillTx/>
                <a:latin typeface="Inter SemiBold" pitchFamily="34" charset="0"/>
                <a:ea typeface="Inter SemiBold" pitchFamily="34" charset="-122"/>
                <a:cs typeface="Inter SemiBold" pitchFamily="34" charset="-120"/>
              </a:rPr>
            </a:br>
            <a:r>
              <a:rPr kumimoji="0" lang="en-US" sz="1950" b="0" i="0" u="none" strike="noStrike" kern="0" cap="none" spc="-117" normalizeH="0" baseline="0" noProof="0" dirty="0">
                <a:ln>
                  <a:noFill/>
                </a:ln>
                <a:solidFill>
                  <a:srgbClr val="333333"/>
                </a:solidFill>
                <a:effectLst/>
                <a:uLnTx/>
                <a:uFillTx/>
                <a:latin typeface="Inter SemiBold" pitchFamily="34" charset="0"/>
                <a:ea typeface="Inter SemiBold" pitchFamily="34" charset="-122"/>
                <a:cs typeface="Inter SemiBold" pitchFamily="34" charset="-120"/>
              </a:rPr>
              <a:t>Existing Solutions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Text 16">
            <a:extLst>
              <a:ext uri="{FF2B5EF4-FFF2-40B4-BE49-F238E27FC236}">
                <a16:creationId xmlns:a16="http://schemas.microsoft.com/office/drawing/2014/main" id="{46E1D4CF-33DD-A188-350E-D32036B6B3FD}"/>
              </a:ext>
            </a:extLst>
          </p:cNvPr>
          <p:cNvSpPr/>
          <p:nvPr/>
        </p:nvSpPr>
        <p:spPr>
          <a:xfrm>
            <a:off x="9134738" y="4347102"/>
            <a:ext cx="2238077" cy="1585020"/>
          </a:xfrm>
          <a:prstGeom prst="rect">
            <a:avLst/>
          </a:prstGeom>
          <a:noFill/>
          <a:ln>
            <a:miter lim="800000"/>
          </a:ln>
        </p:spPr>
        <p:txBody>
          <a:bodyPr wrap="square" lIns="0" tIns="0" rIns="0" bIns="0" rtlCol="0" anchor="t"/>
          <a:lstStyle/>
          <a:p>
            <a:pPr marL="0" marR="0" lvl="0" indent="0" algn="l" defTabSz="914400" rtl="0" eaLnBrk="1" fontAlgn="auto" latinLnBrk="0" hangingPunct="1">
              <a:lnSpc>
                <a:spcPts val="2080"/>
              </a:lnSpc>
              <a:spcBef>
                <a:spcPts val="562"/>
              </a:spcBef>
              <a:spcAft>
                <a:spcPts val="0"/>
              </a:spcAft>
              <a:buClrTx/>
              <a:buSzTx/>
              <a:buFontTx/>
              <a:buNone/>
              <a:tabLst/>
              <a:defRPr/>
            </a:pP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Current Jira plugins and</a:t>
            </a:r>
            <a:b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b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academic work focus on</a:t>
            </a:r>
            <a:b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b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structural completeness,</a:t>
            </a:r>
            <a:b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b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not semantic depth,</a:t>
            </a:r>
            <a:b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b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failing to detect non-</a:t>
            </a:r>
            <a:b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br>
            <a:r>
              <a:rPr kumimoji="0" lang="en-US" sz="1500" b="0" i="0" u="none" strike="noStrike" kern="0" cap="none" spc="-30" normalizeH="0" baseline="0" noProof="0" dirty="0">
                <a:ln>
                  <a:noFill/>
                </a:ln>
                <a:solidFill>
                  <a:srgbClr val="000000">
                    <a:alpha val="55000"/>
                  </a:srgbClr>
                </a:solidFill>
                <a:effectLst/>
                <a:uLnTx/>
                <a:uFillTx/>
                <a:latin typeface="Inter Medium" pitchFamily="34" charset="0"/>
                <a:ea typeface="Inter Medium" pitchFamily="34" charset="-122"/>
                <a:cs typeface="Inter Medium" pitchFamily="34" charset="-120"/>
              </a:rPr>
              <a:t>actionable language.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Shape 17">
            <a:extLst>
              <a:ext uri="{FF2B5EF4-FFF2-40B4-BE49-F238E27FC236}">
                <a16:creationId xmlns:a16="http://schemas.microsoft.com/office/drawing/2014/main" id="{ACDE7F01-E7B5-F19B-2A73-C1B3590A6E13}"/>
              </a:ext>
            </a:extLst>
          </p:cNvPr>
          <p:cNvSpPr/>
          <p:nvPr/>
        </p:nvSpPr>
        <p:spPr>
          <a:xfrm>
            <a:off x="9825301" y="2841557"/>
            <a:ext cx="714375" cy="714375"/>
          </a:xfrm>
          <a:prstGeom prst="ellipse">
            <a:avLst/>
          </a:prstGeom>
          <a:solidFill>
            <a:srgbClr val="FFFFFF"/>
          </a:solidFill>
          <a:ln w="38100">
            <a:solidFill>
              <a:srgbClr val="CC6600"/>
            </a:solidFill>
            <a:prstDash val="solid"/>
            <a:miter lim="800000"/>
          </a:ln>
        </p:spPr>
        <p:txBody>
          <a:bodyPr/>
          <a:lstStyle/>
          <a:p>
            <a:endParaRPr lang="en-US" dirty="0"/>
          </a:p>
        </p:txBody>
      </p:sp>
      <p:pic>
        <p:nvPicPr>
          <p:cNvPr id="66" name="Image 3" descr="2efb73a2.png">
            <a:extLst>
              <a:ext uri="{FF2B5EF4-FFF2-40B4-BE49-F238E27FC236}">
                <a16:creationId xmlns:a16="http://schemas.microsoft.com/office/drawing/2014/main" id="{7A1617D3-4E4F-C255-C90D-B5D8F8E2F46B}"/>
              </a:ext>
            </a:extLst>
          </p:cNvPr>
          <p:cNvPicPr>
            <a:picLocks noChangeAspect="1"/>
          </p:cNvPicPr>
          <p:nvPr/>
        </p:nvPicPr>
        <p:blipFill>
          <a:blip r:embed="rId6"/>
          <a:stretch>
            <a:fillRect/>
          </a:stretch>
        </p:blipFill>
        <p:spPr>
          <a:xfrm>
            <a:off x="10002500" y="3060614"/>
            <a:ext cx="361950" cy="276225"/>
          </a:xfrm>
          <a:prstGeom prst="rect">
            <a:avLst/>
          </a:prstGeom>
        </p:spPr>
      </p:pic>
    </p:spTree>
    <p:extLst>
      <p:ext uri="{BB962C8B-B14F-4D97-AF65-F5344CB8AC3E}">
        <p14:creationId xmlns:p14="http://schemas.microsoft.com/office/powerpoint/2010/main" val="1627986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54454" y="103882"/>
            <a:ext cx="11334750" cy="548580"/>
          </a:xfrm>
          <a:prstGeom prst="rect">
            <a:avLst/>
          </a:prstGeom>
          <a:noFill/>
          <a:ln>
            <a:miter lim="800000"/>
          </a:ln>
        </p:spPr>
        <p:txBody>
          <a:bodyPr wrap="square" lIns="0" tIns="0" rIns="0" bIns="0" rtlCol="0" anchor="t"/>
          <a:lstStyle/>
          <a:p>
            <a:pPr algn="ctr">
              <a:lnSpc>
                <a:spcPts val="4320"/>
              </a:lnSpc>
            </a:pPr>
            <a:r>
              <a:rPr lang="en-US" sz="3000" b="1" kern="0" spc="-225" dirty="0">
                <a:solidFill>
                  <a:srgbClr val="FFFFFF"/>
                </a:solidFill>
                <a:latin typeface="+mj-lt"/>
                <a:ea typeface="Inter SemiBold" pitchFamily="34" charset="-122"/>
              </a:rPr>
              <a:t>Objectives &amp; Scope</a:t>
            </a:r>
          </a:p>
        </p:txBody>
      </p:sp>
      <p:sp>
        <p:nvSpPr>
          <p:cNvPr id="4" name="Text 2"/>
          <p:cNvSpPr/>
          <p:nvPr/>
        </p:nvSpPr>
        <p:spPr>
          <a:xfrm>
            <a:off x="254454" y="621530"/>
            <a:ext cx="5748058" cy="6057709"/>
          </a:xfrm>
          <a:prstGeom prst="rect">
            <a:avLst/>
          </a:prstGeom>
          <a:noFill/>
          <a:ln>
            <a:miter lim="800000"/>
          </a:ln>
        </p:spPr>
        <p:txBody>
          <a:bodyPr wrap="square" lIns="0" tIns="0" rIns="0" bIns="0" rtlCol="0" anchor="t"/>
          <a:lstStyle/>
          <a:p>
            <a:pPr algn="l">
              <a:lnSpc>
                <a:spcPts val="2246"/>
              </a:lnSpc>
              <a:buSzPct val="100000"/>
            </a:pPr>
            <a:r>
              <a:rPr lang="en-US" sz="2000" b="1" kern="0" spc="-117" dirty="0">
                <a:solidFill>
                  <a:schemeClr val="bg1"/>
                </a:solidFill>
                <a:ea typeface="Inter SemiBold" pitchFamily="34" charset="-122"/>
                <a:cs typeface="Inter SemiBold" pitchFamily="34" charset="-120"/>
              </a:rPr>
              <a:t>Objectives</a:t>
            </a:r>
          </a:p>
          <a:p>
            <a:pPr marL="285750" indent="-285750" algn="l">
              <a:lnSpc>
                <a:spcPts val="2246"/>
              </a:lnSpc>
              <a:buSzPct val="100000"/>
              <a:buFont typeface="Arial" panose="020B0604020202020204" pitchFamily="34" charset="0"/>
              <a:buChar char="•"/>
            </a:pPr>
            <a:endParaRPr lang="en-US" sz="1600" dirty="0">
              <a:solidFill>
                <a:schemeClr val="bg1"/>
              </a:solidFill>
            </a:endParaRPr>
          </a:p>
          <a:p>
            <a:pPr marL="285750" indent="-285750">
              <a:buFont typeface="Courier New" panose="02070309020205020404" pitchFamily="49" charset="0"/>
              <a:buChar char="o"/>
            </a:pPr>
            <a:r>
              <a:rPr lang="en-US" sz="1600" b="1" dirty="0">
                <a:solidFill>
                  <a:schemeClr val="bg1"/>
                </a:solidFill>
              </a:rPr>
              <a:t>Primary Objective: </a:t>
            </a:r>
            <a:r>
              <a:rPr lang="en-US" sz="1600" dirty="0">
                <a:solidFill>
                  <a:schemeClr val="bg1"/>
                </a:solidFill>
              </a:rPr>
              <a:t> Build hybrid scoring framework that combines rule-based validation with machine learning classification. </a:t>
            </a:r>
          </a:p>
          <a:p>
            <a:pPr marL="285750" indent="-285750">
              <a:buFont typeface="Courier New" panose="02070309020205020404" pitchFamily="49" charset="0"/>
              <a:buChar char="o"/>
            </a:pPr>
            <a:endParaRPr lang="en-US" sz="1400" dirty="0">
              <a:solidFill>
                <a:schemeClr val="bg1"/>
              </a:solidFill>
            </a:endParaRPr>
          </a:p>
          <a:p>
            <a:pPr marL="285750" indent="-285750">
              <a:buFont typeface="Courier New" panose="02070309020205020404" pitchFamily="49" charset="0"/>
              <a:buChar char="o"/>
            </a:pPr>
            <a:r>
              <a:rPr lang="en-US" sz="1600" dirty="0">
                <a:solidFill>
                  <a:schemeClr val="bg1"/>
                </a:solidFill>
              </a:rPr>
              <a:t>Train ML classifier using TF-IDF vectorization and multiple ML model on labeled Jira issues.</a:t>
            </a:r>
          </a:p>
          <a:p>
            <a:pPr marL="285750" indent="-285750">
              <a:buFont typeface="Courier New" panose="02070309020205020404" pitchFamily="49" charset="0"/>
              <a:buChar char="o"/>
            </a:pPr>
            <a:endParaRPr lang="en-US" sz="1400" dirty="0">
              <a:solidFill>
                <a:schemeClr val="bg1"/>
              </a:solidFill>
            </a:endParaRPr>
          </a:p>
          <a:p>
            <a:pPr marL="285750" indent="-285750">
              <a:buFont typeface="Courier New" panose="02070309020205020404" pitchFamily="49" charset="0"/>
              <a:buChar char="o"/>
            </a:pPr>
            <a:r>
              <a:rPr lang="en-US" sz="1600" dirty="0">
                <a:solidFill>
                  <a:schemeClr val="bg1"/>
                </a:solidFill>
              </a:rPr>
              <a:t>Develop a hybrid scoring engine that optimizes weights between rule-based and ML-based scores through cross-validation. </a:t>
            </a:r>
          </a:p>
          <a:p>
            <a:pPr marL="285750" indent="-285750">
              <a:buFont typeface="Courier New" panose="02070309020205020404" pitchFamily="49" charset="0"/>
              <a:buChar char="o"/>
            </a:pPr>
            <a:endParaRPr lang="en-US" sz="1400" dirty="0">
              <a:solidFill>
                <a:schemeClr val="bg1"/>
              </a:solidFill>
            </a:endParaRPr>
          </a:p>
          <a:p>
            <a:pPr marL="285750" indent="-285750">
              <a:buFont typeface="Courier New" panose="02070309020205020404" pitchFamily="49" charset="0"/>
              <a:buChar char="o"/>
            </a:pPr>
            <a:r>
              <a:rPr lang="en-US" sz="1600" dirty="0">
                <a:solidFill>
                  <a:schemeClr val="bg1"/>
                </a:solidFill>
              </a:rPr>
              <a:t>To build a Stream lit dashboard that allows users to upload Jira exports, view quality scores with explanations, filter by status and priority, and export results to CSV. </a:t>
            </a:r>
          </a:p>
          <a:p>
            <a:pPr marL="285750" indent="-285750">
              <a:buFont typeface="Courier New" panose="02070309020205020404" pitchFamily="49" charset="0"/>
              <a:buChar char="o"/>
            </a:pPr>
            <a:endParaRPr lang="en-US" sz="1600" dirty="0">
              <a:solidFill>
                <a:schemeClr val="bg1"/>
              </a:solidFill>
            </a:endParaRPr>
          </a:p>
          <a:p>
            <a:pPr marL="285750" indent="-285750">
              <a:buFont typeface="Courier New" panose="02070309020205020404" pitchFamily="49" charset="0"/>
              <a:buChar char="o"/>
            </a:pPr>
            <a:r>
              <a:rPr lang="en-US" sz="1600" dirty="0">
                <a:solidFill>
                  <a:schemeClr val="bg1"/>
                </a:solidFill>
              </a:rPr>
              <a:t>To test the hypothesis that hybrid scoring captures atleast 20% additional issues with “BAD” quality label compared to rule-only scoring.</a:t>
            </a:r>
          </a:p>
          <a:p>
            <a:pPr marL="285750" indent="-285750">
              <a:buFont typeface="Courier New" panose="02070309020205020404" pitchFamily="49" charset="0"/>
              <a:buChar char="o"/>
            </a:pPr>
            <a:endParaRPr lang="en-US" sz="1600" dirty="0">
              <a:solidFill>
                <a:schemeClr val="bg1"/>
              </a:solidFill>
            </a:endParaRPr>
          </a:p>
          <a:p>
            <a:pPr marL="285750" indent="-285750">
              <a:buFont typeface="Courier New" panose="02070309020205020404" pitchFamily="49" charset="0"/>
              <a:buChar char="o"/>
            </a:pPr>
            <a:r>
              <a:rPr lang="en-US" sz="1600" dirty="0">
                <a:solidFill>
                  <a:schemeClr val="bg1"/>
                </a:solidFill>
              </a:rPr>
              <a:t>Research Questions –</a:t>
            </a:r>
          </a:p>
          <a:p>
            <a:pPr marL="742950" lvl="1" indent="-285750">
              <a:buFont typeface="Courier New" panose="02070309020205020404" pitchFamily="49" charset="0"/>
              <a:buChar char="o"/>
            </a:pPr>
            <a:r>
              <a:rPr lang="en-US" sz="1400" dirty="0">
                <a:solidFill>
                  <a:schemeClr val="bg1"/>
                </a:solidFill>
              </a:rPr>
              <a:t>Does Rule engine + ML Classifier improve quality? </a:t>
            </a:r>
          </a:p>
          <a:p>
            <a:pPr marL="742950" lvl="1" indent="-285750">
              <a:buFont typeface="Courier New" panose="02070309020205020404" pitchFamily="49" charset="0"/>
              <a:buChar char="o"/>
            </a:pPr>
            <a:r>
              <a:rPr lang="en-US" sz="1400" dirty="0">
                <a:solidFill>
                  <a:schemeClr val="bg1"/>
                </a:solidFill>
              </a:rPr>
              <a:t>How to identify Semantic hollowness in Jira requirements - where issues are structurally complete but lack meaningful, actionable information.</a:t>
            </a:r>
            <a:endParaRPr lang="en-US" sz="1100" dirty="0">
              <a:solidFill>
                <a:schemeClr val="bg1"/>
              </a:solidFill>
            </a:endParaRPr>
          </a:p>
        </p:txBody>
      </p:sp>
      <p:sp>
        <p:nvSpPr>
          <p:cNvPr id="5" name="Text 3"/>
          <p:cNvSpPr/>
          <p:nvPr/>
        </p:nvSpPr>
        <p:spPr>
          <a:xfrm>
            <a:off x="6189489" y="746651"/>
            <a:ext cx="5871882" cy="5932588"/>
          </a:xfrm>
          <a:prstGeom prst="rect">
            <a:avLst/>
          </a:prstGeom>
          <a:noFill/>
          <a:ln>
            <a:miter lim="800000"/>
          </a:ln>
        </p:spPr>
        <p:txBody>
          <a:bodyPr wrap="square" lIns="0" tIns="0" rIns="0" bIns="0" rtlCol="0" anchor="t"/>
          <a:lstStyle/>
          <a:p>
            <a:pPr>
              <a:lnSpc>
                <a:spcPts val="2246"/>
              </a:lnSpc>
              <a:buSzPct val="100000"/>
            </a:pPr>
            <a:r>
              <a:rPr lang="en-US" sz="2000" b="1" kern="0" spc="-117" dirty="0">
                <a:solidFill>
                  <a:schemeClr val="bg1"/>
                </a:solidFill>
                <a:ea typeface="Inter SemiBold" pitchFamily="34" charset="-122"/>
                <a:cs typeface="Inter SemiBold" pitchFamily="34" charset="-120"/>
              </a:rPr>
              <a:t>Scope</a:t>
            </a:r>
          </a:p>
          <a:p>
            <a:pPr>
              <a:lnSpc>
                <a:spcPts val="2246"/>
              </a:lnSpc>
              <a:buSzPct val="100000"/>
            </a:pPr>
            <a:endParaRPr lang="en-US" sz="2000" b="1" dirty="0">
              <a:solidFill>
                <a:schemeClr val="bg1"/>
              </a:solidFill>
            </a:endParaRPr>
          </a:p>
          <a:p>
            <a:pPr marL="285750" indent="-285750">
              <a:buFont typeface="Courier New" panose="02070309020205020404" pitchFamily="49" charset="0"/>
              <a:buChar char="o"/>
            </a:pPr>
            <a:r>
              <a:rPr lang="en-US" sz="1600" b="1" dirty="0">
                <a:solidFill>
                  <a:schemeClr val="bg1"/>
                </a:solidFill>
              </a:rPr>
              <a:t>Rule Engine:</a:t>
            </a:r>
            <a:r>
              <a:rPr lang="en-US" sz="1600" dirty="0">
                <a:solidFill>
                  <a:schemeClr val="bg1"/>
                </a:solidFill>
              </a:rPr>
              <a:t> A Python module that evaluates Jira issues against 10 syntactic rules, including user story syntax, acceptance criteria presence etc.</a:t>
            </a:r>
          </a:p>
          <a:p>
            <a:pPr marL="285750" indent="-285750">
              <a:buFont typeface="Courier New" panose="02070309020205020404" pitchFamily="49" charset="0"/>
              <a:buChar char="o"/>
            </a:pPr>
            <a:endParaRPr lang="en-US" sz="1600" dirty="0">
              <a:solidFill>
                <a:schemeClr val="bg1"/>
              </a:solidFill>
            </a:endParaRPr>
          </a:p>
          <a:p>
            <a:pPr marL="285750" indent="-285750">
              <a:buFont typeface="Courier New" panose="02070309020205020404" pitchFamily="49" charset="0"/>
              <a:buChar char="o"/>
            </a:pPr>
            <a:r>
              <a:rPr lang="en-US" sz="1600" b="1" dirty="0">
                <a:solidFill>
                  <a:schemeClr val="bg1"/>
                </a:solidFill>
              </a:rPr>
              <a:t>Machine Learning Classifier:</a:t>
            </a:r>
            <a:r>
              <a:rPr lang="en-US" sz="1600" dirty="0">
                <a:solidFill>
                  <a:schemeClr val="bg1"/>
                </a:solidFill>
              </a:rPr>
              <a:t> A TF-IDF vectorizer combined with ML model such as Logistic Regression trained on 525 labeled Jira issues. </a:t>
            </a:r>
          </a:p>
          <a:p>
            <a:pPr marL="285750" indent="-285750">
              <a:buFont typeface="Courier New" panose="02070309020205020404" pitchFamily="49" charset="0"/>
              <a:buChar char="o"/>
            </a:pPr>
            <a:endParaRPr lang="en-US" sz="1600" dirty="0">
              <a:solidFill>
                <a:schemeClr val="bg1"/>
              </a:solidFill>
            </a:endParaRPr>
          </a:p>
          <a:p>
            <a:pPr marL="285750" indent="-285750">
              <a:buFont typeface="Courier New" panose="02070309020205020404" pitchFamily="49" charset="0"/>
              <a:buChar char="o"/>
            </a:pPr>
            <a:r>
              <a:rPr lang="en-US" sz="1600" b="1" dirty="0">
                <a:solidFill>
                  <a:schemeClr val="bg1"/>
                </a:solidFill>
              </a:rPr>
              <a:t>Hybrid Scorer:</a:t>
            </a:r>
            <a:r>
              <a:rPr lang="en-US" sz="1600" dirty="0">
                <a:solidFill>
                  <a:schemeClr val="bg1"/>
                </a:solidFill>
              </a:rPr>
              <a:t> A scoring system that combines rule scores and ML scores into a final quality score with explainable output. </a:t>
            </a:r>
          </a:p>
          <a:p>
            <a:pPr marL="285750" indent="-285750">
              <a:buFont typeface="Courier New" panose="02070309020205020404" pitchFamily="49" charset="0"/>
              <a:buChar char="o"/>
            </a:pPr>
            <a:endParaRPr lang="en-US" sz="1600" dirty="0">
              <a:solidFill>
                <a:schemeClr val="bg1"/>
              </a:solidFill>
            </a:endParaRPr>
          </a:p>
          <a:p>
            <a:pPr marL="285750" indent="-285750">
              <a:buFont typeface="Courier New" panose="02070309020205020404" pitchFamily="49" charset="0"/>
              <a:buChar char="o"/>
            </a:pPr>
            <a:r>
              <a:rPr lang="en-US" sz="1600" b="1" dirty="0">
                <a:solidFill>
                  <a:schemeClr val="bg1"/>
                </a:solidFill>
              </a:rPr>
              <a:t>Dashboard:</a:t>
            </a:r>
            <a:r>
              <a:rPr lang="en-US" sz="1600" dirty="0">
                <a:solidFill>
                  <a:schemeClr val="bg1"/>
                </a:solidFill>
              </a:rPr>
              <a:t> A Streamlit with dashboard, analysis and chatbot. </a:t>
            </a:r>
          </a:p>
          <a:p>
            <a:pPr marL="285750" indent="-285750">
              <a:buFont typeface="Courier New" panose="02070309020205020404" pitchFamily="49" charset="0"/>
              <a:buChar char="o"/>
            </a:pPr>
            <a:endParaRPr lang="en-US" sz="1600" b="1" dirty="0">
              <a:solidFill>
                <a:schemeClr val="bg1"/>
              </a:solidFill>
            </a:endParaRPr>
          </a:p>
          <a:p>
            <a:pPr marL="285750" indent="-285750">
              <a:buFont typeface="Courier New" panose="02070309020205020404" pitchFamily="49" charset="0"/>
              <a:buChar char="o"/>
            </a:pPr>
            <a:r>
              <a:rPr lang="en-US" sz="1600" b="1" dirty="0">
                <a:solidFill>
                  <a:schemeClr val="bg1"/>
                </a:solidFill>
              </a:rPr>
              <a:t>Validation Results:</a:t>
            </a:r>
            <a:r>
              <a:rPr lang="en-US" sz="1600" dirty="0">
                <a:solidFill>
                  <a:schemeClr val="bg1"/>
                </a:solidFill>
              </a:rPr>
              <a:t> Comparative analysis using accuracy, precision, recall, F1 score, and false negative rate. </a:t>
            </a:r>
            <a:endParaRPr lang="en-US" sz="14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28625" y="378172"/>
            <a:ext cx="11334750" cy="548580"/>
          </a:xfrm>
          <a:prstGeom prst="rect">
            <a:avLst/>
          </a:prstGeom>
          <a:noFill/>
          <a:ln>
            <a:miter lim="800000"/>
          </a:ln>
        </p:spPr>
        <p:txBody>
          <a:bodyPr wrap="square" lIns="0" tIns="0" rIns="0" bIns="0" rtlCol="0" anchor="t"/>
          <a:lstStyle/>
          <a:p>
            <a:pPr algn="ctr">
              <a:lnSpc>
                <a:spcPts val="4320"/>
              </a:lnSpc>
            </a:pPr>
            <a:r>
              <a:rPr lang="en-US" sz="3000" b="1" kern="0" spc="-225" dirty="0">
                <a:solidFill>
                  <a:srgbClr val="FFFFFF"/>
                </a:solidFill>
                <a:latin typeface="+mj-lt"/>
                <a:ea typeface="Inter SemiBold" pitchFamily="34" charset="-122"/>
              </a:rPr>
              <a:t>Research Methodology &amp; Plan of Work</a:t>
            </a:r>
          </a:p>
        </p:txBody>
      </p:sp>
      <p:sp>
        <p:nvSpPr>
          <p:cNvPr id="3" name="Text 1"/>
          <p:cNvSpPr/>
          <p:nvPr/>
        </p:nvSpPr>
        <p:spPr>
          <a:xfrm>
            <a:off x="-43783" y="5835087"/>
            <a:ext cx="11334750" cy="286643"/>
          </a:xfrm>
          <a:prstGeom prst="rect">
            <a:avLst/>
          </a:prstGeom>
          <a:noFill/>
          <a:ln>
            <a:miter lim="800000"/>
          </a:ln>
        </p:spPr>
        <p:txBody>
          <a:bodyPr wrap="square" lIns="0" tIns="0" rIns="0" bIns="0" rtlCol="0" anchor="t"/>
          <a:lstStyle/>
          <a:p>
            <a:pPr algn="ctr">
              <a:lnSpc>
                <a:spcPts val="2257"/>
              </a:lnSpc>
              <a:spcBef>
                <a:spcPts val="867"/>
              </a:spcBef>
            </a:pPr>
            <a:r>
              <a:rPr lang="en-US" sz="2400" b="1" kern="0" spc="-33" dirty="0">
                <a:solidFill>
                  <a:srgbClr val="FFFFFF">
                    <a:alpha val="80000"/>
                  </a:srgbClr>
                </a:solidFill>
                <a:ea typeface="Inter Medium" pitchFamily="34" charset="-122"/>
                <a:cs typeface="Inter Medium" pitchFamily="34" charset="-120"/>
              </a:rPr>
              <a:t>5 Phase Project Development Approach</a:t>
            </a:r>
            <a:endParaRPr lang="en-US" sz="2800" b="1" dirty="0"/>
          </a:p>
        </p:txBody>
      </p:sp>
      <p:pic>
        <p:nvPicPr>
          <p:cNvPr id="4" name="Image 0" descr="-5107849e.png"/>
          <p:cNvPicPr>
            <a:picLocks noChangeAspect="1"/>
          </p:cNvPicPr>
          <p:nvPr/>
        </p:nvPicPr>
        <p:blipFill>
          <a:blip r:embed="rId3"/>
          <a:stretch>
            <a:fillRect/>
          </a:stretch>
        </p:blipFill>
        <p:spPr>
          <a:xfrm>
            <a:off x="507546" y="2454622"/>
            <a:ext cx="2400300" cy="1190625"/>
          </a:xfrm>
          <a:prstGeom prst="rect">
            <a:avLst/>
          </a:prstGeom>
        </p:spPr>
      </p:pic>
      <p:sp>
        <p:nvSpPr>
          <p:cNvPr id="5" name="Text 2"/>
          <p:cNvSpPr/>
          <p:nvPr/>
        </p:nvSpPr>
        <p:spPr>
          <a:xfrm>
            <a:off x="612336" y="2859881"/>
            <a:ext cx="1904970" cy="474166"/>
          </a:xfrm>
          <a:prstGeom prst="rect">
            <a:avLst/>
          </a:prstGeom>
          <a:noFill/>
          <a:ln>
            <a:miter lim="800000"/>
          </a:ln>
        </p:spPr>
        <p:txBody>
          <a:bodyPr wrap="square" lIns="0" tIns="0" rIns="0" bIns="0" rtlCol="0" anchor="t"/>
          <a:lstStyle/>
          <a:p>
            <a:pPr algn="ctr">
              <a:lnSpc>
                <a:spcPts val="1244"/>
              </a:lnSpc>
            </a:pPr>
            <a:r>
              <a:rPr lang="en-US" sz="1200" b="1" dirty="0">
                <a:solidFill>
                  <a:srgbClr val="FFFFFF"/>
                </a:solidFill>
                <a:ea typeface="Inter Extra Bold" pitchFamily="34" charset="-122"/>
                <a:cs typeface="Inter Extra Bold" pitchFamily="34" charset="-120"/>
              </a:rPr>
              <a:t>Phase1:  </a:t>
            </a:r>
          </a:p>
          <a:p>
            <a:pPr algn="ctr">
              <a:lnSpc>
                <a:spcPts val="1244"/>
              </a:lnSpc>
            </a:pPr>
            <a:r>
              <a:rPr lang="en-US" sz="1200" b="1" dirty="0">
                <a:solidFill>
                  <a:srgbClr val="FFFFFF"/>
                </a:solidFill>
                <a:ea typeface="Inter Extra Bold" pitchFamily="34" charset="-122"/>
                <a:cs typeface="Inter Extra Bold" pitchFamily="34" charset="-120"/>
              </a:rPr>
              <a:t>Discovery  &amp;</a:t>
            </a:r>
            <a:br>
              <a:rPr lang="en-US" sz="1200" b="1" dirty="0">
                <a:solidFill>
                  <a:srgbClr val="FFFFFF"/>
                </a:solidFill>
                <a:ea typeface="Inter Extra Bold" pitchFamily="34" charset="-122"/>
                <a:cs typeface="Inter Extra Bold" pitchFamily="34" charset="-120"/>
              </a:rPr>
            </a:br>
            <a:r>
              <a:rPr lang="en-US" sz="1200" b="1" dirty="0">
                <a:solidFill>
                  <a:srgbClr val="FFFFFF"/>
                </a:solidFill>
                <a:ea typeface="Inter Extra Bold" pitchFamily="34" charset="-122"/>
                <a:cs typeface="Inter Extra Bold" pitchFamily="34" charset="-120"/>
              </a:rPr>
              <a:t>Define Problem Statement</a:t>
            </a:r>
            <a:endParaRPr lang="en-US" sz="2400" b="1" dirty="0"/>
          </a:p>
        </p:txBody>
      </p:sp>
      <p:sp>
        <p:nvSpPr>
          <p:cNvPr id="6" name="Text 3"/>
          <p:cNvSpPr/>
          <p:nvPr/>
        </p:nvSpPr>
        <p:spPr>
          <a:xfrm>
            <a:off x="801460" y="3893343"/>
            <a:ext cx="1828800" cy="1302990"/>
          </a:xfrm>
          <a:prstGeom prst="rect">
            <a:avLst/>
          </a:prstGeom>
          <a:noFill/>
          <a:ln>
            <a:miter lim="800000"/>
          </a:ln>
        </p:spPr>
        <p:txBody>
          <a:bodyPr wrap="square" lIns="0" tIns="0" rIns="0" bIns="0" rtlCol="0" anchor="t"/>
          <a:lstStyle/>
          <a:p>
            <a:pPr algn="l">
              <a:lnSpc>
                <a:spcPts val="2052"/>
              </a:lnSpc>
            </a:pPr>
            <a:r>
              <a:rPr lang="en-US" sz="1400" b="1" kern="0" spc="-30" dirty="0">
                <a:solidFill>
                  <a:srgbClr val="FFFFFF">
                    <a:alpha val="80000"/>
                  </a:srgbClr>
                </a:solidFill>
                <a:ea typeface="Inter Medium" pitchFamily="34" charset="-122"/>
                <a:cs typeface="Inter Medium" pitchFamily="34" charset="-120"/>
              </a:rPr>
              <a:t>Identify Problem</a:t>
            </a:r>
            <a:br>
              <a:rPr lang="en-US" sz="1400" b="1" kern="0" spc="-30" dirty="0">
                <a:solidFill>
                  <a:srgbClr val="FFFFFF">
                    <a:alpha val="80000"/>
                  </a:srgbClr>
                </a:solidFill>
                <a:ea typeface="Inter Medium" pitchFamily="34" charset="-122"/>
                <a:cs typeface="Inter Medium" pitchFamily="34" charset="-120"/>
              </a:rPr>
            </a:br>
            <a:r>
              <a:rPr lang="en-US" sz="1400" b="1" kern="0" spc="-30" dirty="0">
                <a:solidFill>
                  <a:srgbClr val="FFFFFF">
                    <a:alpha val="80000"/>
                  </a:srgbClr>
                </a:solidFill>
                <a:ea typeface="Inter Medium" pitchFamily="34" charset="-122"/>
                <a:cs typeface="Inter Medium" pitchFamily="34" charset="-120"/>
              </a:rPr>
              <a:t>statement, assess</a:t>
            </a:r>
            <a:br>
              <a:rPr lang="en-US" sz="1400" b="1" kern="0" spc="-30" dirty="0">
                <a:solidFill>
                  <a:srgbClr val="FFFFFF">
                    <a:alpha val="80000"/>
                  </a:srgbClr>
                </a:solidFill>
                <a:ea typeface="Inter Medium" pitchFamily="34" charset="-122"/>
                <a:cs typeface="Inter Medium" pitchFamily="34" charset="-120"/>
              </a:rPr>
            </a:br>
            <a:r>
              <a:rPr lang="en-US" sz="1400" b="1" kern="0" spc="-30" dirty="0">
                <a:solidFill>
                  <a:srgbClr val="FFFFFF">
                    <a:alpha val="80000"/>
                  </a:srgbClr>
                </a:solidFill>
                <a:ea typeface="Inter Medium" pitchFamily="34" charset="-122"/>
                <a:cs typeface="Inter Medium" pitchFamily="34" charset="-120"/>
              </a:rPr>
              <a:t>potential solution,</a:t>
            </a:r>
            <a:br>
              <a:rPr lang="en-US" sz="1400" b="1" kern="0" spc="-30" dirty="0">
                <a:solidFill>
                  <a:srgbClr val="FFFFFF">
                    <a:alpha val="80000"/>
                  </a:srgbClr>
                </a:solidFill>
                <a:ea typeface="Inter Medium" pitchFamily="34" charset="-122"/>
                <a:cs typeface="Inter Medium" pitchFamily="34" charset="-120"/>
              </a:rPr>
            </a:br>
            <a:r>
              <a:rPr lang="en-US" sz="1400" b="1" kern="0" spc="-30" dirty="0">
                <a:solidFill>
                  <a:srgbClr val="FFFFFF">
                    <a:alpha val="80000"/>
                  </a:srgbClr>
                </a:solidFill>
                <a:ea typeface="Inter Medium" pitchFamily="34" charset="-122"/>
                <a:cs typeface="Inter Medium" pitchFamily="34" charset="-120"/>
              </a:rPr>
              <a:t>Discuss with</a:t>
            </a:r>
            <a:br>
              <a:rPr lang="en-US" sz="1400" b="1" kern="0" spc="-30" dirty="0">
                <a:solidFill>
                  <a:srgbClr val="FFFFFF">
                    <a:alpha val="80000"/>
                  </a:srgbClr>
                </a:solidFill>
                <a:ea typeface="Inter Medium" pitchFamily="34" charset="-122"/>
                <a:cs typeface="Inter Medium" pitchFamily="34" charset="-120"/>
              </a:rPr>
            </a:br>
            <a:r>
              <a:rPr lang="en-US" sz="1400" b="1" kern="0" spc="-30" dirty="0">
                <a:solidFill>
                  <a:srgbClr val="FFFFFF">
                    <a:alpha val="80000"/>
                  </a:srgbClr>
                </a:solidFill>
                <a:ea typeface="Inter Medium" pitchFamily="34" charset="-122"/>
                <a:cs typeface="Inter Medium" pitchFamily="34" charset="-120"/>
              </a:rPr>
              <a:t>supervisor </a:t>
            </a:r>
            <a:endParaRPr lang="en-US" sz="1600" b="1" dirty="0"/>
          </a:p>
        </p:txBody>
      </p:sp>
      <p:sp>
        <p:nvSpPr>
          <p:cNvPr id="7" name="Shape 4"/>
          <p:cNvSpPr/>
          <p:nvPr/>
        </p:nvSpPr>
        <p:spPr>
          <a:xfrm>
            <a:off x="1469571" y="2216497"/>
            <a:ext cx="476250" cy="476250"/>
          </a:xfrm>
          <a:prstGeom prst="ellipse">
            <a:avLst/>
          </a:prstGeom>
          <a:solidFill>
            <a:srgbClr val="FFFFFF"/>
          </a:solidFill>
          <a:ln w="38100">
            <a:solidFill>
              <a:srgbClr val="108ECD"/>
            </a:solidFill>
            <a:prstDash val="solid"/>
            <a:miter lim="800000"/>
          </a:ln>
        </p:spPr>
        <p:txBody>
          <a:bodyPr/>
          <a:lstStyle/>
          <a:p>
            <a:endParaRPr lang="en-US" dirty="0"/>
          </a:p>
        </p:txBody>
      </p:sp>
      <p:pic>
        <p:nvPicPr>
          <p:cNvPr id="8" name="Image 1" descr="06c44ba2.png"/>
          <p:cNvPicPr>
            <a:picLocks noChangeAspect="1"/>
          </p:cNvPicPr>
          <p:nvPr/>
        </p:nvPicPr>
        <p:blipFill>
          <a:blip r:embed="rId4"/>
          <a:stretch>
            <a:fillRect/>
          </a:stretch>
        </p:blipFill>
        <p:spPr>
          <a:xfrm>
            <a:off x="1618401" y="2365324"/>
            <a:ext cx="190500" cy="190500"/>
          </a:xfrm>
          <a:prstGeom prst="rect">
            <a:avLst/>
          </a:prstGeom>
        </p:spPr>
      </p:pic>
      <p:pic>
        <p:nvPicPr>
          <p:cNvPr id="9" name="Image 2" descr="-664449e.png"/>
          <p:cNvPicPr>
            <a:picLocks noChangeAspect="1"/>
          </p:cNvPicPr>
          <p:nvPr/>
        </p:nvPicPr>
        <p:blipFill>
          <a:blip r:embed="rId5"/>
          <a:stretch>
            <a:fillRect/>
          </a:stretch>
        </p:blipFill>
        <p:spPr>
          <a:xfrm>
            <a:off x="2717346" y="2454622"/>
            <a:ext cx="2400300" cy="1190625"/>
          </a:xfrm>
          <a:prstGeom prst="rect">
            <a:avLst/>
          </a:prstGeom>
        </p:spPr>
      </p:pic>
      <p:sp>
        <p:nvSpPr>
          <p:cNvPr id="10" name="Text 5"/>
          <p:cNvSpPr/>
          <p:nvPr/>
        </p:nvSpPr>
        <p:spPr>
          <a:xfrm>
            <a:off x="3011260" y="2859880"/>
            <a:ext cx="1915885" cy="723751"/>
          </a:xfrm>
          <a:prstGeom prst="rect">
            <a:avLst/>
          </a:prstGeom>
          <a:noFill/>
          <a:ln>
            <a:miter lim="800000"/>
          </a:ln>
        </p:spPr>
        <p:txBody>
          <a:bodyPr wrap="square" lIns="0" tIns="0" rIns="0" bIns="0" rtlCol="0" anchor="t"/>
          <a:lstStyle/>
          <a:p>
            <a:pPr algn="ctr">
              <a:lnSpc>
                <a:spcPts val="1244"/>
              </a:lnSpc>
            </a:pPr>
            <a:r>
              <a:rPr lang="en-US" sz="1200" b="1" kern="0" spc="-65" dirty="0">
                <a:solidFill>
                  <a:srgbClr val="FFFFFF"/>
                </a:solidFill>
                <a:ea typeface="Inter SemiBold" pitchFamily="34" charset="-122"/>
                <a:cs typeface="Inter SemiBold" pitchFamily="34" charset="-120"/>
              </a:rPr>
              <a:t>Phase 2:  </a:t>
            </a:r>
          </a:p>
          <a:p>
            <a:pPr algn="ctr">
              <a:lnSpc>
                <a:spcPts val="1244"/>
              </a:lnSpc>
            </a:pPr>
            <a:r>
              <a:rPr lang="en-US" sz="1200" b="1" kern="0" spc="-65" dirty="0">
                <a:solidFill>
                  <a:srgbClr val="FFFFFF"/>
                </a:solidFill>
                <a:ea typeface="Inter SemiBold" pitchFamily="34" charset="-122"/>
                <a:cs typeface="Inter SemiBold" pitchFamily="34" charset="-120"/>
              </a:rPr>
              <a:t>Research, Design &amp; Data</a:t>
            </a:r>
            <a:br>
              <a:rPr lang="en-US" sz="1200" b="1" kern="0" spc="-65" dirty="0">
                <a:solidFill>
                  <a:srgbClr val="FFFFFF"/>
                </a:solidFill>
                <a:ea typeface="Inter SemiBold" pitchFamily="34" charset="-122"/>
                <a:cs typeface="Inter SemiBold" pitchFamily="34" charset="-120"/>
              </a:rPr>
            </a:br>
            <a:r>
              <a:rPr lang="en-US" sz="1200" b="1" kern="0" spc="-65" dirty="0">
                <a:solidFill>
                  <a:srgbClr val="FFFFFF"/>
                </a:solidFill>
                <a:ea typeface="Inter SemiBold" pitchFamily="34" charset="-122"/>
                <a:cs typeface="Inter SemiBold" pitchFamily="34" charset="-120"/>
              </a:rPr>
              <a:t>Collection </a:t>
            </a:r>
          </a:p>
        </p:txBody>
      </p:sp>
      <p:sp>
        <p:nvSpPr>
          <p:cNvPr id="11" name="Text 6"/>
          <p:cNvSpPr/>
          <p:nvPr/>
        </p:nvSpPr>
        <p:spPr>
          <a:xfrm>
            <a:off x="3011260" y="3893343"/>
            <a:ext cx="1828800" cy="1302990"/>
          </a:xfrm>
          <a:prstGeom prst="rect">
            <a:avLst/>
          </a:prstGeom>
          <a:noFill/>
          <a:ln>
            <a:miter lim="800000"/>
          </a:ln>
        </p:spPr>
        <p:txBody>
          <a:bodyPr wrap="square" lIns="0" tIns="0" rIns="0" bIns="0" rtlCol="0" anchor="t"/>
          <a:lstStyle/>
          <a:p>
            <a:pPr algn="l">
              <a:lnSpc>
                <a:spcPts val="2052"/>
              </a:lnSpc>
            </a:pPr>
            <a:r>
              <a:rPr lang="en-US" sz="1400" b="1" kern="0" spc="-30" dirty="0">
                <a:solidFill>
                  <a:srgbClr val="FFFFFF">
                    <a:alpha val="80000"/>
                  </a:srgbClr>
                </a:solidFill>
                <a:ea typeface="Inter Medium" pitchFamily="34" charset="-122"/>
                <a:cs typeface="Inter Medium" pitchFamily="34" charset="-120"/>
              </a:rPr>
              <a:t>Research,</a:t>
            </a:r>
          </a:p>
          <a:p>
            <a:pPr algn="l">
              <a:lnSpc>
                <a:spcPts val="2052"/>
              </a:lnSpc>
            </a:pPr>
            <a:r>
              <a:rPr lang="en-US" sz="1400" b="1" kern="0" spc="-30" dirty="0">
                <a:solidFill>
                  <a:srgbClr val="FFFFFF">
                    <a:alpha val="80000"/>
                  </a:srgbClr>
                </a:solidFill>
                <a:ea typeface="Inter Medium" pitchFamily="34" charset="-122"/>
              </a:rPr>
              <a:t>Data Collection,</a:t>
            </a:r>
          </a:p>
          <a:p>
            <a:pPr algn="l">
              <a:lnSpc>
                <a:spcPts val="2052"/>
              </a:lnSpc>
            </a:pPr>
            <a:r>
              <a:rPr lang="en-US" sz="1400" b="1" kern="0" spc="-30" dirty="0">
                <a:solidFill>
                  <a:srgbClr val="FFFFFF">
                    <a:alpha val="80000"/>
                  </a:srgbClr>
                </a:solidFill>
                <a:ea typeface="Inter Medium" pitchFamily="34" charset="-122"/>
              </a:rPr>
              <a:t>Data Labeling,</a:t>
            </a:r>
          </a:p>
          <a:p>
            <a:pPr algn="l">
              <a:lnSpc>
                <a:spcPts val="2052"/>
              </a:lnSpc>
            </a:pPr>
            <a:r>
              <a:rPr lang="en-US" sz="1400" b="1" kern="0" spc="-30" dirty="0">
                <a:solidFill>
                  <a:srgbClr val="FFFFFF">
                    <a:alpha val="80000"/>
                  </a:srgbClr>
                </a:solidFill>
                <a:ea typeface="Inter Medium" pitchFamily="34" charset="-122"/>
              </a:rPr>
              <a:t>Documentation</a:t>
            </a:r>
            <a:endParaRPr lang="en-US" sz="1600" b="1" dirty="0"/>
          </a:p>
        </p:txBody>
      </p:sp>
      <p:sp>
        <p:nvSpPr>
          <p:cNvPr id="12" name="Shape 7"/>
          <p:cNvSpPr/>
          <p:nvPr/>
        </p:nvSpPr>
        <p:spPr>
          <a:xfrm>
            <a:off x="3679371" y="2216497"/>
            <a:ext cx="476250" cy="476250"/>
          </a:xfrm>
          <a:prstGeom prst="ellipse">
            <a:avLst/>
          </a:prstGeom>
          <a:solidFill>
            <a:srgbClr val="FFFFFF"/>
          </a:solidFill>
          <a:ln w="38100">
            <a:solidFill>
              <a:srgbClr val="1875A3"/>
            </a:solidFill>
            <a:prstDash val="solid"/>
            <a:miter lim="800000"/>
          </a:ln>
        </p:spPr>
        <p:txBody>
          <a:bodyPr/>
          <a:lstStyle/>
          <a:p>
            <a:endParaRPr lang="en-US" dirty="0"/>
          </a:p>
        </p:txBody>
      </p:sp>
      <p:pic>
        <p:nvPicPr>
          <p:cNvPr id="13" name="Image 3" descr="-72a832de.png"/>
          <p:cNvPicPr>
            <a:picLocks noChangeAspect="1"/>
          </p:cNvPicPr>
          <p:nvPr/>
        </p:nvPicPr>
        <p:blipFill>
          <a:blip r:embed="rId6"/>
          <a:stretch>
            <a:fillRect/>
          </a:stretch>
        </p:blipFill>
        <p:spPr>
          <a:xfrm>
            <a:off x="3819828" y="2382068"/>
            <a:ext cx="200025" cy="161925"/>
          </a:xfrm>
          <a:prstGeom prst="rect">
            <a:avLst/>
          </a:prstGeom>
        </p:spPr>
      </p:pic>
      <p:pic>
        <p:nvPicPr>
          <p:cNvPr id="14" name="Image 4" descr="-63bd839e.png"/>
          <p:cNvPicPr>
            <a:picLocks noChangeAspect="1"/>
          </p:cNvPicPr>
          <p:nvPr/>
        </p:nvPicPr>
        <p:blipFill>
          <a:blip r:embed="rId7"/>
          <a:stretch>
            <a:fillRect/>
          </a:stretch>
        </p:blipFill>
        <p:spPr>
          <a:xfrm>
            <a:off x="4927146" y="2454622"/>
            <a:ext cx="2400300" cy="1190625"/>
          </a:xfrm>
          <a:prstGeom prst="rect">
            <a:avLst/>
          </a:prstGeom>
        </p:spPr>
      </p:pic>
      <p:sp>
        <p:nvSpPr>
          <p:cNvPr id="15" name="Text 8"/>
          <p:cNvSpPr/>
          <p:nvPr/>
        </p:nvSpPr>
        <p:spPr>
          <a:xfrm>
            <a:off x="5355771" y="2859881"/>
            <a:ext cx="1543050" cy="474166"/>
          </a:xfrm>
          <a:prstGeom prst="rect">
            <a:avLst/>
          </a:prstGeom>
          <a:noFill/>
          <a:ln>
            <a:miter lim="800000"/>
          </a:ln>
        </p:spPr>
        <p:txBody>
          <a:bodyPr wrap="square" lIns="0" tIns="0" rIns="0" bIns="0" rtlCol="0" anchor="t"/>
          <a:lstStyle/>
          <a:p>
            <a:pPr algn="ctr">
              <a:lnSpc>
                <a:spcPts val="1244"/>
              </a:lnSpc>
            </a:pPr>
            <a:r>
              <a:rPr lang="en-US" sz="1200" b="1" kern="0" spc="-65" dirty="0">
                <a:solidFill>
                  <a:srgbClr val="FFFFFF"/>
                </a:solidFill>
                <a:ea typeface="Inter SemiBold" pitchFamily="34" charset="-122"/>
                <a:cs typeface="Inter SemiBold" pitchFamily="34" charset="-120"/>
              </a:rPr>
              <a:t>Phase3 : </a:t>
            </a:r>
          </a:p>
          <a:p>
            <a:pPr algn="ctr">
              <a:lnSpc>
                <a:spcPts val="1244"/>
              </a:lnSpc>
            </a:pPr>
            <a:r>
              <a:rPr lang="en-US" sz="1200" b="1" kern="0" spc="-65" dirty="0">
                <a:solidFill>
                  <a:srgbClr val="FFFFFF"/>
                </a:solidFill>
                <a:ea typeface="Inter SemiBold" pitchFamily="34" charset="-122"/>
                <a:cs typeface="Inter SemiBold" pitchFamily="34" charset="-120"/>
              </a:rPr>
              <a:t>Development &amp;</a:t>
            </a:r>
            <a:br>
              <a:rPr lang="en-US" sz="1200" b="1" kern="0" spc="-65" dirty="0">
                <a:solidFill>
                  <a:srgbClr val="FFFFFF"/>
                </a:solidFill>
                <a:ea typeface="Inter SemiBold" pitchFamily="34" charset="-122"/>
                <a:cs typeface="Inter SemiBold" pitchFamily="34" charset="-120"/>
              </a:rPr>
            </a:br>
            <a:r>
              <a:rPr lang="en-US" sz="1200" b="1" kern="0" spc="-65" dirty="0">
                <a:solidFill>
                  <a:srgbClr val="FFFFFF"/>
                </a:solidFill>
                <a:ea typeface="Inter SemiBold" pitchFamily="34" charset="-122"/>
                <a:cs typeface="Inter SemiBold" pitchFamily="34" charset="-120"/>
              </a:rPr>
              <a:t>Integration </a:t>
            </a:r>
          </a:p>
        </p:txBody>
      </p:sp>
      <p:sp>
        <p:nvSpPr>
          <p:cNvPr id="16" name="Text 9"/>
          <p:cNvSpPr/>
          <p:nvPr/>
        </p:nvSpPr>
        <p:spPr>
          <a:xfrm>
            <a:off x="4927145" y="3893343"/>
            <a:ext cx="2056361" cy="1610986"/>
          </a:xfrm>
          <a:prstGeom prst="rect">
            <a:avLst/>
          </a:prstGeom>
          <a:noFill/>
          <a:ln>
            <a:miter lim="800000"/>
          </a:ln>
        </p:spPr>
        <p:txBody>
          <a:bodyPr wrap="square" lIns="0" tIns="0" rIns="0" bIns="0" rtlCol="0" anchor="t"/>
          <a:lstStyle/>
          <a:p>
            <a:pPr>
              <a:lnSpc>
                <a:spcPts val="2052"/>
              </a:lnSpc>
            </a:pPr>
            <a:r>
              <a:rPr lang="en-US" sz="1400" b="1" kern="0" spc="-30" dirty="0">
                <a:solidFill>
                  <a:srgbClr val="FFFFFF">
                    <a:alpha val="80000"/>
                  </a:srgbClr>
                </a:solidFill>
                <a:ea typeface="Inter Medium" pitchFamily="34" charset="-122"/>
                <a:cs typeface="Inter Medium" pitchFamily="34" charset="-120"/>
              </a:rPr>
              <a:t>Rule Engine Development, </a:t>
            </a:r>
          </a:p>
          <a:p>
            <a:pPr>
              <a:lnSpc>
                <a:spcPts val="2052"/>
              </a:lnSpc>
            </a:pPr>
            <a:r>
              <a:rPr lang="en-US" sz="1400" b="1" kern="0" spc="-30" dirty="0">
                <a:solidFill>
                  <a:srgbClr val="FFFFFF">
                    <a:alpha val="80000"/>
                  </a:srgbClr>
                </a:solidFill>
                <a:ea typeface="Inter Medium" pitchFamily="34" charset="-122"/>
                <a:cs typeface="Inter Medium" pitchFamily="34" charset="-120"/>
              </a:rPr>
              <a:t>ML Classifier Development</a:t>
            </a:r>
          </a:p>
          <a:p>
            <a:pPr algn="l">
              <a:lnSpc>
                <a:spcPts val="2052"/>
              </a:lnSpc>
            </a:pPr>
            <a:r>
              <a:rPr lang="en-US" sz="1400" b="1" kern="0" spc="-30" dirty="0">
                <a:solidFill>
                  <a:srgbClr val="FFFFFF">
                    <a:alpha val="80000"/>
                  </a:srgbClr>
                </a:solidFill>
                <a:ea typeface="Inter Medium" pitchFamily="34" charset="-122"/>
                <a:cs typeface="Inter Medium" pitchFamily="34" charset="-120"/>
              </a:rPr>
              <a:t>Hybrid Scorer Development,</a:t>
            </a:r>
            <a:br>
              <a:rPr lang="en-US" sz="1400" b="1" kern="0" spc="-30" dirty="0">
                <a:solidFill>
                  <a:srgbClr val="FFFFFF">
                    <a:alpha val="80000"/>
                  </a:srgbClr>
                </a:solidFill>
                <a:ea typeface="Inter Medium" pitchFamily="34" charset="-122"/>
                <a:cs typeface="Inter Medium" pitchFamily="34" charset="-120"/>
              </a:rPr>
            </a:br>
            <a:r>
              <a:rPr lang="en-US" sz="1400" b="1" kern="0" spc="-30" dirty="0">
                <a:solidFill>
                  <a:srgbClr val="FFFFFF">
                    <a:alpha val="80000"/>
                  </a:srgbClr>
                </a:solidFill>
                <a:ea typeface="Inter Medium" pitchFamily="34" charset="-122"/>
                <a:cs typeface="Inter Medium" pitchFamily="34" charset="-120"/>
              </a:rPr>
              <a:t>Stream lit Dashboard Development.</a:t>
            </a:r>
            <a:endParaRPr lang="en-US" sz="1600" b="1" dirty="0"/>
          </a:p>
        </p:txBody>
      </p:sp>
      <p:sp>
        <p:nvSpPr>
          <p:cNvPr id="17" name="Shape 10"/>
          <p:cNvSpPr/>
          <p:nvPr/>
        </p:nvSpPr>
        <p:spPr>
          <a:xfrm>
            <a:off x="5889171" y="2216497"/>
            <a:ext cx="476250" cy="476250"/>
          </a:xfrm>
          <a:prstGeom prst="ellipse">
            <a:avLst/>
          </a:prstGeom>
          <a:solidFill>
            <a:srgbClr val="FFFFFF"/>
          </a:solidFill>
          <a:ln w="38100">
            <a:solidFill>
              <a:srgbClr val="146086"/>
            </a:solidFill>
            <a:prstDash val="solid"/>
            <a:miter lim="800000"/>
          </a:ln>
        </p:spPr>
        <p:txBody>
          <a:bodyPr/>
          <a:lstStyle/>
          <a:p>
            <a:endParaRPr lang="en-US" dirty="0"/>
          </a:p>
        </p:txBody>
      </p:sp>
      <p:pic>
        <p:nvPicPr>
          <p:cNvPr id="18" name="Image 5" descr="22a28962.png"/>
          <p:cNvPicPr>
            <a:picLocks noChangeAspect="1"/>
          </p:cNvPicPr>
          <p:nvPr/>
        </p:nvPicPr>
        <p:blipFill>
          <a:blip r:embed="rId8"/>
          <a:stretch>
            <a:fillRect/>
          </a:stretch>
        </p:blipFill>
        <p:spPr>
          <a:xfrm>
            <a:off x="6049160" y="2351373"/>
            <a:ext cx="161925" cy="209550"/>
          </a:xfrm>
          <a:prstGeom prst="rect">
            <a:avLst/>
          </a:prstGeom>
        </p:spPr>
      </p:pic>
      <p:pic>
        <p:nvPicPr>
          <p:cNvPr id="19" name="Image 6" descr="-5a47b8de.png"/>
          <p:cNvPicPr>
            <a:picLocks noChangeAspect="1"/>
          </p:cNvPicPr>
          <p:nvPr/>
        </p:nvPicPr>
        <p:blipFill>
          <a:blip r:embed="rId9"/>
          <a:stretch>
            <a:fillRect/>
          </a:stretch>
        </p:blipFill>
        <p:spPr>
          <a:xfrm>
            <a:off x="7136946" y="2454622"/>
            <a:ext cx="2400300" cy="1190625"/>
          </a:xfrm>
          <a:prstGeom prst="rect">
            <a:avLst/>
          </a:prstGeom>
        </p:spPr>
      </p:pic>
      <p:sp>
        <p:nvSpPr>
          <p:cNvPr id="20" name="Text 11"/>
          <p:cNvSpPr/>
          <p:nvPr/>
        </p:nvSpPr>
        <p:spPr>
          <a:xfrm>
            <a:off x="7565571" y="2940843"/>
            <a:ext cx="1543050" cy="316111"/>
          </a:xfrm>
          <a:prstGeom prst="rect">
            <a:avLst/>
          </a:prstGeom>
          <a:noFill/>
          <a:ln>
            <a:miter lim="800000"/>
          </a:ln>
        </p:spPr>
        <p:txBody>
          <a:bodyPr wrap="square" lIns="0" tIns="0" rIns="0" bIns="0" rtlCol="0" anchor="t"/>
          <a:lstStyle/>
          <a:p>
            <a:pPr algn="ctr">
              <a:lnSpc>
                <a:spcPts val="1244"/>
              </a:lnSpc>
            </a:pPr>
            <a:r>
              <a:rPr lang="en-US" sz="1200" b="1" kern="0" spc="-65" dirty="0">
                <a:solidFill>
                  <a:srgbClr val="FFFFFF"/>
                </a:solidFill>
                <a:ea typeface="Inter SemiBold" pitchFamily="34" charset="-122"/>
                <a:cs typeface="Inter SemiBold" pitchFamily="34" charset="-120"/>
              </a:rPr>
              <a:t>Phase 4: </a:t>
            </a:r>
          </a:p>
          <a:p>
            <a:pPr algn="ctr">
              <a:lnSpc>
                <a:spcPts val="1244"/>
              </a:lnSpc>
            </a:pPr>
            <a:r>
              <a:rPr lang="en-US" sz="1200" b="1" kern="0" spc="-65" dirty="0">
                <a:solidFill>
                  <a:srgbClr val="FFFFFF"/>
                </a:solidFill>
                <a:ea typeface="Inter SemiBold" pitchFamily="34" charset="-122"/>
                <a:cs typeface="Inter SemiBold" pitchFamily="34" charset="-120"/>
              </a:rPr>
              <a:t>Validation &amp;</a:t>
            </a:r>
            <a:br>
              <a:rPr lang="en-US" sz="1200" b="1" kern="0" spc="-65" dirty="0">
                <a:solidFill>
                  <a:srgbClr val="FFFFFF"/>
                </a:solidFill>
                <a:ea typeface="Inter SemiBold" pitchFamily="34" charset="-122"/>
                <a:cs typeface="Inter SemiBold" pitchFamily="34" charset="-120"/>
              </a:rPr>
            </a:br>
            <a:r>
              <a:rPr lang="en-US" sz="1200" b="1" kern="0" spc="-65" dirty="0">
                <a:solidFill>
                  <a:srgbClr val="FFFFFF"/>
                </a:solidFill>
                <a:ea typeface="Inter SemiBold" pitchFamily="34" charset="-122"/>
                <a:cs typeface="Inter SemiBold" pitchFamily="34" charset="-120"/>
              </a:rPr>
              <a:t>Testing </a:t>
            </a:r>
          </a:p>
        </p:txBody>
      </p:sp>
      <p:sp>
        <p:nvSpPr>
          <p:cNvPr id="21" name="Text 12"/>
          <p:cNvSpPr/>
          <p:nvPr/>
        </p:nvSpPr>
        <p:spPr>
          <a:xfrm>
            <a:off x="7430860" y="3893343"/>
            <a:ext cx="1828800" cy="781794"/>
          </a:xfrm>
          <a:prstGeom prst="rect">
            <a:avLst/>
          </a:prstGeom>
          <a:noFill/>
          <a:ln>
            <a:miter lim="800000"/>
          </a:ln>
        </p:spPr>
        <p:txBody>
          <a:bodyPr wrap="square" lIns="0" tIns="0" rIns="0" bIns="0" rtlCol="0" anchor="t"/>
          <a:lstStyle/>
          <a:p>
            <a:pPr algn="l">
              <a:lnSpc>
                <a:spcPts val="2052"/>
              </a:lnSpc>
            </a:pPr>
            <a:r>
              <a:rPr lang="en-US" sz="1400" b="1" kern="0" spc="-30" dirty="0">
                <a:solidFill>
                  <a:srgbClr val="FFFFFF">
                    <a:alpha val="80000"/>
                  </a:srgbClr>
                </a:solidFill>
                <a:ea typeface="Inter Medium" pitchFamily="34" charset="-122"/>
                <a:cs typeface="Inter Medium" pitchFamily="34" charset="-120"/>
              </a:rPr>
              <a:t>Evaluation on test</a:t>
            </a:r>
            <a:br>
              <a:rPr lang="en-US" sz="1400" b="1" kern="0" spc="-30" dirty="0">
                <a:solidFill>
                  <a:srgbClr val="FFFFFF">
                    <a:alpha val="80000"/>
                  </a:srgbClr>
                </a:solidFill>
                <a:ea typeface="Inter Medium" pitchFamily="34" charset="-122"/>
                <a:cs typeface="Inter Medium" pitchFamily="34" charset="-120"/>
              </a:rPr>
            </a:br>
            <a:r>
              <a:rPr lang="en-US" sz="1400" b="1" kern="0" spc="-30" dirty="0">
                <a:solidFill>
                  <a:srgbClr val="FFFFFF">
                    <a:alpha val="80000"/>
                  </a:srgbClr>
                </a:solidFill>
                <a:ea typeface="Inter Medium" pitchFamily="34" charset="-122"/>
                <a:cs typeface="Inter Medium" pitchFamily="34" charset="-120"/>
              </a:rPr>
              <a:t>set, using metrices – Accuracy, F1, Recall </a:t>
            </a:r>
          </a:p>
          <a:p>
            <a:pPr algn="l">
              <a:lnSpc>
                <a:spcPts val="2052"/>
              </a:lnSpc>
            </a:pPr>
            <a:r>
              <a:rPr lang="en-US" sz="1400" b="1" kern="0" spc="-30" dirty="0">
                <a:solidFill>
                  <a:srgbClr val="FFFFFF">
                    <a:alpha val="80000"/>
                  </a:srgbClr>
                </a:solidFill>
                <a:ea typeface="Inter Medium" pitchFamily="34" charset="-122"/>
                <a:cs typeface="Inter Medium" pitchFamily="34" charset="-120"/>
              </a:rPr>
              <a:t>Hypothesis validation</a:t>
            </a:r>
          </a:p>
          <a:p>
            <a:pPr algn="l">
              <a:lnSpc>
                <a:spcPts val="2052"/>
              </a:lnSpc>
            </a:pPr>
            <a:r>
              <a:rPr lang="en-US" sz="1400" b="1" kern="0" spc="-30" dirty="0">
                <a:solidFill>
                  <a:srgbClr val="FFFFFF">
                    <a:alpha val="80000"/>
                  </a:srgbClr>
                </a:solidFill>
                <a:ea typeface="Inter Medium" pitchFamily="34" charset="-122"/>
                <a:cs typeface="Inter Medium" pitchFamily="34" charset="-120"/>
              </a:rPr>
              <a:t>Results documentation.</a:t>
            </a:r>
          </a:p>
          <a:p>
            <a:pPr algn="l">
              <a:lnSpc>
                <a:spcPts val="2052"/>
              </a:lnSpc>
            </a:pPr>
            <a:endParaRPr lang="en-US" sz="1600" b="1" dirty="0"/>
          </a:p>
        </p:txBody>
      </p:sp>
      <p:sp>
        <p:nvSpPr>
          <p:cNvPr id="22" name="Shape 13"/>
          <p:cNvSpPr/>
          <p:nvPr/>
        </p:nvSpPr>
        <p:spPr>
          <a:xfrm>
            <a:off x="8098971" y="2216497"/>
            <a:ext cx="476250" cy="476250"/>
          </a:xfrm>
          <a:prstGeom prst="ellipse">
            <a:avLst/>
          </a:prstGeom>
          <a:solidFill>
            <a:srgbClr val="FFFFFF"/>
          </a:solidFill>
          <a:ln w="38100">
            <a:solidFill>
              <a:srgbClr val="0F4A68"/>
            </a:solidFill>
            <a:prstDash val="solid"/>
            <a:miter lim="800000"/>
          </a:ln>
        </p:spPr>
        <p:txBody>
          <a:bodyPr/>
          <a:lstStyle/>
          <a:p>
            <a:endParaRPr lang="en-US" dirty="0"/>
          </a:p>
        </p:txBody>
      </p:sp>
      <p:pic>
        <p:nvPicPr>
          <p:cNvPr id="23" name="Image 7" descr="49664522.png"/>
          <p:cNvPicPr>
            <a:picLocks noChangeAspect="1"/>
          </p:cNvPicPr>
          <p:nvPr/>
        </p:nvPicPr>
        <p:blipFill>
          <a:blip r:embed="rId10"/>
          <a:stretch>
            <a:fillRect/>
          </a:stretch>
        </p:blipFill>
        <p:spPr>
          <a:xfrm>
            <a:off x="8221053" y="2367495"/>
            <a:ext cx="228600" cy="200025"/>
          </a:xfrm>
          <a:prstGeom prst="rect">
            <a:avLst/>
          </a:prstGeom>
        </p:spPr>
      </p:pic>
      <p:pic>
        <p:nvPicPr>
          <p:cNvPr id="24" name="Image 8" descr="213ef762.png"/>
          <p:cNvPicPr>
            <a:picLocks noChangeAspect="1"/>
          </p:cNvPicPr>
          <p:nvPr/>
        </p:nvPicPr>
        <p:blipFill>
          <a:blip r:embed="rId11"/>
          <a:stretch>
            <a:fillRect/>
          </a:stretch>
        </p:blipFill>
        <p:spPr>
          <a:xfrm>
            <a:off x="9346746" y="2454622"/>
            <a:ext cx="2400300" cy="1190625"/>
          </a:xfrm>
          <a:prstGeom prst="rect">
            <a:avLst/>
          </a:prstGeom>
          <a:noFill/>
        </p:spPr>
      </p:pic>
      <p:sp>
        <p:nvSpPr>
          <p:cNvPr id="25" name="Text 14"/>
          <p:cNvSpPr/>
          <p:nvPr/>
        </p:nvSpPr>
        <p:spPr>
          <a:xfrm>
            <a:off x="9775371" y="2940843"/>
            <a:ext cx="1543050" cy="316111"/>
          </a:xfrm>
          <a:prstGeom prst="rect">
            <a:avLst/>
          </a:prstGeom>
          <a:noFill/>
          <a:ln>
            <a:miter lim="800000"/>
          </a:ln>
        </p:spPr>
        <p:txBody>
          <a:bodyPr wrap="square" lIns="0" tIns="0" rIns="0" bIns="0" rtlCol="0" anchor="t"/>
          <a:lstStyle/>
          <a:p>
            <a:pPr algn="ctr">
              <a:lnSpc>
                <a:spcPts val="1244"/>
              </a:lnSpc>
            </a:pPr>
            <a:r>
              <a:rPr lang="en-US" sz="1200" b="1" kern="0" spc="-65" dirty="0">
                <a:solidFill>
                  <a:srgbClr val="FFFFFF"/>
                </a:solidFill>
                <a:ea typeface="Inter SemiBold" pitchFamily="34" charset="-122"/>
                <a:cs typeface="Inter SemiBold" pitchFamily="34" charset="-120"/>
              </a:rPr>
              <a:t>Phase 5: </a:t>
            </a:r>
          </a:p>
          <a:p>
            <a:pPr algn="ctr">
              <a:lnSpc>
                <a:spcPts val="1244"/>
              </a:lnSpc>
            </a:pPr>
            <a:r>
              <a:rPr lang="en-US" sz="1200" b="1" kern="0" spc="-65" dirty="0">
                <a:solidFill>
                  <a:srgbClr val="FFFFFF"/>
                </a:solidFill>
                <a:ea typeface="Inter SemiBold" pitchFamily="34" charset="-122"/>
                <a:cs typeface="Inter SemiBold" pitchFamily="34" charset="-120"/>
              </a:rPr>
              <a:t>Finalization</a:t>
            </a:r>
            <a:br>
              <a:rPr lang="en-US" sz="1200" b="1" kern="0" spc="-65" dirty="0">
                <a:solidFill>
                  <a:srgbClr val="FFFFFF"/>
                </a:solidFill>
                <a:ea typeface="Inter SemiBold" pitchFamily="34" charset="-122"/>
                <a:cs typeface="Inter SemiBold" pitchFamily="34" charset="-120"/>
              </a:rPr>
            </a:br>
            <a:endParaRPr lang="en-US" sz="2400" b="1" dirty="0"/>
          </a:p>
        </p:txBody>
      </p:sp>
      <p:sp>
        <p:nvSpPr>
          <p:cNvPr id="26" name="Text 15"/>
          <p:cNvSpPr/>
          <p:nvPr/>
        </p:nvSpPr>
        <p:spPr>
          <a:xfrm>
            <a:off x="9640660" y="3893343"/>
            <a:ext cx="1837551" cy="781794"/>
          </a:xfrm>
          <a:prstGeom prst="rect">
            <a:avLst/>
          </a:prstGeom>
          <a:noFill/>
          <a:ln>
            <a:miter lim="800000"/>
          </a:ln>
        </p:spPr>
        <p:txBody>
          <a:bodyPr wrap="square" lIns="0" tIns="0" rIns="0" bIns="0" rtlCol="0" anchor="t"/>
          <a:lstStyle/>
          <a:p>
            <a:pPr algn="l">
              <a:lnSpc>
                <a:spcPts val="2052"/>
              </a:lnSpc>
            </a:pPr>
            <a:r>
              <a:rPr lang="en-US" sz="1400" b="1" kern="0" spc="-30" dirty="0">
                <a:solidFill>
                  <a:srgbClr val="FFFFFF">
                    <a:alpha val="80000"/>
                  </a:srgbClr>
                </a:solidFill>
                <a:ea typeface="Inter Medium" pitchFamily="34" charset="-122"/>
                <a:cs typeface="Inter Medium" pitchFamily="34" charset="-120"/>
              </a:rPr>
              <a:t>Dissertation Writing,</a:t>
            </a:r>
            <a:br>
              <a:rPr lang="en-US" sz="1400" b="1" kern="0" spc="-30" dirty="0">
                <a:solidFill>
                  <a:srgbClr val="FFFFFF">
                    <a:alpha val="80000"/>
                  </a:srgbClr>
                </a:solidFill>
                <a:ea typeface="Inter Medium" pitchFamily="34" charset="-122"/>
                <a:cs typeface="Inter Medium" pitchFamily="34" charset="-120"/>
              </a:rPr>
            </a:br>
            <a:r>
              <a:rPr lang="en-US" sz="1400" b="1" kern="0" spc="-30" dirty="0">
                <a:solidFill>
                  <a:srgbClr val="FFFFFF">
                    <a:alpha val="80000"/>
                  </a:srgbClr>
                </a:solidFill>
                <a:ea typeface="Inter Medium" pitchFamily="34" charset="-122"/>
                <a:cs typeface="Inter Medium" pitchFamily="34" charset="-120"/>
              </a:rPr>
              <a:t>Review, and Final</a:t>
            </a:r>
            <a:br>
              <a:rPr lang="en-US" sz="1400" b="1" kern="0" spc="-30" dirty="0">
                <a:solidFill>
                  <a:srgbClr val="FFFFFF">
                    <a:alpha val="80000"/>
                  </a:srgbClr>
                </a:solidFill>
                <a:ea typeface="Inter Medium" pitchFamily="34" charset="-122"/>
                <a:cs typeface="Inter Medium" pitchFamily="34" charset="-120"/>
              </a:rPr>
            </a:br>
            <a:r>
              <a:rPr lang="en-US" sz="1400" b="1" kern="0" spc="-30" dirty="0">
                <a:solidFill>
                  <a:srgbClr val="FFFFFF">
                    <a:alpha val="80000"/>
                  </a:srgbClr>
                </a:solidFill>
                <a:ea typeface="Inter Medium" pitchFamily="34" charset="-122"/>
                <a:cs typeface="Inter Medium" pitchFamily="34" charset="-120"/>
              </a:rPr>
              <a:t>Submission.</a:t>
            </a:r>
            <a:endParaRPr lang="en-US" sz="1600" b="1" dirty="0"/>
          </a:p>
        </p:txBody>
      </p:sp>
      <p:sp>
        <p:nvSpPr>
          <p:cNvPr id="27" name="Shape 16"/>
          <p:cNvSpPr/>
          <p:nvPr/>
        </p:nvSpPr>
        <p:spPr>
          <a:xfrm>
            <a:off x="10308771" y="2216497"/>
            <a:ext cx="476250" cy="476250"/>
          </a:xfrm>
          <a:prstGeom prst="ellipse">
            <a:avLst/>
          </a:prstGeom>
          <a:solidFill>
            <a:srgbClr val="FFFFFF"/>
          </a:solidFill>
          <a:ln w="38100">
            <a:solidFill>
              <a:srgbClr val="0B354A"/>
            </a:solidFill>
            <a:prstDash val="solid"/>
            <a:miter lim="800000"/>
          </a:ln>
        </p:spPr>
        <p:txBody>
          <a:bodyPr/>
          <a:lstStyle/>
          <a:p>
            <a:endParaRPr lang="en-US" dirty="0"/>
          </a:p>
        </p:txBody>
      </p:sp>
      <p:pic>
        <p:nvPicPr>
          <p:cNvPr id="28" name="Image 9" descr="5c7e00a2.png"/>
          <p:cNvPicPr>
            <a:picLocks noChangeAspect="1"/>
          </p:cNvPicPr>
          <p:nvPr/>
        </p:nvPicPr>
        <p:blipFill>
          <a:blip r:embed="rId12"/>
          <a:stretch>
            <a:fillRect/>
          </a:stretch>
        </p:blipFill>
        <p:spPr>
          <a:xfrm>
            <a:off x="10422984" y="2330723"/>
            <a:ext cx="257175" cy="257175"/>
          </a:xfrm>
          <a:prstGeom prst="rect">
            <a:avLst/>
          </a:prstGeom>
        </p:spPr>
      </p:pic>
      <p:sp>
        <p:nvSpPr>
          <p:cNvPr id="36" name="Flowchart: Collate 35">
            <a:extLst>
              <a:ext uri="{FF2B5EF4-FFF2-40B4-BE49-F238E27FC236}">
                <a16:creationId xmlns:a16="http://schemas.microsoft.com/office/drawing/2014/main" id="{BBDA7281-7659-2480-EE9C-AADAABA9ED1E}"/>
              </a:ext>
            </a:extLst>
          </p:cNvPr>
          <p:cNvSpPr/>
          <p:nvPr/>
        </p:nvSpPr>
        <p:spPr>
          <a:xfrm>
            <a:off x="1570776" y="1627512"/>
            <a:ext cx="476250" cy="306734"/>
          </a:xfrm>
          <a:prstGeom prst="flowChartCol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solidFill>
                <a:schemeClr val="tx1"/>
              </a:solidFill>
            </a:endParaRPr>
          </a:p>
        </p:txBody>
      </p:sp>
      <p:sp>
        <p:nvSpPr>
          <p:cNvPr id="38" name="Flowchart: Collate 37">
            <a:extLst>
              <a:ext uri="{FF2B5EF4-FFF2-40B4-BE49-F238E27FC236}">
                <a16:creationId xmlns:a16="http://schemas.microsoft.com/office/drawing/2014/main" id="{010593D1-682E-8CB5-C21B-C0CDE5FBBBBB}"/>
              </a:ext>
            </a:extLst>
          </p:cNvPr>
          <p:cNvSpPr/>
          <p:nvPr/>
        </p:nvSpPr>
        <p:spPr>
          <a:xfrm>
            <a:off x="3581703" y="1603721"/>
            <a:ext cx="476250" cy="306734"/>
          </a:xfrm>
          <a:prstGeom prst="flowChartCol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solidFill>
                <a:schemeClr val="tx1"/>
              </a:solidFill>
            </a:endParaRPr>
          </a:p>
        </p:txBody>
      </p:sp>
      <p:sp>
        <p:nvSpPr>
          <p:cNvPr id="40" name="Flowchart: Collate 39">
            <a:extLst>
              <a:ext uri="{FF2B5EF4-FFF2-40B4-BE49-F238E27FC236}">
                <a16:creationId xmlns:a16="http://schemas.microsoft.com/office/drawing/2014/main" id="{B9637036-EBEE-9716-FA42-DCA97376CA75}"/>
              </a:ext>
            </a:extLst>
          </p:cNvPr>
          <p:cNvSpPr/>
          <p:nvPr/>
        </p:nvSpPr>
        <p:spPr>
          <a:xfrm>
            <a:off x="5811035" y="1621974"/>
            <a:ext cx="476250" cy="306734"/>
          </a:xfrm>
          <a:prstGeom prst="flowChartCollate">
            <a:avLst/>
          </a:prstGeom>
          <a:solidFill>
            <a:schemeClr val="accent6"/>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solidFill>
                <a:schemeClr val="tx1"/>
              </a:solidFill>
            </a:endParaRPr>
          </a:p>
        </p:txBody>
      </p:sp>
      <p:sp>
        <p:nvSpPr>
          <p:cNvPr id="44" name="Flowchart: Collate 43">
            <a:extLst>
              <a:ext uri="{FF2B5EF4-FFF2-40B4-BE49-F238E27FC236}">
                <a16:creationId xmlns:a16="http://schemas.microsoft.com/office/drawing/2014/main" id="{2D579753-1C32-5561-80AB-FEDF66534429}"/>
              </a:ext>
            </a:extLst>
          </p:cNvPr>
          <p:cNvSpPr/>
          <p:nvPr/>
        </p:nvSpPr>
        <p:spPr>
          <a:xfrm>
            <a:off x="8056840" y="1617687"/>
            <a:ext cx="476250" cy="306734"/>
          </a:xfrm>
          <a:prstGeom prst="flowChartCollate">
            <a:avLst/>
          </a:prstGeom>
          <a:solidFill>
            <a:schemeClr val="accent6"/>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solidFill>
                <a:schemeClr val="tx1"/>
              </a:solidFill>
            </a:endParaRPr>
          </a:p>
        </p:txBody>
      </p:sp>
      <p:sp>
        <p:nvSpPr>
          <p:cNvPr id="46" name="Flowchart: Collate 45">
            <a:extLst>
              <a:ext uri="{FF2B5EF4-FFF2-40B4-BE49-F238E27FC236}">
                <a16:creationId xmlns:a16="http://schemas.microsoft.com/office/drawing/2014/main" id="{82CEDB4C-A7C5-1404-B7C9-767F79CE2725}"/>
              </a:ext>
            </a:extLst>
          </p:cNvPr>
          <p:cNvSpPr/>
          <p:nvPr/>
        </p:nvSpPr>
        <p:spPr>
          <a:xfrm>
            <a:off x="10286172" y="1627512"/>
            <a:ext cx="476250" cy="306734"/>
          </a:xfrm>
          <a:prstGeom prst="flowChartCollate">
            <a:avLst/>
          </a:prstGeom>
          <a:solidFill>
            <a:schemeClr val="accent6"/>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1BBE6-F1E4-392B-2676-4C848BB0C75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1FC2628-8487-7B7B-A29A-1C0B65A0CE18}"/>
              </a:ext>
            </a:extLst>
          </p:cNvPr>
          <p:cNvSpPr/>
          <p:nvPr/>
        </p:nvSpPr>
        <p:spPr>
          <a:xfrm>
            <a:off x="333375" y="196089"/>
            <a:ext cx="11525250" cy="548580"/>
          </a:xfrm>
          <a:prstGeom prst="rect">
            <a:avLst/>
          </a:prstGeom>
          <a:noFill/>
          <a:ln>
            <a:miter lim="800000"/>
          </a:ln>
        </p:spPr>
        <p:txBody>
          <a:bodyPr wrap="square" lIns="0" tIns="0" rIns="0" bIns="0" rtlCol="0" anchor="t"/>
          <a:lstStyle/>
          <a:p>
            <a:pPr algn="ctr" fontAlgn="ctr">
              <a:lnSpc>
                <a:spcPts val="4320"/>
              </a:lnSpc>
              <a:defRPr/>
            </a:pPr>
            <a:r>
              <a:rPr lang="en-US" sz="3000" kern="0" spc="-225" dirty="0">
                <a:solidFill>
                  <a:srgbClr val="FFFFFF"/>
                </a:solidFill>
                <a:latin typeface="Inter SemiBold" pitchFamily="34" charset="0"/>
                <a:ea typeface="Inter SemiBold" pitchFamily="34" charset="-122"/>
              </a:rPr>
              <a:t>Literature Review (1/2)</a:t>
            </a:r>
          </a:p>
          <a:p>
            <a:pPr marL="0" marR="0" lvl="0" indent="0" algn="ctr" defTabSz="914400" rtl="0" eaLnBrk="1" fontAlgn="ctr" latinLnBrk="0" hangingPunct="1">
              <a:lnSpc>
                <a:spcPts val="4320"/>
              </a:lnSpc>
              <a:spcBef>
                <a:spcPts val="0"/>
              </a:spcBef>
              <a:spcAft>
                <a:spcPts val="0"/>
              </a:spcAft>
              <a:buClrTx/>
              <a:buSzTx/>
              <a:buFontTx/>
              <a:buNone/>
              <a:tabLst/>
              <a:defRPr/>
            </a:pP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a:extLst>
              <a:ext uri="{FF2B5EF4-FFF2-40B4-BE49-F238E27FC236}">
                <a16:creationId xmlns:a16="http://schemas.microsoft.com/office/drawing/2014/main" id="{251FCFCB-05AB-5866-943C-64279B3C014C}"/>
              </a:ext>
            </a:extLst>
          </p:cNvPr>
          <p:cNvSpPr/>
          <p:nvPr/>
        </p:nvSpPr>
        <p:spPr>
          <a:xfrm>
            <a:off x="224118" y="1632661"/>
            <a:ext cx="5432611" cy="4643447"/>
          </a:xfrm>
          <a:prstGeom prst="rect">
            <a:avLst/>
          </a:prstGeom>
          <a:noFill/>
          <a:ln>
            <a:miter lim="800000"/>
          </a:ln>
        </p:spPr>
        <p:txBody>
          <a:bodyPr wrap="square" lIns="0" tIns="0" rIns="0" bIns="0" rtlCol="0" anchor="t"/>
          <a:lstStyle/>
          <a:p>
            <a:pPr marL="241300" marR="0" lvl="0" indent="-241300" algn="l" defTabSz="914400" rtl="0" eaLnBrk="1" fontAlgn="ctr" latinLnBrk="0" hangingPunct="1">
              <a:lnSpc>
                <a:spcPts val="2246"/>
              </a:lnSpc>
              <a:spcBef>
                <a:spcPts val="0"/>
              </a:spcBef>
              <a:spcAft>
                <a:spcPts val="0"/>
              </a:spcAft>
              <a:buClr>
                <a:srgbClr val="22AAEE"/>
              </a:buClr>
              <a:buSzPct val="120000"/>
              <a:buFontTx/>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FE66E737-B785-C3F1-7A93-01A653753609}"/>
              </a:ext>
            </a:extLst>
          </p:cNvPr>
          <p:cNvSpPr txBox="1"/>
          <p:nvPr/>
        </p:nvSpPr>
        <p:spPr>
          <a:xfrm>
            <a:off x="224118" y="1048176"/>
            <a:ext cx="5576046" cy="4924425"/>
          </a:xfrm>
          <a:prstGeom prst="rect">
            <a:avLst/>
          </a:prstGeom>
          <a:noFill/>
        </p:spPr>
        <p:txBody>
          <a:bodyPr wrap="square">
            <a:spAutoFit/>
          </a:bodyPr>
          <a:lstStyle/>
          <a:p>
            <a:pPr marL="342900" marR="0" lvl="0" indent="-342900">
              <a:buFont typeface="Symbol" panose="05050102010706020507" pitchFamily="18" charset="2"/>
              <a:buChar char=""/>
            </a:pPr>
            <a:r>
              <a:rPr lang="en-US" sz="1800" b="1" dirty="0">
                <a:solidFill>
                  <a:schemeClr val="bg1"/>
                </a:solidFill>
                <a:effectLst/>
                <a:latin typeface="Calibri" panose="020F0502020204030204" pitchFamily="34" charset="0"/>
                <a:ea typeface="Times New Roman" panose="02020603050405020304" pitchFamily="18" charset="0"/>
              </a:rPr>
              <a:t>Commercial Tools and Their Limitations  </a:t>
            </a:r>
          </a:p>
          <a:p>
            <a:pPr marL="342900" marR="0" lvl="0" indent="-342900">
              <a:buFont typeface="Symbol" panose="05050102010706020507" pitchFamily="18" charset="2"/>
              <a:buChar char=""/>
            </a:pPr>
            <a:endParaRPr lang="en-US" sz="1800" b="1" dirty="0">
              <a:solidFill>
                <a:schemeClr val="bg1"/>
              </a:solidFill>
              <a:effectLst/>
              <a:latin typeface="Calibri" panose="020F0502020204030204" pitchFamily="34" charset="0"/>
              <a:ea typeface="Times New Roman" panose="02020603050405020304" pitchFamily="18" charset="0"/>
            </a:endParaRPr>
          </a:p>
          <a:p>
            <a:pPr marL="342900" indent="-342900">
              <a:buFont typeface="Symbol" panose="05050102010706020507" pitchFamily="18" charset="2"/>
              <a:buChar char=""/>
            </a:pPr>
            <a:r>
              <a:rPr lang="en-US" sz="1400" dirty="0">
                <a:solidFill>
                  <a:schemeClr val="bg1"/>
                </a:solidFill>
              </a:rPr>
              <a:t>The Limitation: Commercial Jira plugins (like Script Runner, Automation for Jira) treat requirement validation as a single-axis problem. They only perform static, syntactic checks, such as verifying if a field is empty, if word count targets are met, or if standard templates are used</a:t>
            </a:r>
          </a:p>
          <a:p>
            <a:pPr marL="342900" indent="-342900">
              <a:buFont typeface="Symbol" panose="05050102010706020507" pitchFamily="18" charset="2"/>
              <a:buChar char=""/>
            </a:pPr>
            <a:endParaRPr lang="en-US" sz="1400" b="1" dirty="0">
              <a:solidFill>
                <a:schemeClr val="bg1"/>
              </a:solidFill>
            </a:endParaRPr>
          </a:p>
          <a:p>
            <a:pPr marL="342900" indent="-342900">
              <a:buFont typeface="Symbol" panose="05050102010706020507" pitchFamily="18" charset="2"/>
              <a:buChar char=""/>
            </a:pPr>
            <a:r>
              <a:rPr lang="en-US" sz="1400" b="1" dirty="0">
                <a:solidFill>
                  <a:schemeClr val="bg1"/>
                </a:solidFill>
              </a:rPr>
              <a:t>Key Finding:</a:t>
            </a:r>
            <a:r>
              <a:rPr lang="en-US" sz="1400" dirty="0">
                <a:solidFill>
                  <a:schemeClr val="bg1"/>
                </a:solidFill>
              </a:rPr>
              <a:t> While these tools excel at workflow automation and field-level validation, they cannot distinguish between structurally complete and semantically actionable requirements. A requirement with all fields populated may still be semantically hollow—containing phrases like "as discussed in the meeting" with no actionable detail.</a:t>
            </a:r>
          </a:p>
          <a:p>
            <a:pPr marL="342900" indent="-342900">
              <a:buFont typeface="Symbol" panose="05050102010706020507" pitchFamily="18" charset="2"/>
              <a:buChar char=""/>
            </a:pPr>
            <a:endParaRPr lang="en-US" sz="1400" dirty="0">
              <a:solidFill>
                <a:schemeClr val="bg1"/>
              </a:solidFill>
            </a:endParaRPr>
          </a:p>
          <a:p>
            <a:pPr marL="342900" indent="-342900">
              <a:buFont typeface="Symbol" panose="05050102010706020507" pitchFamily="18" charset="2"/>
              <a:buChar char=""/>
            </a:pPr>
            <a:r>
              <a:rPr lang="en-US" sz="1400" dirty="0">
                <a:solidFill>
                  <a:schemeClr val="bg1"/>
                </a:solidFill>
              </a:rPr>
              <a:t>The "Structural Blindness" justifies ML Classifier</a:t>
            </a:r>
          </a:p>
          <a:p>
            <a:pPr marL="342900" indent="-342900">
              <a:buFont typeface="Symbol" panose="05050102010706020507" pitchFamily="18" charset="2"/>
              <a:buChar char=""/>
            </a:pPr>
            <a:r>
              <a:rPr lang="en-US" sz="1400" dirty="0">
                <a:solidFill>
                  <a:schemeClr val="bg1"/>
                </a:solidFill>
              </a:rPr>
              <a:t>Fragmented Metrics requires "Hybrid" architecture</a:t>
            </a:r>
          </a:p>
          <a:p>
            <a:pPr marL="342900" indent="-342900">
              <a:buFont typeface="Symbol" panose="05050102010706020507" pitchFamily="18" charset="2"/>
              <a:buChar char=""/>
            </a:pPr>
            <a:r>
              <a:rPr lang="en-US" sz="1400" dirty="0">
                <a:solidFill>
                  <a:schemeClr val="bg1"/>
                </a:solidFill>
              </a:rPr>
              <a:t>The "Black Box" Problem justifies explainable interactive dashboard</a:t>
            </a:r>
          </a:p>
          <a:p>
            <a:pPr marL="342900" indent="-342900">
              <a:buFont typeface="Symbol" panose="05050102010706020507" pitchFamily="18" charset="2"/>
              <a:buChar char=""/>
            </a:pPr>
            <a:r>
              <a:rPr lang="en-US" sz="1400" dirty="0">
                <a:solidFill>
                  <a:schemeClr val="bg1"/>
                </a:solidFill>
              </a:rPr>
              <a:t>Lack of Domain Specificity as these tools offers generalize solution. </a:t>
            </a:r>
          </a:p>
          <a:p>
            <a:br>
              <a:rPr lang="en-US" sz="1400" dirty="0"/>
            </a:br>
            <a:endParaRPr lang="en-US" sz="1400" dirty="0">
              <a:solidFill>
                <a:schemeClr val="bg1"/>
              </a:solidFill>
            </a:endParaRPr>
          </a:p>
          <a:p>
            <a:pPr marL="342900" indent="-342900">
              <a:buFont typeface="Symbol" panose="05050102010706020507" pitchFamily="18" charset="2"/>
              <a:buChar char=""/>
            </a:pPr>
            <a:endParaRPr lang="en-US" sz="1400" dirty="0">
              <a:solidFill>
                <a:schemeClr val="bg1"/>
              </a:solidFill>
            </a:endParaRPr>
          </a:p>
          <a:p>
            <a:pPr marL="342900" marR="0" lvl="0" indent="-342900">
              <a:buFont typeface="Symbol" panose="05050102010706020507" pitchFamily="18" charset="2"/>
              <a:buChar char=""/>
            </a:pPr>
            <a:endParaRPr lang="en-US" sz="1200" dirty="0">
              <a:solidFill>
                <a:schemeClr val="bg1"/>
              </a:solidFill>
              <a:effectLst/>
              <a:latin typeface="Times New Roman" panose="02020603050405020304" pitchFamily="18" charset="0"/>
              <a:ea typeface="Times New Roman" panose="02020603050405020304" pitchFamily="18" charset="0"/>
            </a:endParaRPr>
          </a:p>
        </p:txBody>
      </p:sp>
      <p:graphicFrame>
        <p:nvGraphicFramePr>
          <p:cNvPr id="5" name="Table 4">
            <a:extLst>
              <a:ext uri="{FF2B5EF4-FFF2-40B4-BE49-F238E27FC236}">
                <a16:creationId xmlns:a16="http://schemas.microsoft.com/office/drawing/2014/main" id="{EF49FE26-53EB-7D71-3DAE-4B6657C063E1}"/>
              </a:ext>
            </a:extLst>
          </p:cNvPr>
          <p:cNvGraphicFramePr>
            <a:graphicFrameLocks noGrp="1"/>
          </p:cNvGraphicFramePr>
          <p:nvPr>
            <p:extLst>
              <p:ext uri="{D42A27DB-BD31-4B8C-83A1-F6EECF244321}">
                <p14:modId xmlns:p14="http://schemas.microsoft.com/office/powerpoint/2010/main" val="2453366183"/>
              </p:ext>
            </p:extLst>
          </p:nvPr>
        </p:nvGraphicFramePr>
        <p:xfrm>
          <a:off x="5800164" y="1543121"/>
          <a:ext cx="6167718" cy="3297820"/>
        </p:xfrm>
        <a:graphic>
          <a:graphicData uri="http://schemas.openxmlformats.org/drawingml/2006/table">
            <a:tbl>
              <a:tblPr firstRow="1" firstCol="1" bandRow="1">
                <a:tableStyleId>{5C22544A-7EE6-4342-B048-85BDC9FD1C3A}</a:tableStyleId>
              </a:tblPr>
              <a:tblGrid>
                <a:gridCol w="1763553">
                  <a:extLst>
                    <a:ext uri="{9D8B030D-6E8A-4147-A177-3AD203B41FA5}">
                      <a16:colId xmlns:a16="http://schemas.microsoft.com/office/drawing/2014/main" val="502927451"/>
                    </a:ext>
                  </a:extLst>
                </a:gridCol>
                <a:gridCol w="1933306">
                  <a:extLst>
                    <a:ext uri="{9D8B030D-6E8A-4147-A177-3AD203B41FA5}">
                      <a16:colId xmlns:a16="http://schemas.microsoft.com/office/drawing/2014/main" val="694999986"/>
                    </a:ext>
                  </a:extLst>
                </a:gridCol>
                <a:gridCol w="2470859">
                  <a:extLst>
                    <a:ext uri="{9D8B030D-6E8A-4147-A177-3AD203B41FA5}">
                      <a16:colId xmlns:a16="http://schemas.microsoft.com/office/drawing/2014/main" val="3271742253"/>
                    </a:ext>
                  </a:extLst>
                </a:gridCol>
              </a:tblGrid>
              <a:tr h="437062">
                <a:tc>
                  <a:txBody>
                    <a:bodyPr/>
                    <a:lstStyle/>
                    <a:p>
                      <a:pPr marL="0" marR="0" algn="ctr">
                        <a:buNone/>
                      </a:pPr>
                      <a:r>
                        <a:rPr lang="en-US" sz="1100" dirty="0">
                          <a:effectLst/>
                        </a:rPr>
                        <a:t>Tool</a:t>
                      </a:r>
                      <a:endParaRPr lang="en-US" sz="11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buNone/>
                      </a:pPr>
                      <a:r>
                        <a:rPr lang="en-US" sz="1100" dirty="0">
                          <a:effectLst/>
                        </a:rPr>
                        <a:t>Primary Function</a:t>
                      </a:r>
                      <a:endParaRPr lang="en-US" sz="11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buNone/>
                      </a:pPr>
                      <a:r>
                        <a:rPr lang="en-US" sz="1100" dirty="0">
                          <a:effectLst/>
                        </a:rPr>
                        <a:t>Limitations</a:t>
                      </a:r>
                      <a:endParaRPr lang="en-US" sz="11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796396563"/>
                  </a:ext>
                </a:extLst>
              </a:tr>
              <a:tr h="953586">
                <a:tc>
                  <a:txBody>
                    <a:bodyPr/>
                    <a:lstStyle/>
                    <a:p>
                      <a:pPr marL="0" marR="0" indent="152400">
                        <a:buNone/>
                      </a:pPr>
                      <a:r>
                        <a:rPr lang="en-US" sz="1200" dirty="0">
                          <a:effectLst/>
                        </a:rPr>
                        <a:t>Script Runner</a:t>
                      </a:r>
                      <a:endParaRPr lang="en-US" sz="11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152400">
                        <a:buNone/>
                      </a:pPr>
                      <a:r>
                        <a:rPr lang="en-US" sz="1200" dirty="0">
                          <a:effectLst/>
                        </a:rPr>
                        <a:t>Custom validation scripts</a:t>
                      </a:r>
                      <a:endParaRPr lang="en-US" sz="11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152400">
                        <a:buNone/>
                      </a:pPr>
                      <a:r>
                        <a:rPr lang="en-US" sz="1200" dirty="0">
                          <a:effectLst/>
                        </a:rPr>
                        <a:t>Requires coding; no pre-built domain specific rules</a:t>
                      </a:r>
                      <a:endParaRPr lang="en-US" sz="11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706384401"/>
                  </a:ext>
                </a:extLst>
              </a:tr>
              <a:tr h="953586">
                <a:tc>
                  <a:txBody>
                    <a:bodyPr/>
                    <a:lstStyle/>
                    <a:p>
                      <a:pPr marL="0" marR="0" indent="152400">
                        <a:buNone/>
                      </a:pPr>
                      <a:r>
                        <a:rPr lang="en-US" sz="1200" dirty="0">
                          <a:effectLst/>
                        </a:rPr>
                        <a:t>Automation for Jira</a:t>
                      </a:r>
                      <a:endParaRPr lang="en-US" sz="11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152400">
                        <a:buNone/>
                      </a:pPr>
                      <a:r>
                        <a:rPr lang="en-US" sz="1200" dirty="0">
                          <a:effectLst/>
                        </a:rPr>
                        <a:t>Field validation and workflow rules</a:t>
                      </a:r>
                      <a:endParaRPr lang="en-US" sz="11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152400">
                        <a:buNone/>
                      </a:pPr>
                      <a:r>
                        <a:rPr lang="en-US" sz="1200" dirty="0">
                          <a:effectLst/>
                        </a:rPr>
                        <a:t>Only checks empty fields, not content quality</a:t>
                      </a:r>
                      <a:endParaRPr lang="en-US" sz="11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75537123"/>
                  </a:ext>
                </a:extLst>
              </a:tr>
              <a:tr h="953586">
                <a:tc>
                  <a:txBody>
                    <a:bodyPr/>
                    <a:lstStyle/>
                    <a:p>
                      <a:pPr marL="0" marR="0" indent="152400">
                        <a:buNone/>
                      </a:pPr>
                      <a:r>
                        <a:rPr lang="en-US" sz="1200" dirty="0">
                          <a:effectLst/>
                        </a:rPr>
                        <a:t>Jira Quality Checker </a:t>
                      </a:r>
                      <a:endParaRPr lang="en-US" sz="11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152400">
                        <a:buNone/>
                      </a:pPr>
                      <a:r>
                        <a:rPr lang="en-US" sz="1200" dirty="0">
                          <a:effectLst/>
                        </a:rPr>
                        <a:t>Basic syntax validation</a:t>
                      </a:r>
                      <a:endParaRPr lang="en-US" sz="11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indent="152400">
                        <a:buNone/>
                      </a:pPr>
                      <a:r>
                        <a:rPr lang="en-US" sz="1200" dirty="0">
                          <a:effectLst/>
                        </a:rPr>
                        <a:t>No ML, no domain-specific rules</a:t>
                      </a:r>
                      <a:endParaRPr lang="en-US" sz="11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815043491"/>
                  </a:ext>
                </a:extLst>
              </a:tr>
            </a:tbl>
          </a:graphicData>
        </a:graphic>
      </p:graphicFrame>
    </p:spTree>
    <p:extLst>
      <p:ext uri="{BB962C8B-B14F-4D97-AF65-F5344CB8AC3E}">
        <p14:creationId xmlns:p14="http://schemas.microsoft.com/office/powerpoint/2010/main" val="2756367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A49CE-663E-D634-C83D-0C0335B429A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C6E63C0-2A3F-5F47-5DEA-4E16FA4F30B3}"/>
              </a:ext>
            </a:extLst>
          </p:cNvPr>
          <p:cNvSpPr/>
          <p:nvPr/>
        </p:nvSpPr>
        <p:spPr>
          <a:xfrm>
            <a:off x="333375" y="261554"/>
            <a:ext cx="11525250" cy="548580"/>
          </a:xfrm>
          <a:prstGeom prst="rect">
            <a:avLst/>
          </a:prstGeom>
          <a:noFill/>
          <a:ln>
            <a:miter lim="800000"/>
          </a:ln>
        </p:spPr>
        <p:txBody>
          <a:bodyPr wrap="square" lIns="0" tIns="0" rIns="0" bIns="0" rtlCol="0" anchor="t"/>
          <a:lstStyle/>
          <a:p>
            <a:pPr algn="ctr" fontAlgn="ctr">
              <a:lnSpc>
                <a:spcPts val="4320"/>
              </a:lnSpc>
              <a:defRPr/>
            </a:pPr>
            <a:r>
              <a:rPr lang="en-US" sz="3000" kern="0" spc="-225" dirty="0">
                <a:solidFill>
                  <a:srgbClr val="FFFFFF"/>
                </a:solidFill>
                <a:latin typeface="Inter SemiBold" pitchFamily="34" charset="0"/>
                <a:ea typeface="Inter SemiBold" pitchFamily="34" charset="-122"/>
              </a:rPr>
              <a:t>Literature Review (2/2)</a:t>
            </a:r>
          </a:p>
          <a:p>
            <a:pPr marL="0" marR="0" lvl="0" indent="0" algn="ctr" defTabSz="914400" rtl="0" eaLnBrk="1" fontAlgn="ctr" latinLnBrk="0" hangingPunct="1">
              <a:lnSpc>
                <a:spcPts val="4320"/>
              </a:lnSpc>
              <a:spcBef>
                <a:spcPts val="0"/>
              </a:spcBef>
              <a:spcAft>
                <a:spcPts val="0"/>
              </a:spcAft>
              <a:buClrTx/>
              <a:buSzTx/>
              <a:buFontTx/>
              <a:buNone/>
              <a:tabLst/>
              <a:defRPr/>
            </a:pP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a:extLst>
              <a:ext uri="{FF2B5EF4-FFF2-40B4-BE49-F238E27FC236}">
                <a16:creationId xmlns:a16="http://schemas.microsoft.com/office/drawing/2014/main" id="{8841B8A5-0511-958D-3601-CDE5BF9F2C6F}"/>
              </a:ext>
            </a:extLst>
          </p:cNvPr>
          <p:cNvSpPr/>
          <p:nvPr/>
        </p:nvSpPr>
        <p:spPr>
          <a:xfrm>
            <a:off x="224118" y="1632661"/>
            <a:ext cx="5432611" cy="4643447"/>
          </a:xfrm>
          <a:prstGeom prst="rect">
            <a:avLst/>
          </a:prstGeom>
          <a:noFill/>
          <a:ln>
            <a:miter lim="800000"/>
          </a:ln>
        </p:spPr>
        <p:txBody>
          <a:bodyPr wrap="square" lIns="0" tIns="0" rIns="0" bIns="0" rtlCol="0" anchor="t"/>
          <a:lstStyle/>
          <a:p>
            <a:pPr marL="241300" marR="0" lvl="0" indent="-241300" algn="l" defTabSz="914400" rtl="0" eaLnBrk="1" fontAlgn="ctr" latinLnBrk="0" hangingPunct="1">
              <a:lnSpc>
                <a:spcPts val="2246"/>
              </a:lnSpc>
              <a:spcBef>
                <a:spcPts val="0"/>
              </a:spcBef>
              <a:spcAft>
                <a:spcPts val="0"/>
              </a:spcAft>
              <a:buClr>
                <a:srgbClr val="22AAEE"/>
              </a:buClr>
              <a:buSzPct val="120000"/>
              <a:buFontTx/>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C9BBC05A-1661-BF2F-818F-3F597E4CDE1B}"/>
              </a:ext>
            </a:extLst>
          </p:cNvPr>
          <p:cNvSpPr txBox="1"/>
          <p:nvPr/>
        </p:nvSpPr>
        <p:spPr>
          <a:xfrm>
            <a:off x="421341" y="1137569"/>
            <a:ext cx="5235388" cy="830997"/>
          </a:xfrm>
          <a:prstGeom prst="rect">
            <a:avLst/>
          </a:prstGeom>
          <a:noFill/>
        </p:spPr>
        <p:txBody>
          <a:bodyPr wrap="square">
            <a:spAutoFit/>
          </a:bodyPr>
          <a:lstStyle/>
          <a:p>
            <a:pPr marL="285750" lvl="0" indent="-285750">
              <a:buFont typeface="Arial" panose="020B0604020202020204" pitchFamily="34" charset="0"/>
              <a:buChar char="•"/>
            </a:pPr>
            <a:r>
              <a:rPr lang="en-US" b="1" dirty="0">
                <a:solidFill>
                  <a:schemeClr val="bg1"/>
                </a:solidFill>
              </a:rPr>
              <a:t>Academic Research</a:t>
            </a:r>
          </a:p>
          <a:p>
            <a:pPr marL="342900" marR="0" lvl="0" indent="-342900">
              <a:buFont typeface="Symbol" panose="05050102010706020507" pitchFamily="18" charset="2"/>
              <a:buChar char=""/>
            </a:pPr>
            <a:endParaRPr lang="en-US" sz="1800" b="1" dirty="0">
              <a:solidFill>
                <a:schemeClr val="bg1"/>
              </a:solidFill>
              <a:effectLst/>
              <a:latin typeface="Calibri" panose="020F0502020204030204" pitchFamily="34" charset="0"/>
              <a:ea typeface="Times New Roman" panose="02020603050405020304" pitchFamily="18" charset="0"/>
            </a:endParaRPr>
          </a:p>
          <a:p>
            <a:pPr marL="342900" marR="0" lvl="0" indent="-342900">
              <a:buFont typeface="Symbol" panose="05050102010706020507" pitchFamily="18" charset="2"/>
              <a:buChar char=""/>
            </a:pPr>
            <a:endParaRPr lang="en-US" sz="1200" dirty="0">
              <a:solidFill>
                <a:schemeClr val="bg1"/>
              </a:solidFill>
              <a:effectLst/>
              <a:latin typeface="Times New Roman" panose="02020603050405020304" pitchFamily="18" charset="0"/>
              <a:ea typeface="Times New Roman" panose="02020603050405020304" pitchFamily="18" charset="0"/>
            </a:endParaRPr>
          </a:p>
        </p:txBody>
      </p:sp>
      <p:graphicFrame>
        <p:nvGraphicFramePr>
          <p:cNvPr id="9" name="Table 8">
            <a:extLst>
              <a:ext uri="{FF2B5EF4-FFF2-40B4-BE49-F238E27FC236}">
                <a16:creationId xmlns:a16="http://schemas.microsoft.com/office/drawing/2014/main" id="{9AD62276-C13A-B098-BB08-5DFBF08244DC}"/>
              </a:ext>
            </a:extLst>
          </p:cNvPr>
          <p:cNvGraphicFramePr>
            <a:graphicFrameLocks noGrp="1"/>
          </p:cNvGraphicFramePr>
          <p:nvPr>
            <p:extLst>
              <p:ext uri="{D42A27DB-BD31-4B8C-83A1-F6EECF244321}">
                <p14:modId xmlns:p14="http://schemas.microsoft.com/office/powerpoint/2010/main" val="3824113326"/>
              </p:ext>
            </p:extLst>
          </p:nvPr>
        </p:nvGraphicFramePr>
        <p:xfrm>
          <a:off x="224118" y="1738951"/>
          <a:ext cx="11853955" cy="4790440"/>
        </p:xfrm>
        <a:graphic>
          <a:graphicData uri="http://schemas.openxmlformats.org/drawingml/2006/table">
            <a:tbl>
              <a:tblPr firstRow="1" bandRow="1">
                <a:tableStyleId>{5C22544A-7EE6-4342-B048-85BDC9FD1C3A}</a:tableStyleId>
              </a:tblPr>
              <a:tblGrid>
                <a:gridCol w="2606128">
                  <a:extLst>
                    <a:ext uri="{9D8B030D-6E8A-4147-A177-3AD203B41FA5}">
                      <a16:colId xmlns:a16="http://schemas.microsoft.com/office/drawing/2014/main" val="3377030781"/>
                    </a:ext>
                  </a:extLst>
                </a:gridCol>
                <a:gridCol w="3320849">
                  <a:extLst>
                    <a:ext uri="{9D8B030D-6E8A-4147-A177-3AD203B41FA5}">
                      <a16:colId xmlns:a16="http://schemas.microsoft.com/office/drawing/2014/main" val="3915106955"/>
                    </a:ext>
                  </a:extLst>
                </a:gridCol>
                <a:gridCol w="2963489">
                  <a:extLst>
                    <a:ext uri="{9D8B030D-6E8A-4147-A177-3AD203B41FA5}">
                      <a16:colId xmlns:a16="http://schemas.microsoft.com/office/drawing/2014/main" val="2492895776"/>
                    </a:ext>
                  </a:extLst>
                </a:gridCol>
                <a:gridCol w="2963489">
                  <a:extLst>
                    <a:ext uri="{9D8B030D-6E8A-4147-A177-3AD203B41FA5}">
                      <a16:colId xmlns:a16="http://schemas.microsoft.com/office/drawing/2014/main" val="540822025"/>
                    </a:ext>
                  </a:extLst>
                </a:gridCol>
              </a:tblGrid>
              <a:tr h="370840">
                <a:tc>
                  <a:txBody>
                    <a:bodyPr/>
                    <a:lstStyle/>
                    <a:p>
                      <a:r>
                        <a:rPr lang="en-US" dirty="0"/>
                        <a:t>Research Paper Name</a:t>
                      </a:r>
                    </a:p>
                  </a:txBody>
                  <a:tcPr/>
                </a:tc>
                <a:tc>
                  <a:txBody>
                    <a:bodyPr/>
                    <a:lstStyle/>
                    <a:p>
                      <a:r>
                        <a:rPr lang="en-US" dirty="0"/>
                        <a:t>Details</a:t>
                      </a:r>
                    </a:p>
                  </a:txBody>
                  <a:tcPr/>
                </a:tc>
                <a:tc>
                  <a:txBody>
                    <a:bodyPr/>
                    <a:lstStyle/>
                    <a:p>
                      <a:r>
                        <a:rPr lang="en-US" dirty="0"/>
                        <a:t>Relevance</a:t>
                      </a:r>
                    </a:p>
                  </a:txBody>
                  <a:tcPr/>
                </a:tc>
                <a:tc>
                  <a:txBody>
                    <a:bodyPr/>
                    <a:lstStyle/>
                    <a:p>
                      <a:r>
                        <a:rPr lang="en-US" dirty="0"/>
                        <a:t>Gap</a:t>
                      </a:r>
                    </a:p>
                  </a:txBody>
                  <a:tcPr/>
                </a:tc>
                <a:extLst>
                  <a:ext uri="{0D108BD9-81ED-4DB2-BD59-A6C34878D82A}">
                    <a16:rowId xmlns:a16="http://schemas.microsoft.com/office/drawing/2014/main" val="1034648811"/>
                  </a:ext>
                </a:extLst>
              </a:tr>
              <a:tr h="370840">
                <a:tc>
                  <a:txBody>
                    <a:bodyPr/>
                    <a:lstStyle/>
                    <a:p>
                      <a:pPr algn="l" fontAlgn="b">
                        <a:buNone/>
                      </a:pPr>
                      <a:r>
                        <a:rPr lang="en-US" sz="1100" b="0" i="0" u="none" strike="noStrike" kern="1200" dirty="0">
                          <a:solidFill>
                            <a:srgbClr val="000000"/>
                          </a:solidFill>
                          <a:effectLst/>
                          <a:latin typeface="Calibri" panose="020F0502020204030204" pitchFamily="34" charset="0"/>
                          <a:ea typeface="+mn-ea"/>
                          <a:cs typeface="+mn-cs"/>
                        </a:rPr>
                        <a:t>NLP for Requirements Engineering: Mapping Study (Zhao et al., 2021)</a:t>
                      </a:r>
                    </a:p>
                  </a:txBody>
                  <a:tcPr marL="9525" marR="9525" marT="9525" marB="0"/>
                </a:tc>
                <a:tc>
                  <a:txBody>
                    <a:bodyPr/>
                    <a:lstStyle/>
                    <a:p>
                      <a:pPr algn="l"/>
                      <a:r>
                        <a:rPr lang="en-US" sz="1100" b="0" i="0" u="none" strike="noStrike" kern="1200" dirty="0">
                          <a:solidFill>
                            <a:srgbClr val="000000"/>
                          </a:solidFill>
                          <a:effectLst/>
                          <a:latin typeface="Calibri" panose="020F0502020204030204" pitchFamily="34" charset="0"/>
                          <a:ea typeface="+mn-ea"/>
                          <a:cs typeface="+mn-cs"/>
                        </a:rPr>
                        <a:t>Comprehensive review of 404 studies revealing a heavy academic focus on formal requirements in lab settings</a:t>
                      </a:r>
                      <a:br>
                        <a:rPr lang="en-US" dirty="0"/>
                      </a:br>
                      <a:endParaRPr lang="en-US" dirty="0"/>
                    </a:p>
                  </a:txBody>
                  <a:tcPr/>
                </a:tc>
                <a:tc>
                  <a:txBody>
                    <a:bodyPr/>
                    <a:lstStyle/>
                    <a:p>
                      <a:pPr algn="l"/>
                      <a:r>
                        <a:rPr lang="en-US" sz="1100" b="0" i="0" u="none" strike="noStrike" kern="1200" dirty="0">
                          <a:solidFill>
                            <a:srgbClr val="000000"/>
                          </a:solidFill>
                          <a:effectLst/>
                          <a:latin typeface="Calibri" panose="020F0502020204030204" pitchFamily="34" charset="0"/>
                          <a:ea typeface="+mn-ea"/>
                          <a:cs typeface="+mn-cs"/>
                        </a:rPr>
                        <a:t>Validates the core necessity of using automated semantic analysis and text vectorization to detect ambiguities against real-world practical application.</a:t>
                      </a:r>
                    </a:p>
                  </a:txBody>
                  <a:tcPr/>
                </a:tc>
                <a:tc>
                  <a:txBody>
                    <a:bodyPr/>
                    <a:lstStyle/>
                    <a:p>
                      <a:pPr algn="l"/>
                      <a:r>
                        <a:rPr lang="en-US" sz="1100" b="0" i="0" u="none" strike="noStrike" kern="1200" dirty="0">
                          <a:solidFill>
                            <a:srgbClr val="000000"/>
                          </a:solidFill>
                          <a:effectLst/>
                          <a:latin typeface="Calibri" panose="020F0502020204030204" pitchFamily="34" charset="0"/>
                          <a:ea typeface="+mn-ea"/>
                          <a:cs typeface="+mn-cs"/>
                        </a:rPr>
                        <a:t>Severe lack of practical industrial applications; oversaturation of formal specifications instead of messy, agile Jira artifacts</a:t>
                      </a:r>
                    </a:p>
                  </a:txBody>
                  <a:tcPr/>
                </a:tc>
                <a:extLst>
                  <a:ext uri="{0D108BD9-81ED-4DB2-BD59-A6C34878D82A}">
                    <a16:rowId xmlns:a16="http://schemas.microsoft.com/office/drawing/2014/main" val="626455579"/>
                  </a:ext>
                </a:extLst>
              </a:tr>
              <a:tr h="370840">
                <a:tc>
                  <a:txBody>
                    <a:bodyPr/>
                    <a:lstStyle/>
                    <a:p>
                      <a:pPr algn="l" fontAlgn="b">
                        <a:buNone/>
                      </a:pPr>
                      <a:r>
                        <a:rPr lang="en-US" sz="1100" b="0" i="0" u="none" strike="noStrike" kern="1200" dirty="0">
                          <a:solidFill>
                            <a:srgbClr val="000000"/>
                          </a:solidFill>
                          <a:effectLst/>
                          <a:latin typeface="Calibri" panose="020F0502020204030204" pitchFamily="34" charset="0"/>
                          <a:ea typeface="+mn-ea"/>
                          <a:cs typeface="+mn-cs"/>
                        </a:rPr>
                        <a:t>USeR: A Web-based User Story eReviewer (Hallmann et al., 2025)</a:t>
                      </a:r>
                    </a:p>
                  </a:txBody>
                  <a:tcPr marL="9525" marR="9525" marT="9525" marB="0"/>
                </a:tc>
                <a:tc>
                  <a:txBody>
                    <a:bodyPr/>
                    <a:lstStyle/>
                    <a:p>
                      <a:pPr algn="l"/>
                      <a:r>
                        <a:rPr lang="en-US" sz="1100" b="0" i="0" u="none" strike="noStrike" kern="1200" dirty="0">
                          <a:solidFill>
                            <a:srgbClr val="000000"/>
                          </a:solidFill>
                          <a:effectLst/>
                          <a:latin typeface="Calibri" panose="020F0502020204030204" pitchFamily="34" charset="0"/>
                          <a:ea typeface="+mn-ea"/>
                          <a:cs typeface="+mn-cs"/>
                        </a:rPr>
                        <a:t>Web tool evaluating user stories using a mix of syntactic checks (plain code) and machine learning (SVMs, TF-IDF)</a:t>
                      </a:r>
                    </a:p>
                  </a:txBody>
                  <a:tcPr/>
                </a:tc>
                <a:tc>
                  <a:txBody>
                    <a:bodyPr/>
                    <a:lstStyle/>
                    <a:p>
                      <a:pPr algn="l"/>
                      <a:r>
                        <a:rPr lang="en-US" sz="1100" b="0" i="0" u="none" strike="noStrike" kern="1200" dirty="0">
                          <a:solidFill>
                            <a:srgbClr val="000000"/>
                          </a:solidFill>
                          <a:effectLst/>
                          <a:latin typeface="Calibri" panose="020F0502020204030204" pitchFamily="34" charset="0"/>
                          <a:ea typeface="+mn-ea"/>
                          <a:cs typeface="+mn-cs"/>
                        </a:rPr>
                        <a:t>Proves that combining rule-based logic with ML works. Directly informs your 10-Gate Syntactic Rule Engine</a:t>
                      </a:r>
                    </a:p>
                  </a:txBody>
                  <a:tcPr/>
                </a:tc>
                <a:tc>
                  <a:txBody>
                    <a:bodyPr/>
                    <a:lstStyle/>
                    <a:p>
                      <a:pPr algn="l"/>
                      <a:r>
                        <a:rPr lang="en-US" sz="1100" b="0" i="0" u="none" strike="noStrike" kern="1200" dirty="0">
                          <a:solidFill>
                            <a:srgbClr val="000000"/>
                          </a:solidFill>
                          <a:effectLst/>
                          <a:latin typeface="Calibri" panose="020F0502020204030204" pitchFamily="34" charset="0"/>
                          <a:ea typeface="+mn-ea"/>
                          <a:cs typeface="+mn-cs"/>
                        </a:rPr>
                        <a:t>Focuses heavily on structural templates; fails to detect "semantic hollowness" specially in banking project domain</a:t>
                      </a:r>
                      <a:br>
                        <a:rPr lang="en-US" sz="1100" b="0" i="0" u="none" strike="noStrike" kern="1200" dirty="0">
                          <a:solidFill>
                            <a:srgbClr val="000000"/>
                          </a:solidFill>
                          <a:effectLst/>
                          <a:latin typeface="Calibri" panose="020F0502020204030204" pitchFamily="34" charset="0"/>
                          <a:ea typeface="+mn-ea"/>
                          <a:cs typeface="+mn-cs"/>
                        </a:rPr>
                      </a:br>
                      <a:endParaRPr lang="en-US" sz="1100" b="0" i="0" u="none" strike="noStrike" kern="1200" dirty="0">
                        <a:solidFill>
                          <a:srgbClr val="000000"/>
                        </a:solidFill>
                        <a:effectLst/>
                        <a:latin typeface="Calibri" panose="020F0502020204030204" pitchFamily="34" charset="0"/>
                        <a:ea typeface="+mn-ea"/>
                        <a:cs typeface="+mn-cs"/>
                      </a:endParaRPr>
                    </a:p>
                  </a:txBody>
                  <a:tcPr/>
                </a:tc>
                <a:extLst>
                  <a:ext uri="{0D108BD9-81ED-4DB2-BD59-A6C34878D82A}">
                    <a16:rowId xmlns:a16="http://schemas.microsoft.com/office/drawing/2014/main" val="757364420"/>
                  </a:ext>
                </a:extLst>
              </a:tr>
              <a:tr h="370840">
                <a:tc>
                  <a:txBody>
                    <a:bodyPr/>
                    <a:lstStyle/>
                    <a:p>
                      <a:pPr algn="l" fontAlgn="b">
                        <a:buNone/>
                      </a:pPr>
                      <a:r>
                        <a:rPr lang="en-US" sz="1100" b="0" i="0" u="none" strike="noStrike" kern="1200" dirty="0">
                          <a:solidFill>
                            <a:srgbClr val="000000"/>
                          </a:solidFill>
                          <a:effectLst/>
                          <a:latin typeface="Calibri" panose="020F0502020204030204" pitchFamily="34" charset="0"/>
                          <a:ea typeface="+mn-ea"/>
                          <a:cs typeface="+mn-cs"/>
                        </a:rPr>
                        <a:t>QualiTagger: Automating software quality detection (Shivashankar et al., 2025)</a:t>
                      </a:r>
                    </a:p>
                  </a:txBody>
                  <a:tcPr marL="9525" marR="9525" marT="9525" marB="0"/>
                </a:tc>
                <a:tc>
                  <a:txBody>
                    <a:bodyPr/>
                    <a:lstStyle/>
                    <a:p>
                      <a:pPr algn="l"/>
                      <a:r>
                        <a:rPr lang="en-US" sz="1100" b="0" i="0" u="none" strike="noStrike" kern="1200" dirty="0">
                          <a:solidFill>
                            <a:srgbClr val="000000"/>
                          </a:solidFill>
                          <a:effectLst/>
                          <a:latin typeface="Calibri" panose="020F0502020204030204" pitchFamily="34" charset="0"/>
                          <a:ea typeface="+mn-ea"/>
                          <a:cs typeface="+mn-cs"/>
                        </a:rPr>
                        <a:t>Detects quality attributes directly in unstructured issue trackers using Deep Learning (Transformer models)</a:t>
                      </a:r>
                    </a:p>
                  </a:txBody>
                  <a:tcPr/>
                </a:tc>
                <a:tc>
                  <a:txBody>
                    <a:bodyPr/>
                    <a:lstStyle/>
                    <a:p>
                      <a:pPr algn="l"/>
                      <a:r>
                        <a:rPr lang="en-US" sz="1100" b="0" i="0" u="none" strike="noStrike" kern="1200" dirty="0">
                          <a:solidFill>
                            <a:srgbClr val="000000"/>
                          </a:solidFill>
                          <a:effectLst/>
                          <a:latin typeface="Calibri" panose="020F0502020204030204" pitchFamily="34" charset="0"/>
                          <a:ea typeface="+mn-ea"/>
                          <a:cs typeface="+mn-cs"/>
                        </a:rPr>
                        <a:t>Demonstrated that ML models can effectively identify quality issues in issue trackers. </a:t>
                      </a:r>
                    </a:p>
                  </a:txBody>
                  <a:tcPr/>
                </a:tc>
                <a:tc>
                  <a:txBody>
                    <a:bodyPr/>
                    <a:lstStyle/>
                    <a:p>
                      <a:pPr algn="l"/>
                      <a:r>
                        <a:rPr lang="en-US" sz="1100" b="0" i="0" u="none" strike="noStrike" kern="1200" dirty="0">
                          <a:solidFill>
                            <a:srgbClr val="000000"/>
                          </a:solidFill>
                          <a:effectLst/>
                          <a:latin typeface="Calibri" panose="020F0502020204030204" pitchFamily="34" charset="0"/>
                          <a:ea typeface="+mn-ea"/>
                          <a:cs typeface="+mn-cs"/>
                        </a:rPr>
                        <a:t>Operates as an unexplainable "black box", requires massive datasets, and focuses on open-source rather than highly regulated banking domains</a:t>
                      </a:r>
                    </a:p>
                  </a:txBody>
                  <a:tcPr/>
                </a:tc>
                <a:extLst>
                  <a:ext uri="{0D108BD9-81ED-4DB2-BD59-A6C34878D82A}">
                    <a16:rowId xmlns:a16="http://schemas.microsoft.com/office/drawing/2014/main" val="4098112939"/>
                  </a:ext>
                </a:extLst>
              </a:tr>
              <a:tr h="370840">
                <a:tc>
                  <a:txBody>
                    <a:bodyPr/>
                    <a:lstStyle/>
                    <a:p>
                      <a:pPr algn="l" fontAlgn="b">
                        <a:buNone/>
                      </a:pPr>
                      <a:r>
                        <a:rPr lang="en-US" sz="1100" b="0" i="0" u="none" strike="noStrike" kern="1200" dirty="0">
                          <a:solidFill>
                            <a:srgbClr val="000000"/>
                          </a:solidFill>
                          <a:effectLst/>
                          <a:latin typeface="Calibri" panose="020F0502020204030204" pitchFamily="34" charset="0"/>
                          <a:ea typeface="+mn-ea"/>
                          <a:cs typeface="+mn-cs"/>
                        </a:rPr>
                        <a:t>SPRINT: Assistant for Issue Report Management (Adnan et al., 2025)</a:t>
                      </a:r>
                    </a:p>
                  </a:txBody>
                  <a:tcPr marL="9525" marR="9525" marT="9525" marB="0"/>
                </a:tc>
                <a:tc>
                  <a:txBody>
                    <a:bodyPr/>
                    <a:lstStyle/>
                    <a:p>
                      <a:pPr algn="l"/>
                      <a:r>
                        <a:rPr lang="en-US" sz="1100" b="0" i="0" u="none" strike="noStrike" kern="1200" dirty="0">
                          <a:solidFill>
                            <a:srgbClr val="000000"/>
                          </a:solidFill>
                          <a:effectLst/>
                          <a:latin typeface="Calibri" panose="020F0502020204030204" pitchFamily="34" charset="0"/>
                          <a:ea typeface="+mn-ea"/>
                          <a:cs typeface="+mn-cs"/>
                        </a:rPr>
                        <a:t>Deep-learning GitHub assistant that predicts issue severity, flags duplicates, and localizes buggy code</a:t>
                      </a:r>
                    </a:p>
                  </a:txBody>
                  <a:tcPr/>
                </a:tc>
                <a:tc>
                  <a:txBody>
                    <a:bodyPr/>
                    <a:lstStyle/>
                    <a:p>
                      <a:pPr algn="l"/>
                      <a:r>
                        <a:rPr lang="en-US" sz="1100" b="0" i="0" u="none" strike="noStrike" kern="1200" dirty="0">
                          <a:solidFill>
                            <a:srgbClr val="000000"/>
                          </a:solidFill>
                          <a:effectLst/>
                          <a:latin typeface="Calibri" panose="020F0502020204030204" pitchFamily="34" charset="0"/>
                          <a:ea typeface="+mn-ea"/>
                          <a:cs typeface="+mn-cs"/>
                        </a:rPr>
                        <a:t>Demonstrates the practical value and viability of deploying automated issue management tools in agile workflows</a:t>
                      </a:r>
                      <a:br>
                        <a:rPr lang="en-US" sz="1100" b="0" i="0" u="none" strike="noStrike" kern="1200" dirty="0">
                          <a:solidFill>
                            <a:srgbClr val="000000"/>
                          </a:solidFill>
                          <a:effectLst/>
                          <a:latin typeface="Calibri" panose="020F0502020204030204" pitchFamily="34" charset="0"/>
                          <a:ea typeface="+mn-ea"/>
                          <a:cs typeface="+mn-cs"/>
                        </a:rPr>
                      </a:br>
                      <a:endParaRPr lang="en-US" sz="1100" b="0" i="0" u="none" strike="noStrike" kern="1200" dirty="0">
                        <a:solidFill>
                          <a:srgbClr val="000000"/>
                        </a:solidFill>
                        <a:effectLst/>
                        <a:latin typeface="Calibri" panose="020F0502020204030204" pitchFamily="34" charset="0"/>
                        <a:ea typeface="+mn-ea"/>
                        <a:cs typeface="+mn-cs"/>
                      </a:endParaRPr>
                    </a:p>
                  </a:txBody>
                  <a:tcPr/>
                </a:tc>
                <a:tc>
                  <a:txBody>
                    <a:bodyPr/>
                    <a:lstStyle/>
                    <a:p>
                      <a:pPr algn="l"/>
                      <a:r>
                        <a:rPr lang="en-US" sz="1100" b="0" i="0" u="none" strike="noStrike" kern="1200" dirty="0">
                          <a:solidFill>
                            <a:srgbClr val="000000"/>
                          </a:solidFill>
                          <a:effectLst/>
                          <a:latin typeface="Calibri" panose="020F0502020204030204" pitchFamily="34" charset="0"/>
                          <a:ea typeface="+mn-ea"/>
                          <a:cs typeface="+mn-cs"/>
                        </a:rPr>
                        <a:t>Manages triage and structural completeness but remains blind to evaluating the semantic depth and actionability of the requirement itself</a:t>
                      </a:r>
                    </a:p>
                  </a:txBody>
                  <a:tcPr/>
                </a:tc>
                <a:extLst>
                  <a:ext uri="{0D108BD9-81ED-4DB2-BD59-A6C34878D82A}">
                    <a16:rowId xmlns:a16="http://schemas.microsoft.com/office/drawing/2014/main" val="1190503338"/>
                  </a:ext>
                </a:extLst>
              </a:tr>
              <a:tr h="370840">
                <a:tc>
                  <a:txBody>
                    <a:bodyPr/>
                    <a:lstStyle/>
                    <a:p>
                      <a:pPr algn="l" fontAlgn="b">
                        <a:buNone/>
                      </a:pPr>
                      <a:r>
                        <a:rPr lang="en-US" sz="1100" b="0" i="0" u="none" strike="noStrike" kern="1200" dirty="0">
                          <a:solidFill>
                            <a:srgbClr val="000000"/>
                          </a:solidFill>
                          <a:effectLst/>
                          <a:latin typeface="Calibri" panose="020F0502020204030204" pitchFamily="34" charset="0"/>
                          <a:ea typeface="+mn-ea"/>
                          <a:cs typeface="+mn-cs"/>
                        </a:rPr>
                        <a:t>Mining Issue Trackers: Concepts &amp; Techniques (Montgomery et al., 2024)</a:t>
                      </a:r>
                    </a:p>
                  </a:txBody>
                  <a:tcPr marL="9525" marR="9525" marT="9525" marB="0"/>
                </a:tc>
                <a:tc>
                  <a:txBody>
                    <a:bodyPr/>
                    <a:lstStyle/>
                    <a:p>
                      <a:pPr algn="l"/>
                      <a:r>
                        <a:rPr lang="en-US" sz="1100" b="0" i="0" u="none" strike="noStrike" kern="1200" dirty="0">
                          <a:solidFill>
                            <a:srgbClr val="000000"/>
                          </a:solidFill>
                          <a:effectLst/>
                          <a:latin typeface="Calibri" panose="020F0502020204030204" pitchFamily="34" charset="0"/>
                          <a:ea typeface="+mn-ea"/>
                          <a:cs typeface="+mn-cs"/>
                        </a:rPr>
                        <a:t>Outlines how to extract and manage vast, complex ecosystems of data within modern agile platforms</a:t>
                      </a:r>
                    </a:p>
                  </a:txBody>
                  <a:tcPr/>
                </a:tc>
                <a:tc>
                  <a:txBody>
                    <a:bodyPr/>
                    <a:lstStyle/>
                    <a:p>
                      <a:pPr algn="l"/>
                      <a:r>
                        <a:rPr lang="en-US" sz="1100" b="0" i="0" u="none" strike="noStrike" kern="1200" dirty="0">
                          <a:solidFill>
                            <a:srgbClr val="000000"/>
                          </a:solidFill>
                          <a:effectLst/>
                          <a:latin typeface="Calibri" panose="020F0502020204030204" pitchFamily="34" charset="0"/>
                          <a:ea typeface="+mn-ea"/>
                          <a:cs typeface="+mn-cs"/>
                        </a:rPr>
                        <a:t>By excluding the unstructured NLP mining concepts, this paper acts as the academic blueprint for Data Ingestion Module and 10-Gate Syntactic Rule Engine</a:t>
                      </a:r>
                    </a:p>
                  </a:txBody>
                  <a:tcPr/>
                </a:tc>
                <a:tc>
                  <a:txBody>
                    <a:bodyPr/>
                    <a:lstStyle/>
                    <a:p>
                      <a:pPr algn="l"/>
                      <a:r>
                        <a:rPr lang="en-US" sz="1100" b="0" i="0" u="none" strike="noStrike" kern="1200" dirty="0">
                          <a:solidFill>
                            <a:srgbClr val="000000"/>
                          </a:solidFill>
                          <a:effectLst/>
                          <a:latin typeface="Calibri" panose="020F0502020204030204" pitchFamily="34" charset="0"/>
                          <a:ea typeface="+mn-ea"/>
                          <a:cs typeface="+mn-cs"/>
                        </a:rPr>
                        <a:t>The "Hybrid Integration" Gap: There is no proposition of a unified, dual-layered system. Dissertation solves this by taking the structural metadata compliance outlined in this paper and mathematically blending it with semantic quality predictions to output a single, operational Hybrid Score</a:t>
                      </a:r>
                    </a:p>
                  </a:txBody>
                  <a:tcPr/>
                </a:tc>
                <a:extLst>
                  <a:ext uri="{0D108BD9-81ED-4DB2-BD59-A6C34878D82A}">
                    <a16:rowId xmlns:a16="http://schemas.microsoft.com/office/drawing/2014/main" val="3293905028"/>
                  </a:ext>
                </a:extLst>
              </a:tr>
            </a:tbl>
          </a:graphicData>
        </a:graphic>
      </p:graphicFrame>
    </p:spTree>
    <p:extLst>
      <p:ext uri="{BB962C8B-B14F-4D97-AF65-F5344CB8AC3E}">
        <p14:creationId xmlns:p14="http://schemas.microsoft.com/office/powerpoint/2010/main" val="646459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DE090-919D-E63E-8650-C6FD0F2761C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B8D020-2CFE-4ADA-B56D-5F311C1EB53A}"/>
              </a:ext>
            </a:extLst>
          </p:cNvPr>
          <p:cNvSpPr/>
          <p:nvPr/>
        </p:nvSpPr>
        <p:spPr>
          <a:xfrm>
            <a:off x="333375" y="118902"/>
            <a:ext cx="11525250" cy="548580"/>
          </a:xfrm>
          <a:prstGeom prst="rect">
            <a:avLst/>
          </a:prstGeom>
          <a:noFill/>
          <a:ln>
            <a:miter lim="800000"/>
          </a:ln>
        </p:spPr>
        <p:txBody>
          <a:bodyPr wrap="square" lIns="0" tIns="0" rIns="0" bIns="0" rtlCol="0" anchor="t"/>
          <a:lstStyle/>
          <a:p>
            <a:pPr marL="0" marR="0" lvl="0" indent="0" algn="ctr" defTabSz="914400" rtl="0" eaLnBrk="1" fontAlgn="ctr" latinLnBrk="0" hangingPunct="1">
              <a:lnSpc>
                <a:spcPts val="4320"/>
              </a:lnSpc>
              <a:spcBef>
                <a:spcPts val="0"/>
              </a:spcBef>
              <a:spcAft>
                <a:spcPts val="0"/>
              </a:spcAft>
              <a:buClrTx/>
              <a:buSzTx/>
              <a:buFontTx/>
              <a:buNone/>
              <a:tabLst/>
              <a:defRPr/>
            </a:pPr>
            <a:r>
              <a:rPr kumimoji="0" lang="en-US" sz="3000" b="0" i="0" u="none" strike="noStrike" kern="0" cap="none" spc="-225" normalizeH="0" baseline="0" noProof="0" dirty="0">
                <a:ln>
                  <a:noFill/>
                </a:ln>
                <a:solidFill>
                  <a:srgbClr val="FFFFFF"/>
                </a:solidFill>
                <a:effectLst/>
                <a:uLnTx/>
                <a:uFillTx/>
                <a:latin typeface="Inter SemiBold" pitchFamily="34" charset="0"/>
                <a:ea typeface="Inter SemiBold" pitchFamily="34" charset="-122"/>
                <a:cs typeface="Inter SemiBold" pitchFamily="34" charset="-120"/>
              </a:rPr>
              <a:t>Three-Layer Architecture Diagram</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CFBB2EDC-7E80-F427-3886-949F42611A91}"/>
              </a:ext>
            </a:extLst>
          </p:cNvPr>
          <p:cNvPicPr>
            <a:picLocks noChangeAspect="1"/>
          </p:cNvPicPr>
          <p:nvPr/>
        </p:nvPicPr>
        <p:blipFill>
          <a:blip r:embed="rId3"/>
          <a:stretch>
            <a:fillRect/>
          </a:stretch>
        </p:blipFill>
        <p:spPr>
          <a:xfrm>
            <a:off x="255773" y="926752"/>
            <a:ext cx="3814203" cy="5812346"/>
          </a:xfrm>
          <a:prstGeom prst="rect">
            <a:avLst/>
          </a:prstGeom>
        </p:spPr>
      </p:pic>
      <p:sp>
        <p:nvSpPr>
          <p:cNvPr id="4" name="TextBox 3">
            <a:extLst>
              <a:ext uri="{FF2B5EF4-FFF2-40B4-BE49-F238E27FC236}">
                <a16:creationId xmlns:a16="http://schemas.microsoft.com/office/drawing/2014/main" id="{0F1F6605-577E-4165-2721-663CEE422328}"/>
              </a:ext>
            </a:extLst>
          </p:cNvPr>
          <p:cNvSpPr txBox="1"/>
          <p:nvPr/>
        </p:nvSpPr>
        <p:spPr>
          <a:xfrm>
            <a:off x="4398031" y="965998"/>
            <a:ext cx="7447990" cy="6124754"/>
          </a:xfrm>
          <a:prstGeom prst="rect">
            <a:avLst/>
          </a:prstGeom>
          <a:noFill/>
        </p:spPr>
        <p:txBody>
          <a:bodyPr wrap="square" rtlCol="0">
            <a:spAutoFit/>
          </a:bodyPr>
          <a:lstStyle/>
          <a:p>
            <a:pPr marL="285750" indent="-285750">
              <a:buFont typeface="Arial" panose="020B0604020202020204" pitchFamily="34" charset="0"/>
              <a:buChar char="•"/>
            </a:pPr>
            <a:r>
              <a:rPr lang="en-US" sz="1400" b="1" dirty="0">
                <a:solidFill>
                  <a:schemeClr val="bg1"/>
                </a:solidFill>
              </a:rPr>
              <a:t>Layer-1: Input layer</a:t>
            </a:r>
            <a:endParaRPr lang="en-US" sz="1400" dirty="0">
              <a:solidFill>
                <a:schemeClr val="bg1"/>
              </a:solidFill>
            </a:endParaRPr>
          </a:p>
          <a:p>
            <a:pPr lvl="1"/>
            <a:r>
              <a:rPr lang="en-US" sz="1400" dirty="0">
                <a:solidFill>
                  <a:schemeClr val="bg1"/>
                </a:solidFill>
              </a:rPr>
              <a:t>Three ingestion mechanisms support the workflow: </a:t>
            </a:r>
            <a:r>
              <a:rPr lang="en-US" sz="1400" b="1" dirty="0">
                <a:solidFill>
                  <a:schemeClr val="bg1"/>
                </a:solidFill>
              </a:rPr>
              <a:t>Issue URL</a:t>
            </a:r>
            <a:r>
              <a:rPr lang="en-US" sz="1400" dirty="0">
                <a:solidFill>
                  <a:schemeClr val="bg1"/>
                </a:solidFill>
              </a:rPr>
              <a:t> (direct API retrieval), </a:t>
            </a:r>
            <a:r>
              <a:rPr lang="en-US" sz="1400" b="1" dirty="0">
                <a:solidFill>
                  <a:schemeClr val="bg1"/>
                </a:solidFill>
              </a:rPr>
              <a:t>JQL Query</a:t>
            </a:r>
            <a:r>
              <a:rPr lang="en-US" sz="1400" dirty="0">
                <a:solidFill>
                  <a:schemeClr val="bg1"/>
                </a:solidFill>
              </a:rPr>
              <a:t> (batch extraction), and </a:t>
            </a:r>
            <a:r>
              <a:rPr lang="en-US" sz="1400" b="1" dirty="0">
                <a:solidFill>
                  <a:schemeClr val="bg1"/>
                </a:solidFill>
              </a:rPr>
              <a:t>Jira CSV Export</a:t>
            </a:r>
            <a:r>
              <a:rPr lang="en-US" sz="1400" dirty="0">
                <a:solidFill>
                  <a:schemeClr val="bg1"/>
                </a:solidFill>
              </a:rPr>
              <a:t> (file upload). A </a:t>
            </a:r>
            <a:r>
              <a:rPr lang="en-US" sz="1400" b="1" dirty="0">
                <a:solidFill>
                  <a:schemeClr val="bg1"/>
                </a:solidFill>
              </a:rPr>
              <a:t>Data Loader</a:t>
            </a:r>
            <a:r>
              <a:rPr lang="en-US" sz="1400" dirty="0">
                <a:solidFill>
                  <a:schemeClr val="bg1"/>
                </a:solidFill>
              </a:rPr>
              <a:t> normalizes all inputs into a standardized format.</a:t>
            </a:r>
          </a:p>
          <a:p>
            <a:pPr lvl="1"/>
            <a:r>
              <a:rPr lang="en-US" sz="1400" dirty="0">
                <a:solidFill>
                  <a:schemeClr val="bg1"/>
                </a:solidFill>
              </a:rPr>
              <a:t>Note – for dissertation, only Jira Export in CSV/Excel format is referred. </a:t>
            </a:r>
          </a:p>
          <a:p>
            <a:r>
              <a:rPr lang="en-US" sz="1400" dirty="0">
                <a:solidFill>
                  <a:schemeClr val="bg1"/>
                </a:solidFill>
              </a:rPr>
              <a:t> </a:t>
            </a:r>
          </a:p>
          <a:p>
            <a:pPr marL="285750" indent="-285750">
              <a:buFont typeface="Arial" panose="020B0604020202020204" pitchFamily="34" charset="0"/>
              <a:buChar char="•"/>
            </a:pPr>
            <a:r>
              <a:rPr lang="en-US" sz="1400" b="1" dirty="0">
                <a:solidFill>
                  <a:schemeClr val="bg1"/>
                </a:solidFill>
              </a:rPr>
              <a:t>Layer-2: Processing layer</a:t>
            </a:r>
            <a:endParaRPr lang="en-US" sz="1400" dirty="0">
              <a:solidFill>
                <a:schemeClr val="bg1"/>
              </a:solidFill>
            </a:endParaRPr>
          </a:p>
          <a:p>
            <a:pPr lvl="1"/>
            <a:r>
              <a:rPr lang="en-US" sz="1400" dirty="0">
                <a:solidFill>
                  <a:schemeClr val="bg1"/>
                </a:solidFill>
              </a:rPr>
              <a:t>All core components processes the input data and assign final quality score -</a:t>
            </a:r>
          </a:p>
          <a:p>
            <a:pPr marL="742950" lvl="1" indent="-285750">
              <a:buFont typeface="Arial" panose="020B0604020202020204" pitchFamily="34" charset="0"/>
              <a:buChar char="•"/>
            </a:pPr>
            <a:r>
              <a:rPr lang="en-US" sz="1400" dirty="0">
                <a:solidFill>
                  <a:schemeClr val="bg1"/>
                </a:solidFill>
              </a:rPr>
              <a:t>Data preprocessing &amp; Feature engineering, </a:t>
            </a:r>
          </a:p>
          <a:p>
            <a:pPr marL="742950" lvl="1" indent="-285750">
              <a:buFont typeface="Arial" panose="020B0604020202020204" pitchFamily="34" charset="0"/>
              <a:buChar char="•"/>
            </a:pPr>
            <a:r>
              <a:rPr lang="en-US" sz="1400" dirty="0">
                <a:solidFill>
                  <a:schemeClr val="bg1"/>
                </a:solidFill>
              </a:rPr>
              <a:t>Rule based scoring module, </a:t>
            </a:r>
          </a:p>
          <a:p>
            <a:pPr marL="742950" lvl="1" indent="-285750">
              <a:buFont typeface="Arial" panose="020B0604020202020204" pitchFamily="34" charset="0"/>
              <a:buChar char="•"/>
            </a:pPr>
            <a:r>
              <a:rPr lang="en-US" sz="1400" dirty="0">
                <a:solidFill>
                  <a:schemeClr val="bg1"/>
                </a:solidFill>
              </a:rPr>
              <a:t>Machine learning scoring module and </a:t>
            </a:r>
          </a:p>
          <a:p>
            <a:pPr marL="742950" lvl="1" indent="-285750">
              <a:buFont typeface="Arial" panose="020B0604020202020204" pitchFamily="34" charset="0"/>
              <a:buChar char="•"/>
            </a:pPr>
            <a:r>
              <a:rPr lang="en-US" sz="1400" dirty="0">
                <a:solidFill>
                  <a:schemeClr val="bg1"/>
                </a:solidFill>
              </a:rPr>
              <a:t>Hybrid scoring module </a:t>
            </a:r>
          </a:p>
          <a:p>
            <a:pPr lvl="1"/>
            <a:r>
              <a:rPr lang="en-US" sz="1400" dirty="0">
                <a:solidFill>
                  <a:schemeClr val="bg1"/>
                </a:solidFill>
              </a:rPr>
              <a:t>	</a:t>
            </a:r>
          </a:p>
          <a:p>
            <a:pPr marL="285750" indent="-285750">
              <a:buFont typeface="Arial" panose="020B0604020202020204" pitchFamily="34" charset="0"/>
              <a:buChar char="•"/>
            </a:pPr>
            <a:r>
              <a:rPr lang="en-US" sz="1400" b="1" dirty="0">
                <a:solidFill>
                  <a:schemeClr val="bg1"/>
                </a:solidFill>
              </a:rPr>
              <a:t>Layer-3: Output layer</a:t>
            </a:r>
            <a:endParaRPr lang="en-US" sz="1400" dirty="0">
              <a:solidFill>
                <a:schemeClr val="bg1"/>
              </a:solidFill>
            </a:endParaRPr>
          </a:p>
          <a:p>
            <a:pPr marL="742950" lvl="1" indent="-285750">
              <a:buFont typeface="Arial" panose="020B0604020202020204" pitchFamily="34" charset="0"/>
              <a:buChar char="•"/>
            </a:pPr>
            <a:r>
              <a:rPr lang="en-US" sz="1400" dirty="0">
                <a:solidFill>
                  <a:schemeClr val="bg1"/>
                </a:solidFill>
              </a:rPr>
              <a:t>Chatbot Interface – Conversational query engine supporting natural language questions about quality metrics (average scores, blocked tickets, anomalies, ticket lookup).</a:t>
            </a:r>
          </a:p>
          <a:p>
            <a:pPr marL="742950" lvl="1" indent="-285750">
              <a:buFont typeface="Arial" panose="020B0604020202020204" pitchFamily="34" charset="0"/>
              <a:buChar char="•"/>
            </a:pPr>
            <a:r>
              <a:rPr lang="en-US" sz="1400" dirty="0">
                <a:solidFill>
                  <a:schemeClr val="bg1"/>
                </a:solidFill>
              </a:rPr>
              <a:t>Hypothesis Validation – Empirical module for comparative model evaluation against labeled data.</a:t>
            </a:r>
          </a:p>
          <a:p>
            <a:pPr marL="742950" lvl="1" indent="-285750">
              <a:buFont typeface="Arial" panose="020B0604020202020204" pitchFamily="34" charset="0"/>
              <a:buChar char="•"/>
            </a:pPr>
            <a:r>
              <a:rPr lang="en-US" sz="1400" dirty="0">
                <a:solidFill>
                  <a:schemeClr val="bg1"/>
                </a:solidFill>
              </a:rPr>
              <a:t>Health-check Dashboard</a:t>
            </a:r>
            <a:r>
              <a:rPr lang="en-US" sz="1400" b="1" dirty="0">
                <a:solidFill>
                  <a:schemeClr val="bg1"/>
                </a:solidFill>
              </a:rPr>
              <a:t> – </a:t>
            </a:r>
            <a:r>
              <a:rPr lang="en-US" sz="1400" dirty="0">
                <a:solidFill>
                  <a:schemeClr val="bg1"/>
                </a:solidFill>
              </a:rPr>
              <a:t>Insightful summary dashboard of data received from user</a:t>
            </a:r>
          </a:p>
          <a:p>
            <a:r>
              <a:rPr lang="en-US" sz="1400" dirty="0">
                <a:solidFill>
                  <a:schemeClr val="bg1"/>
                </a:solidFill>
              </a:rPr>
              <a:t> </a:t>
            </a:r>
          </a:p>
          <a:p>
            <a:pPr marL="285750" indent="-285750">
              <a:buFont typeface="Arial" panose="020B0604020202020204" pitchFamily="34" charset="0"/>
              <a:buChar char="•"/>
            </a:pPr>
            <a:r>
              <a:rPr lang="en-US" sz="1400" b="1" dirty="0">
                <a:solidFill>
                  <a:schemeClr val="bg1"/>
                </a:solidFill>
              </a:rPr>
              <a:t>User/Stakeholder</a:t>
            </a:r>
            <a:endParaRPr lang="en-US" sz="1400" dirty="0">
              <a:solidFill>
                <a:schemeClr val="bg1"/>
              </a:solidFill>
            </a:endParaRPr>
          </a:p>
          <a:p>
            <a:r>
              <a:rPr lang="en-US" sz="1400" dirty="0">
                <a:solidFill>
                  <a:schemeClr val="bg1"/>
                </a:solidFill>
              </a:rPr>
              <a:t>	Key users of this application – </a:t>
            </a:r>
          </a:p>
          <a:p>
            <a:r>
              <a:rPr lang="en-US" sz="1400" dirty="0">
                <a:solidFill>
                  <a:schemeClr val="bg1"/>
                </a:solidFill>
              </a:rPr>
              <a:t>	Product Owner - Manages &amp; prioritizes the backlog.</a:t>
            </a:r>
          </a:p>
          <a:p>
            <a:r>
              <a:rPr lang="en-US" sz="1400" dirty="0">
                <a:solidFill>
                  <a:schemeClr val="bg1"/>
                </a:solidFill>
              </a:rPr>
              <a:t>	Scrum Master – Sprint readiness validation and conduct sprint ceremonies. </a:t>
            </a:r>
          </a:p>
          <a:p>
            <a:r>
              <a:rPr lang="en-US" sz="1400" dirty="0">
                <a:solidFill>
                  <a:schemeClr val="bg1"/>
                </a:solidFill>
              </a:rPr>
              <a:t>	Project Manager – Portfolio and project level metrics monitoring</a:t>
            </a:r>
          </a:p>
          <a:p>
            <a:r>
              <a:rPr lang="en-US" sz="1400" dirty="0">
                <a:solidFill>
                  <a:schemeClr val="bg1"/>
                </a:solidFill>
              </a:rPr>
              <a:t>	RTE- Release Train Engineer – Cross-Team management</a:t>
            </a:r>
          </a:p>
          <a:p>
            <a:r>
              <a:rPr lang="en-US" sz="1400" dirty="0">
                <a:solidFill>
                  <a:schemeClr val="bg1"/>
                </a:solidFill>
              </a:rPr>
              <a:t>	Scrum Team – Developers who execute the work. </a:t>
            </a:r>
          </a:p>
        </p:txBody>
      </p:sp>
    </p:spTree>
    <p:extLst>
      <p:ext uri="{BB962C8B-B14F-4D97-AF65-F5344CB8AC3E}">
        <p14:creationId xmlns:p14="http://schemas.microsoft.com/office/powerpoint/2010/main" val="367634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33375" y="280094"/>
            <a:ext cx="11525250" cy="548580"/>
          </a:xfrm>
          <a:prstGeom prst="rect">
            <a:avLst/>
          </a:prstGeom>
          <a:noFill/>
          <a:ln>
            <a:miter lim="800000"/>
          </a:ln>
        </p:spPr>
        <p:txBody>
          <a:bodyPr wrap="square" lIns="0" tIns="0" rIns="0" bIns="0" rtlCol="0" anchor="t"/>
          <a:lstStyle/>
          <a:p>
            <a:pPr algn="ctr" fontAlgn="ctr">
              <a:lnSpc>
                <a:spcPts val="4320"/>
              </a:lnSpc>
            </a:pPr>
            <a:r>
              <a:rPr lang="en-US" sz="3000" kern="0" spc="-225" dirty="0">
                <a:solidFill>
                  <a:schemeClr val="bg1"/>
                </a:solidFill>
                <a:latin typeface="Inter SemiBold" pitchFamily="34" charset="0"/>
                <a:ea typeface="Inter SemiBold" pitchFamily="34" charset="-122"/>
                <a:cs typeface="Inter SemiBold" pitchFamily="34" charset="-120"/>
              </a:rPr>
              <a:t>Data Preparation and Ingestion</a:t>
            </a:r>
            <a:endParaRPr lang="en-US" sz="3000" dirty="0">
              <a:solidFill>
                <a:schemeClr val="bg1"/>
              </a:solidFill>
            </a:endParaRPr>
          </a:p>
        </p:txBody>
      </p:sp>
      <p:sp>
        <p:nvSpPr>
          <p:cNvPr id="3" name="Text 1"/>
          <p:cNvSpPr/>
          <p:nvPr/>
        </p:nvSpPr>
        <p:spPr>
          <a:xfrm>
            <a:off x="333375" y="1038969"/>
            <a:ext cx="11525250" cy="286643"/>
          </a:xfrm>
          <a:prstGeom prst="rect">
            <a:avLst/>
          </a:prstGeom>
          <a:noFill/>
          <a:ln>
            <a:miter lim="800000"/>
          </a:ln>
        </p:spPr>
        <p:txBody>
          <a:bodyPr wrap="square" lIns="0" tIns="0" rIns="0" bIns="0" rtlCol="0" anchor="t"/>
          <a:lstStyle/>
          <a:p>
            <a:pPr algn="ctr" fontAlgn="ctr">
              <a:lnSpc>
                <a:spcPts val="2257"/>
              </a:lnSpc>
              <a:spcBef>
                <a:spcPts val="867"/>
              </a:spcBef>
            </a:pPr>
            <a:r>
              <a:rPr lang="en-US" sz="1650" kern="0" spc="-33" dirty="0">
                <a:solidFill>
                  <a:schemeClr val="bg1"/>
                </a:solidFill>
                <a:latin typeface="Inter Medium" pitchFamily="34" charset="0"/>
                <a:ea typeface="Inter Medium" pitchFamily="34" charset="-122"/>
                <a:cs typeface="Inter Medium" pitchFamily="34" charset="-120"/>
              </a:rPr>
              <a:t>Domain-Specific AML Jira Ticket Project Issues Extract</a:t>
            </a:r>
            <a:endParaRPr lang="en-US" dirty="0">
              <a:solidFill>
                <a:schemeClr val="bg1"/>
              </a:solidFill>
            </a:endParaRPr>
          </a:p>
        </p:txBody>
      </p:sp>
      <p:sp>
        <p:nvSpPr>
          <p:cNvPr id="4" name="Shape 2"/>
          <p:cNvSpPr/>
          <p:nvPr/>
        </p:nvSpPr>
        <p:spPr>
          <a:xfrm>
            <a:off x="476250" y="1743075"/>
            <a:ext cx="5548313" cy="1885950"/>
          </a:xfrm>
          <a:prstGeom prst="rect">
            <a:avLst/>
          </a:prstGeom>
          <a:solidFill>
            <a:srgbClr val="222222"/>
          </a:solidFill>
          <a:ln>
            <a:miter lim="800000"/>
          </a:ln>
        </p:spPr>
        <p:txBody>
          <a:bodyPr/>
          <a:lstStyle/>
          <a:p>
            <a:endParaRPr lang="en-US" dirty="0"/>
          </a:p>
        </p:txBody>
      </p:sp>
      <p:sp>
        <p:nvSpPr>
          <p:cNvPr id="5" name="Text 3"/>
          <p:cNvSpPr/>
          <p:nvPr/>
        </p:nvSpPr>
        <p:spPr>
          <a:xfrm>
            <a:off x="762000" y="2347913"/>
            <a:ext cx="902277" cy="535781"/>
          </a:xfrm>
          <a:prstGeom prst="rect">
            <a:avLst/>
          </a:prstGeom>
          <a:noFill/>
          <a:ln>
            <a:miter lim="800000"/>
          </a:ln>
        </p:spPr>
        <p:txBody>
          <a:bodyPr wrap="square" lIns="0" tIns="0" rIns="0" bIns="0" rtlCol="0" anchor="t"/>
          <a:lstStyle/>
          <a:p>
            <a:pPr algn="l" fontAlgn="ctr">
              <a:lnSpc>
                <a:spcPts val="4219"/>
              </a:lnSpc>
            </a:pPr>
            <a:r>
              <a:rPr lang="en-US" sz="4688" kern="0" spc="-234" dirty="0">
                <a:solidFill>
                  <a:srgbClr val="FFFFFF"/>
                </a:solidFill>
                <a:latin typeface="Inter SemiBold" pitchFamily="34" charset="0"/>
                <a:ea typeface="Inter SemiBold" pitchFamily="34" charset="-122"/>
                <a:cs typeface="Inter SemiBold" pitchFamily="34" charset="-120"/>
              </a:rPr>
              <a:t>525</a:t>
            </a:r>
            <a:endParaRPr lang="en-US" dirty="0"/>
          </a:p>
        </p:txBody>
      </p:sp>
      <p:sp>
        <p:nvSpPr>
          <p:cNvPr id="6" name="Text 4"/>
          <p:cNvSpPr/>
          <p:nvPr/>
        </p:nvSpPr>
        <p:spPr>
          <a:xfrm>
            <a:off x="666750" y="3256508"/>
            <a:ext cx="4980734" cy="262383"/>
          </a:xfrm>
          <a:prstGeom prst="rect">
            <a:avLst/>
          </a:prstGeom>
          <a:noFill/>
          <a:ln>
            <a:miter lim="800000"/>
          </a:ln>
        </p:spPr>
        <p:txBody>
          <a:bodyPr wrap="square" lIns="0" tIns="0" rIns="0" bIns="0" rtlCol="0" anchor="t"/>
          <a:lstStyle/>
          <a:p>
            <a:pPr algn="l" fontAlgn="ctr">
              <a:lnSpc>
                <a:spcPts val="1728"/>
              </a:lnSpc>
            </a:pPr>
            <a:r>
              <a:rPr lang="en-US" sz="1500" kern="0" spc="-90" dirty="0">
                <a:solidFill>
                  <a:srgbClr val="FFFFFF">
                    <a:alpha val="80000"/>
                  </a:srgbClr>
                </a:solidFill>
                <a:latin typeface="Inter SemiBold" pitchFamily="34" charset="0"/>
                <a:ea typeface="Inter SemiBold" pitchFamily="34" charset="-122"/>
                <a:cs typeface="Inter SemiBold" pitchFamily="34" charset="-120"/>
              </a:rPr>
              <a:t>Tickets created Manually and got it reviewed by supervisor</a:t>
            </a:r>
            <a:endParaRPr lang="en-US" dirty="0"/>
          </a:p>
        </p:txBody>
      </p:sp>
      <p:sp>
        <p:nvSpPr>
          <p:cNvPr id="7" name="Text 5"/>
          <p:cNvSpPr/>
          <p:nvPr/>
        </p:nvSpPr>
        <p:spPr>
          <a:xfrm>
            <a:off x="968581" y="1902571"/>
            <a:ext cx="525556" cy="213569"/>
          </a:xfrm>
          <a:prstGeom prst="rect">
            <a:avLst/>
          </a:prstGeom>
          <a:noFill/>
          <a:ln>
            <a:miter lim="800000"/>
          </a:ln>
        </p:spPr>
        <p:txBody>
          <a:bodyPr wrap="square" lIns="0" tIns="0" rIns="0" bIns="0" rtlCol="0" anchor="t"/>
          <a:lstStyle/>
          <a:p>
            <a:pPr algn="l" fontAlgn="ctr">
              <a:lnSpc>
                <a:spcPts val="1728"/>
              </a:lnSpc>
            </a:pPr>
            <a:r>
              <a:rPr lang="en-US" sz="1500" kern="0" spc="-90" dirty="0">
                <a:solidFill>
                  <a:srgbClr val="FFFFFF"/>
                </a:solidFill>
                <a:latin typeface="Inter SemiBold" pitchFamily="34" charset="0"/>
                <a:ea typeface="Inter SemiBold" pitchFamily="34" charset="-122"/>
                <a:cs typeface="Inter SemiBold" pitchFamily="34" charset="-120"/>
              </a:rPr>
              <a:t>Total</a:t>
            </a:r>
            <a:endParaRPr lang="en-US" dirty="0"/>
          </a:p>
        </p:txBody>
      </p:sp>
      <p:sp>
        <p:nvSpPr>
          <p:cNvPr id="8" name="Shape 6"/>
          <p:cNvSpPr/>
          <p:nvPr/>
        </p:nvSpPr>
        <p:spPr>
          <a:xfrm>
            <a:off x="476250" y="3771900"/>
            <a:ext cx="5548313" cy="1885950"/>
          </a:xfrm>
          <a:prstGeom prst="rect">
            <a:avLst/>
          </a:prstGeom>
          <a:solidFill>
            <a:srgbClr val="222222"/>
          </a:solidFill>
          <a:ln>
            <a:miter lim="800000"/>
          </a:ln>
        </p:spPr>
        <p:txBody>
          <a:bodyPr/>
          <a:lstStyle/>
          <a:p>
            <a:endParaRPr lang="en-US" dirty="0"/>
          </a:p>
        </p:txBody>
      </p:sp>
      <p:pic>
        <p:nvPicPr>
          <p:cNvPr id="9" name="Image 0" descr="17034a62.png"/>
          <p:cNvPicPr>
            <a:picLocks noChangeAspect="1"/>
          </p:cNvPicPr>
          <p:nvPr/>
        </p:nvPicPr>
        <p:blipFill>
          <a:blip r:embed="rId3"/>
          <a:stretch>
            <a:fillRect/>
          </a:stretch>
        </p:blipFill>
        <p:spPr>
          <a:xfrm>
            <a:off x="310210" y="4105275"/>
            <a:ext cx="5738813" cy="1552575"/>
          </a:xfrm>
          <a:prstGeom prst="rect">
            <a:avLst/>
          </a:prstGeom>
        </p:spPr>
      </p:pic>
      <p:sp>
        <p:nvSpPr>
          <p:cNvPr id="10" name="Text 7"/>
          <p:cNvSpPr/>
          <p:nvPr/>
        </p:nvSpPr>
        <p:spPr>
          <a:xfrm>
            <a:off x="666750" y="3923258"/>
            <a:ext cx="5453063" cy="219373"/>
          </a:xfrm>
          <a:prstGeom prst="rect">
            <a:avLst/>
          </a:prstGeom>
          <a:noFill/>
          <a:ln>
            <a:miter lim="800000"/>
          </a:ln>
        </p:spPr>
        <p:txBody>
          <a:bodyPr wrap="square" lIns="0" tIns="0" rIns="0" bIns="0" rtlCol="0" anchor="t"/>
          <a:lstStyle/>
          <a:p>
            <a:pPr algn="l" fontAlgn="ctr">
              <a:lnSpc>
                <a:spcPts val="1728"/>
              </a:lnSpc>
            </a:pPr>
            <a:r>
              <a:rPr lang="en-US" sz="1500" kern="0" spc="-90" dirty="0">
                <a:solidFill>
                  <a:srgbClr val="FFFFFF"/>
                </a:solidFill>
                <a:latin typeface="Inter SemiBold" pitchFamily="34" charset="0"/>
                <a:ea typeface="Inter SemiBold" pitchFamily="34" charset="-122"/>
                <a:cs typeface="Inter SemiBold" pitchFamily="34" charset="-120"/>
              </a:rPr>
              <a:t>Dataset Classification Distribution</a:t>
            </a:r>
            <a:endParaRPr lang="en-US" dirty="0"/>
          </a:p>
        </p:txBody>
      </p:sp>
      <p:sp>
        <p:nvSpPr>
          <p:cNvPr id="11" name="Shape 8"/>
          <p:cNvSpPr/>
          <p:nvPr/>
        </p:nvSpPr>
        <p:spPr>
          <a:xfrm>
            <a:off x="6167438" y="1743075"/>
            <a:ext cx="5548313" cy="1885950"/>
          </a:xfrm>
          <a:prstGeom prst="rect">
            <a:avLst/>
          </a:prstGeom>
          <a:solidFill>
            <a:srgbClr val="222222"/>
          </a:solidFill>
          <a:ln>
            <a:miter lim="800000"/>
          </a:ln>
        </p:spPr>
        <p:txBody>
          <a:bodyPr/>
          <a:lstStyle/>
          <a:p>
            <a:endParaRPr lang="en-US" dirty="0"/>
          </a:p>
        </p:txBody>
      </p:sp>
      <p:sp>
        <p:nvSpPr>
          <p:cNvPr id="15" name="Text 10"/>
          <p:cNvSpPr/>
          <p:nvPr/>
        </p:nvSpPr>
        <p:spPr>
          <a:xfrm>
            <a:off x="6357938" y="1894433"/>
            <a:ext cx="5453063" cy="219373"/>
          </a:xfrm>
          <a:prstGeom prst="rect">
            <a:avLst/>
          </a:prstGeom>
          <a:noFill/>
          <a:ln>
            <a:miter lim="800000"/>
          </a:ln>
        </p:spPr>
        <p:txBody>
          <a:bodyPr wrap="square" lIns="0" tIns="0" rIns="0" bIns="0" rtlCol="0" anchor="t"/>
          <a:lstStyle/>
          <a:p>
            <a:pPr algn="l" fontAlgn="ctr">
              <a:lnSpc>
                <a:spcPts val="1728"/>
              </a:lnSpc>
            </a:pPr>
            <a:r>
              <a:rPr lang="en-US" sz="1500" kern="0" spc="-90" dirty="0">
                <a:solidFill>
                  <a:srgbClr val="FFFFFF"/>
                </a:solidFill>
                <a:latin typeface="Inter SemiBold" pitchFamily="34" charset="0"/>
                <a:ea typeface="Inter SemiBold" pitchFamily="34" charset="-122"/>
                <a:cs typeface="Inter SemiBold" pitchFamily="34" charset="-120"/>
              </a:rPr>
              <a:t>Dataset Details</a:t>
            </a:r>
            <a:endParaRPr lang="en-US" dirty="0"/>
          </a:p>
        </p:txBody>
      </p:sp>
      <p:sp>
        <p:nvSpPr>
          <p:cNvPr id="16" name="Shape 11"/>
          <p:cNvSpPr/>
          <p:nvPr/>
        </p:nvSpPr>
        <p:spPr>
          <a:xfrm>
            <a:off x="6167438" y="3771900"/>
            <a:ext cx="5548313" cy="1885950"/>
          </a:xfrm>
          <a:prstGeom prst="rect">
            <a:avLst/>
          </a:prstGeom>
          <a:solidFill>
            <a:srgbClr val="222222"/>
          </a:solidFill>
          <a:ln>
            <a:miter lim="800000"/>
          </a:ln>
        </p:spPr>
        <p:txBody>
          <a:bodyPr/>
          <a:lstStyle/>
          <a:p>
            <a:endParaRPr lang="en-US" dirty="0"/>
          </a:p>
        </p:txBody>
      </p:sp>
      <p:sp>
        <p:nvSpPr>
          <p:cNvPr id="17" name="Text 12"/>
          <p:cNvSpPr/>
          <p:nvPr/>
        </p:nvSpPr>
        <p:spPr>
          <a:xfrm>
            <a:off x="6190604" y="3871616"/>
            <a:ext cx="5429896" cy="1748878"/>
          </a:xfrm>
          <a:prstGeom prst="rect">
            <a:avLst/>
          </a:prstGeom>
          <a:noFill/>
          <a:ln>
            <a:miter lim="800000"/>
          </a:ln>
        </p:spPr>
        <p:txBody>
          <a:bodyPr wrap="square" lIns="0" tIns="0" rIns="0" bIns="0" rtlCol="0" anchor="ctr"/>
          <a:lstStyle/>
          <a:p>
            <a:pPr algn="ctr" fontAlgn="ctr">
              <a:lnSpc>
                <a:spcPts val="1901"/>
              </a:lnSpc>
            </a:pPr>
            <a:r>
              <a:rPr lang="en-US" sz="1600" kern="0" spc="-99" dirty="0">
                <a:solidFill>
                  <a:srgbClr val="FFFFFF"/>
                </a:solidFill>
                <a:ea typeface="Inter SemiBold" pitchFamily="34" charset="-122"/>
                <a:cs typeface="Inter SemiBold" pitchFamily="34" charset="-120"/>
              </a:rPr>
              <a:t> Out of 525 Total tickets,</a:t>
            </a:r>
          </a:p>
          <a:p>
            <a:pPr algn="ctr" fontAlgn="ctr">
              <a:lnSpc>
                <a:spcPts val="1901"/>
              </a:lnSpc>
            </a:pPr>
            <a:r>
              <a:rPr lang="en-US" sz="1600" kern="0" spc="-99" dirty="0">
                <a:solidFill>
                  <a:srgbClr val="FFFFFF"/>
                </a:solidFill>
                <a:ea typeface="Inter SemiBold" pitchFamily="34" charset="-122"/>
                <a:cs typeface="Inter SemiBold" pitchFamily="34" charset="-120"/>
              </a:rPr>
              <a:t>293 (55.8%) are 'GOOD’ and 232 (44.2%) are 'BAD’ labelled tickets.</a:t>
            </a:r>
          </a:p>
          <a:p>
            <a:pPr algn="ctr" fontAlgn="ctr">
              <a:lnSpc>
                <a:spcPts val="1901"/>
              </a:lnSpc>
            </a:pPr>
            <a:endParaRPr lang="en-US" sz="1600" kern="0" spc="-99" dirty="0">
              <a:solidFill>
                <a:srgbClr val="FFFFFF"/>
              </a:solidFill>
              <a:ea typeface="Inter SemiBold" pitchFamily="34" charset="-122"/>
              <a:cs typeface="Inter SemiBold" pitchFamily="34" charset="-120"/>
            </a:endParaRPr>
          </a:p>
          <a:p>
            <a:pPr algn="ctr" fontAlgn="ctr">
              <a:lnSpc>
                <a:spcPts val="1901"/>
              </a:lnSpc>
            </a:pPr>
            <a:r>
              <a:rPr lang="en-US" sz="1600" kern="0" spc="-99" dirty="0">
                <a:solidFill>
                  <a:srgbClr val="FFFFFF"/>
                </a:solidFill>
                <a:ea typeface="Inter SemiBold" pitchFamily="34" charset="-122"/>
                <a:cs typeface="Inter SemiBold" pitchFamily="34" charset="-120"/>
              </a:rPr>
              <a:t>Out of 378 Training  tickets,</a:t>
            </a:r>
          </a:p>
          <a:p>
            <a:pPr algn="ctr" fontAlgn="ctr">
              <a:lnSpc>
                <a:spcPts val="1901"/>
              </a:lnSpc>
            </a:pPr>
            <a:r>
              <a:rPr lang="en-US" sz="1600" kern="0" spc="-99" dirty="0">
                <a:solidFill>
                  <a:srgbClr val="FFFFFF"/>
                </a:solidFill>
                <a:ea typeface="Inter SemiBold" pitchFamily="34" charset="-122"/>
                <a:cs typeface="Inter SemiBold" pitchFamily="34" charset="-120"/>
              </a:rPr>
              <a:t>231(61.1 %) are 'GOOD’ and 147(38.9%) are 'BAD’ labelled tickets.</a:t>
            </a:r>
          </a:p>
          <a:p>
            <a:pPr algn="ctr" fontAlgn="ctr">
              <a:lnSpc>
                <a:spcPts val="1901"/>
              </a:lnSpc>
            </a:pPr>
            <a:r>
              <a:rPr lang="en-US" sz="1600" kern="0" spc="-99" dirty="0">
                <a:solidFill>
                  <a:srgbClr val="FFFFFF"/>
                </a:solidFill>
                <a:ea typeface="Inter SemiBold" pitchFamily="34" charset="-122"/>
                <a:cs typeface="Inter SemiBold" pitchFamily="34" charset="-120"/>
              </a:rPr>
              <a:t>Out of 147 Test  tickets, </a:t>
            </a:r>
          </a:p>
          <a:p>
            <a:pPr algn="ctr" fontAlgn="ctr">
              <a:lnSpc>
                <a:spcPts val="1901"/>
              </a:lnSpc>
            </a:pPr>
            <a:r>
              <a:rPr lang="en-US" sz="1600" kern="0" spc="-99" dirty="0">
                <a:solidFill>
                  <a:srgbClr val="FFFFFF"/>
                </a:solidFill>
                <a:ea typeface="Inter SemiBold" pitchFamily="34" charset="-122"/>
                <a:cs typeface="Inter SemiBold" pitchFamily="34" charset="-120"/>
              </a:rPr>
              <a:t>62(42.2 %) are 'GOOD’ and 85(57.7%) are 'BAD’ labelled tickets.</a:t>
            </a:r>
          </a:p>
          <a:p>
            <a:pPr algn="ctr" fontAlgn="ctr">
              <a:lnSpc>
                <a:spcPts val="1901"/>
              </a:lnSpc>
            </a:pPr>
            <a:endParaRPr lang="en-US" dirty="0"/>
          </a:p>
        </p:txBody>
      </p:sp>
      <p:sp>
        <p:nvSpPr>
          <p:cNvPr id="18" name="Shape 13"/>
          <p:cNvSpPr/>
          <p:nvPr/>
        </p:nvSpPr>
        <p:spPr>
          <a:xfrm>
            <a:off x="0" y="6134100"/>
            <a:ext cx="12192000" cy="723900"/>
          </a:xfrm>
          <a:prstGeom prst="rect">
            <a:avLst/>
          </a:prstGeom>
          <a:solidFill>
            <a:schemeClr val="accent1">
              <a:lumMod val="50000"/>
            </a:schemeClr>
          </a:solidFill>
          <a:ln>
            <a:miter lim="800000"/>
          </a:ln>
        </p:spPr>
        <p:txBody>
          <a:bodyPr/>
          <a:lstStyle/>
          <a:p>
            <a:endParaRPr lang="en-US" dirty="0"/>
          </a:p>
        </p:txBody>
      </p:sp>
      <p:sp>
        <p:nvSpPr>
          <p:cNvPr id="19" name="Text 14"/>
          <p:cNvSpPr/>
          <p:nvPr/>
        </p:nvSpPr>
        <p:spPr>
          <a:xfrm>
            <a:off x="571500" y="6062217"/>
            <a:ext cx="11049000" cy="241399"/>
          </a:xfrm>
          <a:prstGeom prst="rect">
            <a:avLst/>
          </a:prstGeom>
          <a:noFill/>
          <a:ln>
            <a:miter lim="800000"/>
          </a:ln>
        </p:spPr>
        <p:txBody>
          <a:bodyPr wrap="square" lIns="0" tIns="0" rIns="0" bIns="0" rtlCol="0" anchor="ctr"/>
          <a:lstStyle/>
          <a:p>
            <a:pPr algn="ctr" fontAlgn="ctr">
              <a:lnSpc>
                <a:spcPts val="1901"/>
              </a:lnSpc>
            </a:pPr>
            <a:r>
              <a:rPr lang="en-US" sz="1650" kern="0" spc="-99" dirty="0">
                <a:solidFill>
                  <a:srgbClr val="FFFFFF"/>
                </a:solidFill>
                <a:latin typeface="Inter SemiBold" pitchFamily="34" charset="0"/>
                <a:ea typeface="Inter SemiBold" pitchFamily="34" charset="-122"/>
                <a:cs typeface="Inter SemiBold" pitchFamily="34" charset="-120"/>
              </a:rPr>
              <a:t>Exceeded the &gt;500 tickets feedback threshold while maintaining domain specificity and balance across AML requirements.</a:t>
            </a:r>
            <a:endParaRPr lang="en-US" dirty="0"/>
          </a:p>
        </p:txBody>
      </p:sp>
      <p:sp>
        <p:nvSpPr>
          <p:cNvPr id="21" name="Text 5">
            <a:extLst>
              <a:ext uri="{FF2B5EF4-FFF2-40B4-BE49-F238E27FC236}">
                <a16:creationId xmlns:a16="http://schemas.microsoft.com/office/drawing/2014/main" id="{2BDCE378-DF2B-E094-CE78-16CF07EF88EF}"/>
              </a:ext>
            </a:extLst>
          </p:cNvPr>
          <p:cNvSpPr/>
          <p:nvPr/>
        </p:nvSpPr>
        <p:spPr>
          <a:xfrm>
            <a:off x="2800621" y="1890599"/>
            <a:ext cx="757989" cy="292039"/>
          </a:xfrm>
          <a:prstGeom prst="rect">
            <a:avLst/>
          </a:prstGeom>
          <a:noFill/>
          <a:ln>
            <a:miter lim="800000"/>
          </a:ln>
        </p:spPr>
        <p:txBody>
          <a:bodyPr wrap="square" lIns="0" tIns="0" rIns="0" bIns="0" rtlCol="0" anchor="t"/>
          <a:lstStyle/>
          <a:p>
            <a:pPr algn="l" fontAlgn="ctr">
              <a:lnSpc>
                <a:spcPts val="1728"/>
              </a:lnSpc>
            </a:pPr>
            <a:r>
              <a:rPr lang="en-US" sz="1500" kern="0" spc="-90" dirty="0">
                <a:solidFill>
                  <a:srgbClr val="FFFFFF"/>
                </a:solidFill>
                <a:latin typeface="Inter SemiBold" pitchFamily="34" charset="0"/>
                <a:ea typeface="Inter SemiBold" pitchFamily="34" charset="-122"/>
                <a:cs typeface="Inter SemiBold" pitchFamily="34" charset="-120"/>
              </a:rPr>
              <a:t>Training</a:t>
            </a:r>
          </a:p>
        </p:txBody>
      </p:sp>
      <p:sp>
        <p:nvSpPr>
          <p:cNvPr id="23" name="Text 5">
            <a:extLst>
              <a:ext uri="{FF2B5EF4-FFF2-40B4-BE49-F238E27FC236}">
                <a16:creationId xmlns:a16="http://schemas.microsoft.com/office/drawing/2014/main" id="{4E2C0582-F7D1-4623-B19C-1F47FDBA9FA1}"/>
              </a:ext>
            </a:extLst>
          </p:cNvPr>
          <p:cNvSpPr/>
          <p:nvPr/>
        </p:nvSpPr>
        <p:spPr>
          <a:xfrm>
            <a:off x="4899001" y="1910614"/>
            <a:ext cx="552934" cy="215903"/>
          </a:xfrm>
          <a:prstGeom prst="rect">
            <a:avLst/>
          </a:prstGeom>
          <a:noFill/>
          <a:ln>
            <a:miter lim="800000"/>
          </a:ln>
        </p:spPr>
        <p:txBody>
          <a:bodyPr wrap="square" lIns="0" tIns="0" rIns="0" bIns="0" rtlCol="0" anchor="t"/>
          <a:lstStyle/>
          <a:p>
            <a:pPr algn="l" fontAlgn="ctr">
              <a:lnSpc>
                <a:spcPts val="1728"/>
              </a:lnSpc>
            </a:pPr>
            <a:r>
              <a:rPr lang="en-US" sz="1500" kern="0" spc="-90" dirty="0">
                <a:solidFill>
                  <a:srgbClr val="FFFFFF"/>
                </a:solidFill>
                <a:latin typeface="Inter SemiBold" pitchFamily="34" charset="0"/>
                <a:ea typeface="Inter SemiBold" pitchFamily="34" charset="-122"/>
                <a:cs typeface="Inter SemiBold" pitchFamily="34" charset="-120"/>
              </a:rPr>
              <a:t>Test</a:t>
            </a:r>
            <a:endParaRPr lang="en-US" dirty="0"/>
          </a:p>
        </p:txBody>
      </p:sp>
      <p:sp>
        <p:nvSpPr>
          <p:cNvPr id="25" name="Text 3">
            <a:extLst>
              <a:ext uri="{FF2B5EF4-FFF2-40B4-BE49-F238E27FC236}">
                <a16:creationId xmlns:a16="http://schemas.microsoft.com/office/drawing/2014/main" id="{57A94458-2767-09D3-F7D5-6A0C2D543FF1}"/>
              </a:ext>
            </a:extLst>
          </p:cNvPr>
          <p:cNvSpPr/>
          <p:nvPr/>
        </p:nvSpPr>
        <p:spPr>
          <a:xfrm>
            <a:off x="2728479" y="2316956"/>
            <a:ext cx="902277" cy="535781"/>
          </a:xfrm>
          <a:prstGeom prst="rect">
            <a:avLst/>
          </a:prstGeom>
          <a:noFill/>
          <a:ln>
            <a:miter lim="800000"/>
          </a:ln>
        </p:spPr>
        <p:txBody>
          <a:bodyPr wrap="square" lIns="0" tIns="0" rIns="0" bIns="0" rtlCol="0" anchor="t"/>
          <a:lstStyle/>
          <a:p>
            <a:pPr algn="l" fontAlgn="ctr">
              <a:lnSpc>
                <a:spcPts val="4219"/>
              </a:lnSpc>
            </a:pPr>
            <a:r>
              <a:rPr lang="en-US" sz="4688" kern="0" spc="-234" dirty="0">
                <a:solidFill>
                  <a:srgbClr val="FFFFFF"/>
                </a:solidFill>
                <a:latin typeface="Inter SemiBold" pitchFamily="34" charset="0"/>
                <a:ea typeface="Inter SemiBold" pitchFamily="34" charset="-122"/>
                <a:cs typeface="Inter SemiBold" pitchFamily="34" charset="-120"/>
              </a:rPr>
              <a:t>378</a:t>
            </a:r>
            <a:endParaRPr lang="en-US" dirty="0"/>
          </a:p>
        </p:txBody>
      </p:sp>
      <p:sp>
        <p:nvSpPr>
          <p:cNvPr id="27" name="Text 3">
            <a:extLst>
              <a:ext uri="{FF2B5EF4-FFF2-40B4-BE49-F238E27FC236}">
                <a16:creationId xmlns:a16="http://schemas.microsoft.com/office/drawing/2014/main" id="{4EB9ACA6-BD44-F3C3-5757-BFB100050476}"/>
              </a:ext>
            </a:extLst>
          </p:cNvPr>
          <p:cNvSpPr/>
          <p:nvPr/>
        </p:nvSpPr>
        <p:spPr>
          <a:xfrm>
            <a:off x="4694958" y="2312924"/>
            <a:ext cx="902277" cy="535781"/>
          </a:xfrm>
          <a:prstGeom prst="rect">
            <a:avLst/>
          </a:prstGeom>
          <a:noFill/>
          <a:ln>
            <a:miter lim="800000"/>
          </a:ln>
        </p:spPr>
        <p:txBody>
          <a:bodyPr wrap="square" lIns="0" tIns="0" rIns="0" bIns="0" rtlCol="0" anchor="t"/>
          <a:lstStyle/>
          <a:p>
            <a:pPr algn="l" fontAlgn="ctr">
              <a:lnSpc>
                <a:spcPts val="4219"/>
              </a:lnSpc>
            </a:pPr>
            <a:r>
              <a:rPr lang="en-US" sz="4688" kern="0" spc="-234" dirty="0">
                <a:solidFill>
                  <a:srgbClr val="FFFFFF"/>
                </a:solidFill>
                <a:latin typeface="Inter SemiBold" pitchFamily="34" charset="0"/>
                <a:ea typeface="Inter SemiBold" pitchFamily="34" charset="-122"/>
                <a:cs typeface="Inter SemiBold" pitchFamily="34" charset="-120"/>
              </a:rPr>
              <a:t>147</a:t>
            </a:r>
            <a:endParaRPr lang="en-US" dirty="0"/>
          </a:p>
        </p:txBody>
      </p:sp>
      <p:pic>
        <p:nvPicPr>
          <p:cNvPr id="29" name="Picture 28">
            <a:extLst>
              <a:ext uri="{FF2B5EF4-FFF2-40B4-BE49-F238E27FC236}">
                <a16:creationId xmlns:a16="http://schemas.microsoft.com/office/drawing/2014/main" id="{72F90145-D874-41B1-98FF-B2BA24C9AFC4}"/>
              </a:ext>
            </a:extLst>
          </p:cNvPr>
          <p:cNvPicPr>
            <a:picLocks noChangeAspect="1"/>
          </p:cNvPicPr>
          <p:nvPr/>
        </p:nvPicPr>
        <p:blipFill>
          <a:blip r:embed="rId4"/>
          <a:stretch>
            <a:fillRect/>
          </a:stretch>
        </p:blipFill>
        <p:spPr>
          <a:xfrm>
            <a:off x="8223806" y="1801862"/>
            <a:ext cx="1785033" cy="176115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8D2D8-F1A1-B682-9B13-25C518E97E5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7CA4139-C79C-03FA-FF98-17718FA749F0}"/>
              </a:ext>
            </a:extLst>
          </p:cNvPr>
          <p:cNvSpPr/>
          <p:nvPr/>
        </p:nvSpPr>
        <p:spPr>
          <a:xfrm>
            <a:off x="333375" y="111169"/>
            <a:ext cx="11525250" cy="548580"/>
          </a:xfrm>
          <a:prstGeom prst="rect">
            <a:avLst/>
          </a:prstGeom>
          <a:noFill/>
          <a:ln>
            <a:miter lim="800000"/>
          </a:ln>
        </p:spPr>
        <p:txBody>
          <a:bodyPr wrap="square" lIns="0" tIns="0" rIns="0" bIns="0" rtlCol="0" anchor="t"/>
          <a:lstStyle/>
          <a:p>
            <a:pPr marL="0" marR="0" lvl="0" indent="0" algn="ctr" defTabSz="914400" rtl="0" eaLnBrk="1" fontAlgn="ctr" latinLnBrk="0" hangingPunct="1">
              <a:lnSpc>
                <a:spcPts val="4320"/>
              </a:lnSpc>
              <a:spcBef>
                <a:spcPts val="0"/>
              </a:spcBef>
              <a:spcAft>
                <a:spcPts val="0"/>
              </a:spcAft>
              <a:buClrTx/>
              <a:buSzTx/>
              <a:buFontTx/>
              <a:buNone/>
              <a:tabLst/>
              <a:defRPr/>
            </a:pPr>
            <a:r>
              <a:rPr lang="en-US" sz="3000" kern="0" spc="-225" dirty="0">
                <a:solidFill>
                  <a:srgbClr val="FFFFFF"/>
                </a:solidFill>
                <a:latin typeface="Inter SemiBold" pitchFamily="34" charset="0"/>
                <a:ea typeface="Inter SemiBold" pitchFamily="34" charset="-122"/>
              </a:rPr>
              <a:t>Rule Engine – Syntactic Gates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F3A38F0C-6CBB-6D26-D68E-BBBBF7AFE263}"/>
              </a:ext>
            </a:extLst>
          </p:cNvPr>
          <p:cNvSpPr/>
          <p:nvPr/>
        </p:nvSpPr>
        <p:spPr>
          <a:xfrm>
            <a:off x="333375" y="1038969"/>
            <a:ext cx="11525250" cy="286643"/>
          </a:xfrm>
          <a:prstGeom prst="rect">
            <a:avLst/>
          </a:prstGeom>
          <a:noFill/>
          <a:ln>
            <a:miter lim="800000"/>
          </a:ln>
        </p:spPr>
        <p:txBody>
          <a:bodyPr wrap="square" lIns="0" tIns="0" rIns="0" bIns="0" rtlCol="0" anchor="t"/>
          <a:lstStyle/>
          <a:p>
            <a:pPr lvl="0" fontAlgn="ctr">
              <a:lnSpc>
                <a:spcPts val="2257"/>
              </a:lnSpc>
              <a:spcBef>
                <a:spcPts val="867"/>
              </a:spcBef>
              <a:defRPr/>
            </a:pPr>
            <a:r>
              <a:rPr lang="en-US" b="1" dirty="0">
                <a:solidFill>
                  <a:schemeClr val="bg1"/>
                </a:solidFill>
              </a:rPr>
              <a:t>Deterministic 10-Gate Syntactic Rule Engine Module </a:t>
            </a:r>
            <a:endParaRPr kumimoji="0" lang="en-US" sz="18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graphicFrame>
        <p:nvGraphicFramePr>
          <p:cNvPr id="5" name="Table 4">
            <a:extLst>
              <a:ext uri="{FF2B5EF4-FFF2-40B4-BE49-F238E27FC236}">
                <a16:creationId xmlns:a16="http://schemas.microsoft.com/office/drawing/2014/main" id="{94A9458B-3E11-003B-7989-32D5B81710D3}"/>
              </a:ext>
            </a:extLst>
          </p:cNvPr>
          <p:cNvGraphicFramePr>
            <a:graphicFrameLocks noGrp="1"/>
          </p:cNvGraphicFramePr>
          <p:nvPr>
            <p:extLst>
              <p:ext uri="{D42A27DB-BD31-4B8C-83A1-F6EECF244321}">
                <p14:modId xmlns:p14="http://schemas.microsoft.com/office/powerpoint/2010/main" val="3491207643"/>
              </p:ext>
            </p:extLst>
          </p:nvPr>
        </p:nvGraphicFramePr>
        <p:xfrm>
          <a:off x="1173247" y="1507030"/>
          <a:ext cx="10095388" cy="4858814"/>
        </p:xfrm>
        <a:graphic>
          <a:graphicData uri="http://schemas.openxmlformats.org/drawingml/2006/table">
            <a:tbl>
              <a:tblPr/>
              <a:tblGrid>
                <a:gridCol w="261511">
                  <a:extLst>
                    <a:ext uri="{9D8B030D-6E8A-4147-A177-3AD203B41FA5}">
                      <a16:colId xmlns:a16="http://schemas.microsoft.com/office/drawing/2014/main" val="68058098"/>
                    </a:ext>
                  </a:extLst>
                </a:gridCol>
                <a:gridCol w="1631171">
                  <a:extLst>
                    <a:ext uri="{9D8B030D-6E8A-4147-A177-3AD203B41FA5}">
                      <a16:colId xmlns:a16="http://schemas.microsoft.com/office/drawing/2014/main" val="3273113256"/>
                    </a:ext>
                  </a:extLst>
                </a:gridCol>
                <a:gridCol w="815788">
                  <a:extLst>
                    <a:ext uri="{9D8B030D-6E8A-4147-A177-3AD203B41FA5}">
                      <a16:colId xmlns:a16="http://schemas.microsoft.com/office/drawing/2014/main" val="2397961849"/>
                    </a:ext>
                  </a:extLst>
                </a:gridCol>
                <a:gridCol w="2262950">
                  <a:extLst>
                    <a:ext uri="{9D8B030D-6E8A-4147-A177-3AD203B41FA5}">
                      <a16:colId xmlns:a16="http://schemas.microsoft.com/office/drawing/2014/main" val="1107206922"/>
                    </a:ext>
                  </a:extLst>
                </a:gridCol>
                <a:gridCol w="5123968">
                  <a:extLst>
                    <a:ext uri="{9D8B030D-6E8A-4147-A177-3AD203B41FA5}">
                      <a16:colId xmlns:a16="http://schemas.microsoft.com/office/drawing/2014/main" val="3293359864"/>
                    </a:ext>
                  </a:extLst>
                </a:gridCol>
              </a:tblGrid>
              <a:tr h="195660">
                <a:tc>
                  <a:txBody>
                    <a:bodyPr/>
                    <a:lstStyle/>
                    <a:p>
                      <a:pPr algn="ctr" fontAlgn="ctr">
                        <a:buNone/>
                      </a:pPr>
                      <a:r>
                        <a:rPr lang="en-US" sz="900" b="1" i="0" u="none" strike="noStrike" dirty="0">
                          <a:solidFill>
                            <a:srgbClr val="000000"/>
                          </a:solidFill>
                          <a:effectLst/>
                          <a:latin typeface="Segoe UI" panose="020B0502040204020203" pitchFamily="34" charset="0"/>
                        </a:rPr>
                        <a:t>#</a:t>
                      </a:r>
                    </a:p>
                  </a:txBody>
                  <a:tcPr marL="7756"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US" sz="900" b="1" i="0" u="none" strike="noStrike" dirty="0">
                          <a:solidFill>
                            <a:srgbClr val="000000"/>
                          </a:solidFill>
                          <a:effectLst/>
                          <a:latin typeface="Segoe UI" panose="020B0502040204020203" pitchFamily="34" charset="0"/>
                        </a:rPr>
                        <a:t>Rule Name</a:t>
                      </a:r>
                    </a:p>
                  </a:txBody>
                  <a:tcPr marL="7756"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US" sz="900" b="1" i="0" u="none" strike="noStrike" dirty="0">
                          <a:solidFill>
                            <a:srgbClr val="000000"/>
                          </a:solidFill>
                          <a:effectLst/>
                          <a:latin typeface="Segoe UI" panose="020B0502040204020203" pitchFamily="34" charset="0"/>
                        </a:rPr>
                        <a:t>Weightage (%)</a:t>
                      </a:r>
                    </a:p>
                  </a:txBody>
                  <a:tcPr marL="7756"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US" sz="900" b="1" i="0" u="none" strike="noStrike" dirty="0">
                          <a:solidFill>
                            <a:srgbClr val="000000"/>
                          </a:solidFill>
                          <a:effectLst/>
                          <a:latin typeface="Segoe UI" panose="020B0502040204020203" pitchFamily="34" charset="0"/>
                        </a:rPr>
                        <a:t>What It Checks</a:t>
                      </a:r>
                    </a:p>
                  </a:txBody>
                  <a:tcPr marL="7756"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US" sz="900" b="1" i="0" u="none" strike="noStrike" dirty="0">
                          <a:solidFill>
                            <a:srgbClr val="000000"/>
                          </a:solidFill>
                          <a:effectLst/>
                          <a:latin typeface="Segoe UI" panose="020B0502040204020203" pitchFamily="34" charset="0"/>
                        </a:rPr>
                        <a:t>Justification</a:t>
                      </a:r>
                    </a:p>
                  </a:txBody>
                  <a:tcPr marL="7756"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357017020"/>
                  </a:ext>
                </a:extLst>
              </a:tr>
              <a:tr h="757118">
                <a:tc>
                  <a:txBody>
                    <a:bodyPr/>
                    <a:lstStyle/>
                    <a:p>
                      <a:pPr algn="l" fontAlgn="ctr">
                        <a:buNone/>
                      </a:pPr>
                      <a:r>
                        <a:rPr lang="en-US" sz="900" b="0" i="0" u="none" strike="noStrike" dirty="0">
                          <a:solidFill>
                            <a:srgbClr val="000000"/>
                          </a:solidFill>
                          <a:effectLst/>
                          <a:latin typeface="Segoe UI" panose="020B0502040204020203" pitchFamily="34" charset="0"/>
                        </a:rPr>
                        <a:t>1</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User Story Syntax</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15</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"As a... I want... So that..." format</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Ensures requirements follow the standard agile user story format which forces authors to clearly specify the user role, desired action, and business outcome. This format directly addresses the "who, what, why" of a requirement, reducing ambiguity and ensuring all stakeholder perspectives are considered.</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01642430"/>
                  </a:ext>
                </a:extLst>
              </a:tr>
              <a:tr h="757118">
                <a:tc>
                  <a:txBody>
                    <a:bodyPr/>
                    <a:lstStyle/>
                    <a:p>
                      <a:pPr algn="l" fontAlgn="ctr">
                        <a:buNone/>
                      </a:pPr>
                      <a:r>
                        <a:rPr lang="en-US" sz="900" b="0" i="0" u="none" strike="noStrike" dirty="0">
                          <a:solidFill>
                            <a:srgbClr val="000000"/>
                          </a:solidFill>
                          <a:effectLst/>
                          <a:latin typeface="Segoe UI" panose="020B0502040204020203" pitchFamily="34" charset="0"/>
                        </a:rPr>
                        <a:t>2</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Acceptance Criteria Present</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15</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At least one AC with Given/When/Then</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Acceptance criteria are non-negotiable for development completion. Without clearly defined acceptance criteria, teams cannot determine when a story is "done," leading to ambiguous completion standards, scope creep, and rework. This field is the primary source of test case creation.</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721683828"/>
                  </a:ext>
                </a:extLst>
              </a:tr>
              <a:tr h="195660">
                <a:tc>
                  <a:txBody>
                    <a:bodyPr/>
                    <a:lstStyle/>
                    <a:p>
                      <a:pPr algn="l" fontAlgn="ctr">
                        <a:buNone/>
                      </a:pPr>
                      <a:r>
                        <a:rPr lang="en-US" sz="900" b="0" i="0" u="none" strike="noStrike" dirty="0">
                          <a:solidFill>
                            <a:srgbClr val="000000"/>
                          </a:solidFill>
                          <a:effectLst/>
                          <a:latin typeface="Segoe UI" panose="020B0502040204020203" pitchFamily="34" charset="0"/>
                        </a:rPr>
                        <a:t>3</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Description Length</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15</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More than 50 characters</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One-line descriptions are almost always incomplete</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579769526"/>
                  </a:ext>
                </a:extLst>
              </a:tr>
              <a:tr h="757118">
                <a:tc>
                  <a:txBody>
                    <a:bodyPr/>
                    <a:lstStyle/>
                    <a:p>
                      <a:pPr algn="l" fontAlgn="ctr">
                        <a:buNone/>
                      </a:pPr>
                      <a:r>
                        <a:rPr lang="en-US" sz="900" b="0" i="0" u="none" strike="noStrike" dirty="0">
                          <a:solidFill>
                            <a:srgbClr val="000000"/>
                          </a:solidFill>
                          <a:effectLst/>
                          <a:latin typeface="Segoe UI" panose="020B0502040204020203" pitchFamily="34" charset="0"/>
                        </a:rPr>
                        <a:t>4</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Acceptance Criteria Format</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10</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Gherkin format check</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Gherkin format enables automated test creation and provides unambiguous acceptance conditions. "Given-when-then" removes interpretation ambiguity by specifying clear preconditions, actions, and expected outcomes. This structured approach significantly reduces misunderstanding between business and technical teams.</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70217827"/>
                  </a:ext>
                </a:extLst>
              </a:tr>
              <a:tr h="195660">
                <a:tc>
                  <a:txBody>
                    <a:bodyPr/>
                    <a:lstStyle/>
                    <a:p>
                      <a:pPr algn="l" fontAlgn="ctr">
                        <a:buNone/>
                      </a:pPr>
                      <a:r>
                        <a:rPr lang="en-US" sz="900" b="0" i="0" u="none" strike="noStrike" dirty="0">
                          <a:solidFill>
                            <a:srgbClr val="000000"/>
                          </a:solidFill>
                          <a:effectLst/>
                          <a:latin typeface="Segoe UI" panose="020B0502040204020203" pitchFamily="34" charset="0"/>
                        </a:rPr>
                        <a:t>5</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Summary Length</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10</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More than 20 characters</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Incomplete Summary like "Fix reported issue" requires additional attention to elaborate </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914142454"/>
                  </a:ext>
                </a:extLst>
              </a:tr>
              <a:tr h="382813">
                <a:tc>
                  <a:txBody>
                    <a:bodyPr/>
                    <a:lstStyle/>
                    <a:p>
                      <a:pPr algn="l" fontAlgn="ctr">
                        <a:buNone/>
                      </a:pPr>
                      <a:r>
                        <a:rPr lang="en-US" sz="900" b="0" i="0" u="none" strike="noStrike" dirty="0">
                          <a:solidFill>
                            <a:srgbClr val="000000"/>
                          </a:solidFill>
                          <a:effectLst/>
                          <a:latin typeface="Segoe UI" panose="020B0502040204020203" pitchFamily="34" charset="0"/>
                        </a:rPr>
                        <a:t>6</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Priority Assigned</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10</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explicitly priority set for each issue (Critical, High, Medium, Low).</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Unprioritized issues cause planning chaos</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63246758"/>
                  </a:ext>
                </a:extLst>
              </a:tr>
              <a:tr h="757118">
                <a:tc>
                  <a:txBody>
                    <a:bodyPr/>
                    <a:lstStyle/>
                    <a:p>
                      <a:pPr algn="l" fontAlgn="ctr">
                        <a:buNone/>
                      </a:pPr>
                      <a:r>
                        <a:rPr lang="en-US" sz="900" b="0" i="0" u="none" strike="noStrike" dirty="0">
                          <a:solidFill>
                            <a:srgbClr val="000000"/>
                          </a:solidFill>
                          <a:effectLst/>
                          <a:latin typeface="Segoe UI" panose="020B0502040204020203" pitchFamily="34" charset="0"/>
                        </a:rPr>
                        <a:t>7</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Due Date</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10</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Project has valid due date</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Missing or invalid due dates disrupt sprint planning and release management. Without a target completion date, teams cannot prioritize work effectively or manage stakeholder expectations regarding delivery timelines. This is essential for capacity planning and risk assessment.</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130574484"/>
                  </a:ext>
                </a:extLst>
              </a:tr>
              <a:tr h="382813">
                <a:tc>
                  <a:txBody>
                    <a:bodyPr/>
                    <a:lstStyle/>
                    <a:p>
                      <a:pPr algn="l" fontAlgn="ctr">
                        <a:buNone/>
                      </a:pPr>
                      <a:r>
                        <a:rPr lang="en-US" sz="900" b="0" i="0" u="none" strike="noStrike" dirty="0">
                          <a:solidFill>
                            <a:srgbClr val="000000"/>
                          </a:solidFill>
                          <a:effectLst/>
                          <a:latin typeface="Segoe UI" panose="020B0502040204020203" pitchFamily="34" charset="0"/>
                        </a:rPr>
                        <a:t>8</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Assignee Assigned</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5</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Someone is responsible</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An assigned owner ensures accountability and prevents tickets from falling through the cracks.</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563355228"/>
                  </a:ext>
                </a:extLst>
              </a:tr>
              <a:tr h="195660">
                <a:tc>
                  <a:txBody>
                    <a:bodyPr/>
                    <a:lstStyle/>
                    <a:p>
                      <a:pPr algn="l" fontAlgn="ctr">
                        <a:buNone/>
                      </a:pPr>
                      <a:r>
                        <a:rPr lang="en-US" sz="900" b="0" i="0" u="none" strike="noStrike" dirty="0">
                          <a:solidFill>
                            <a:srgbClr val="000000"/>
                          </a:solidFill>
                          <a:effectLst/>
                          <a:latin typeface="Segoe UI" panose="020B0502040204020203" pitchFamily="34" charset="0"/>
                        </a:rPr>
                        <a:t>9</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Category is assigned</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5</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Category should be populated</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helpful for MI to generate insights of work distributed across category</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817443235"/>
                  </a:ext>
                </a:extLst>
              </a:tr>
              <a:tr h="195660">
                <a:tc>
                  <a:txBody>
                    <a:bodyPr/>
                    <a:lstStyle/>
                    <a:p>
                      <a:pPr algn="l" fontAlgn="ctr">
                        <a:buNone/>
                      </a:pPr>
                      <a:r>
                        <a:rPr lang="en-US" sz="900" b="0" i="0" u="none" strike="noStrike" dirty="0">
                          <a:solidFill>
                            <a:srgbClr val="000000"/>
                          </a:solidFill>
                          <a:effectLst/>
                          <a:latin typeface="Segoe UI" panose="020B0502040204020203" pitchFamily="34" charset="0"/>
                        </a:rPr>
                        <a:t>10</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Sub-area is assigned</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5</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Sub-area should be populated</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ctr">
                        <a:buNone/>
                      </a:pPr>
                      <a:r>
                        <a:rPr lang="en-US" sz="900" b="0" i="0" u="none" strike="noStrike" dirty="0">
                          <a:solidFill>
                            <a:srgbClr val="000000"/>
                          </a:solidFill>
                          <a:effectLst/>
                          <a:latin typeface="Segoe UI" panose="020B0502040204020203" pitchFamily="34" charset="0"/>
                        </a:rPr>
                        <a:t>helpful for MI to generate insights of work distributed across Sub-area</a:t>
                      </a:r>
                    </a:p>
                  </a:txBody>
                  <a:tcPr marL="69808" marR="7756" marT="77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059771867"/>
                  </a:ext>
                </a:extLst>
              </a:tr>
            </a:tbl>
          </a:graphicData>
        </a:graphic>
      </p:graphicFrame>
      <p:sp>
        <p:nvSpPr>
          <p:cNvPr id="7" name="TextBox 6">
            <a:extLst>
              <a:ext uri="{FF2B5EF4-FFF2-40B4-BE49-F238E27FC236}">
                <a16:creationId xmlns:a16="http://schemas.microsoft.com/office/drawing/2014/main" id="{961C32F8-B17B-9077-C45F-6EFC62F610A3}"/>
              </a:ext>
            </a:extLst>
          </p:cNvPr>
          <p:cNvSpPr txBox="1"/>
          <p:nvPr/>
        </p:nvSpPr>
        <p:spPr>
          <a:xfrm>
            <a:off x="333375" y="6362596"/>
            <a:ext cx="4769224" cy="369332"/>
          </a:xfrm>
          <a:prstGeom prst="rect">
            <a:avLst/>
          </a:prstGeom>
          <a:noFill/>
        </p:spPr>
        <p:txBody>
          <a:bodyPr wrap="square" rtlCol="0">
            <a:spAutoFit/>
          </a:bodyPr>
          <a:lstStyle/>
          <a:p>
            <a:r>
              <a:rPr lang="en-US" b="1" dirty="0">
                <a:solidFill>
                  <a:schemeClr val="bg1"/>
                </a:solidFill>
              </a:rPr>
              <a:t>Rule Score </a:t>
            </a:r>
            <a:r>
              <a:rPr lang="en-US" dirty="0">
                <a:solidFill>
                  <a:schemeClr val="bg1"/>
                </a:solidFill>
              </a:rPr>
              <a:t>= {sum of all passed rules weightage} </a:t>
            </a:r>
          </a:p>
        </p:txBody>
      </p:sp>
    </p:spTree>
    <p:extLst>
      <p:ext uri="{BB962C8B-B14F-4D97-AF65-F5344CB8AC3E}">
        <p14:creationId xmlns:p14="http://schemas.microsoft.com/office/powerpoint/2010/main" val="2619795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B4F7D-F460-9C58-97CD-442BF5057AD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2580ECB-BB83-7F0A-12DE-6470D8F2BF33}"/>
              </a:ext>
            </a:extLst>
          </p:cNvPr>
          <p:cNvSpPr/>
          <p:nvPr/>
        </p:nvSpPr>
        <p:spPr>
          <a:xfrm>
            <a:off x="333375" y="123916"/>
            <a:ext cx="11525250" cy="548580"/>
          </a:xfrm>
          <a:prstGeom prst="rect">
            <a:avLst/>
          </a:prstGeom>
          <a:noFill/>
          <a:ln>
            <a:miter lim="800000"/>
          </a:ln>
        </p:spPr>
        <p:txBody>
          <a:bodyPr wrap="square" lIns="0" tIns="0" rIns="0" bIns="0" rtlCol="0" anchor="t"/>
          <a:lstStyle/>
          <a:p>
            <a:pPr marL="0" marR="0" lvl="0" indent="0" algn="ctr" defTabSz="914400" rtl="0" eaLnBrk="1" fontAlgn="ctr" latinLnBrk="0" hangingPunct="1">
              <a:lnSpc>
                <a:spcPts val="4320"/>
              </a:lnSpc>
              <a:spcBef>
                <a:spcPts val="0"/>
              </a:spcBef>
              <a:spcAft>
                <a:spcPts val="0"/>
              </a:spcAft>
              <a:buClrTx/>
              <a:buSzTx/>
              <a:buFontTx/>
              <a:buNone/>
              <a:tabLst/>
              <a:defRPr/>
            </a:pPr>
            <a:r>
              <a:rPr lang="en-US" sz="3000" kern="0" spc="-225" dirty="0">
                <a:solidFill>
                  <a:srgbClr val="FFFFFF"/>
                </a:solidFill>
                <a:latin typeface="Inter SemiBold" pitchFamily="34" charset="0"/>
                <a:ea typeface="Inter SemiBold" pitchFamily="34" charset="-122"/>
              </a:rPr>
              <a:t>Feature Engineering –  Correlation Analysis (1/3)</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4951780-C7D8-C07D-2428-2E1A27B577BC}"/>
              </a:ext>
            </a:extLst>
          </p:cNvPr>
          <p:cNvPicPr>
            <a:picLocks noChangeAspect="1"/>
          </p:cNvPicPr>
          <p:nvPr/>
        </p:nvPicPr>
        <p:blipFill>
          <a:blip r:embed="rId3"/>
          <a:stretch>
            <a:fillRect/>
          </a:stretch>
        </p:blipFill>
        <p:spPr>
          <a:xfrm>
            <a:off x="0" y="3584554"/>
            <a:ext cx="5762583" cy="3273445"/>
          </a:xfrm>
          <a:prstGeom prst="rect">
            <a:avLst/>
          </a:prstGeom>
        </p:spPr>
      </p:pic>
      <p:pic>
        <p:nvPicPr>
          <p:cNvPr id="7" name="Picture 6">
            <a:extLst>
              <a:ext uri="{FF2B5EF4-FFF2-40B4-BE49-F238E27FC236}">
                <a16:creationId xmlns:a16="http://schemas.microsoft.com/office/drawing/2014/main" id="{9FD90A9B-B8C4-F483-F44F-9A0BA7B3DE6E}"/>
              </a:ext>
            </a:extLst>
          </p:cNvPr>
          <p:cNvPicPr>
            <a:picLocks noChangeAspect="1"/>
          </p:cNvPicPr>
          <p:nvPr/>
        </p:nvPicPr>
        <p:blipFill>
          <a:blip r:embed="rId4"/>
          <a:stretch>
            <a:fillRect/>
          </a:stretch>
        </p:blipFill>
        <p:spPr>
          <a:xfrm>
            <a:off x="5762583" y="3584554"/>
            <a:ext cx="5861684" cy="3135288"/>
          </a:xfrm>
          <a:prstGeom prst="rect">
            <a:avLst/>
          </a:prstGeom>
        </p:spPr>
      </p:pic>
      <p:sp>
        <p:nvSpPr>
          <p:cNvPr id="10" name="TextBox 9">
            <a:extLst>
              <a:ext uri="{FF2B5EF4-FFF2-40B4-BE49-F238E27FC236}">
                <a16:creationId xmlns:a16="http://schemas.microsoft.com/office/drawing/2014/main" id="{F9FB1567-F21E-B7BF-8912-F159A4D1F876}"/>
              </a:ext>
            </a:extLst>
          </p:cNvPr>
          <p:cNvSpPr txBox="1"/>
          <p:nvPr/>
        </p:nvSpPr>
        <p:spPr>
          <a:xfrm>
            <a:off x="333375" y="1113183"/>
            <a:ext cx="5245790" cy="2585323"/>
          </a:xfrm>
          <a:prstGeom prst="rect">
            <a:avLst/>
          </a:prstGeom>
          <a:noFill/>
        </p:spPr>
        <p:txBody>
          <a:bodyPr wrap="square" rtlCol="0">
            <a:spAutoFit/>
          </a:bodyPr>
          <a:lstStyle/>
          <a:p>
            <a:r>
              <a:rPr lang="en-US" b="1" dirty="0">
                <a:solidFill>
                  <a:schemeClr val="bg1"/>
                </a:solidFill>
              </a:rPr>
              <a:t>Vague Term Density - </a:t>
            </a:r>
            <a:r>
              <a:rPr lang="en-US" dirty="0">
                <a:solidFill>
                  <a:schemeClr val="bg1"/>
                </a:solidFill>
              </a:rPr>
              <a:t>Developed a key metric called </a:t>
            </a:r>
            <a:r>
              <a:rPr lang="en-US" b="1" dirty="0">
                <a:solidFill>
                  <a:schemeClr val="bg1"/>
                </a:solidFill>
              </a:rPr>
              <a:t>"Vague Term Density,"</a:t>
            </a:r>
            <a:r>
              <a:rPr lang="en-US" dirty="0">
                <a:solidFill>
                  <a:schemeClr val="bg1"/>
                </a:solidFill>
              </a:rPr>
              <a:t> which calculates the proportion of a requirement that is composed of a curated list of vague words (e.g., "needful," "whatever," "fix later," "tbd").</a:t>
            </a:r>
          </a:p>
          <a:p>
            <a:endParaRPr lang="en-US" dirty="0">
              <a:solidFill>
                <a:schemeClr val="bg1"/>
              </a:solidFill>
            </a:endParaRPr>
          </a:p>
          <a:p>
            <a:r>
              <a:rPr lang="en-US" b="1" dirty="0">
                <a:solidFill>
                  <a:schemeClr val="bg1"/>
                </a:solidFill>
              </a:rPr>
              <a:t>The Finding:</a:t>
            </a:r>
            <a:r>
              <a:rPr lang="en-US" dirty="0">
                <a:solidFill>
                  <a:schemeClr val="bg1"/>
                </a:solidFill>
              </a:rPr>
              <a:t> BAD requirements have </a:t>
            </a:r>
            <a:r>
              <a:rPr lang="en-US" b="1" dirty="0">
                <a:solidFill>
                  <a:schemeClr val="bg1"/>
                </a:solidFill>
              </a:rPr>
              <a:t>3.6 times</a:t>
            </a:r>
            <a:r>
              <a:rPr lang="en-US" dirty="0">
                <a:solidFill>
                  <a:schemeClr val="bg1"/>
                </a:solidFill>
              </a:rPr>
              <a:t> higher density of vague terms than GOOD requirements.</a:t>
            </a:r>
          </a:p>
          <a:p>
            <a:endParaRPr lang="en-US" dirty="0">
              <a:solidFill>
                <a:schemeClr val="bg1"/>
              </a:solidFill>
            </a:endParaRPr>
          </a:p>
        </p:txBody>
      </p:sp>
      <p:graphicFrame>
        <p:nvGraphicFramePr>
          <p:cNvPr id="13" name="Table 12">
            <a:extLst>
              <a:ext uri="{FF2B5EF4-FFF2-40B4-BE49-F238E27FC236}">
                <a16:creationId xmlns:a16="http://schemas.microsoft.com/office/drawing/2014/main" id="{D2C0EBE6-4CE5-8E2B-F501-5044AFC39B19}"/>
              </a:ext>
            </a:extLst>
          </p:cNvPr>
          <p:cNvGraphicFramePr>
            <a:graphicFrameLocks noGrp="1"/>
          </p:cNvGraphicFramePr>
          <p:nvPr>
            <p:extLst>
              <p:ext uri="{D42A27DB-BD31-4B8C-83A1-F6EECF244321}">
                <p14:modId xmlns:p14="http://schemas.microsoft.com/office/powerpoint/2010/main" val="3464686477"/>
              </p:ext>
            </p:extLst>
          </p:nvPr>
        </p:nvGraphicFramePr>
        <p:xfrm>
          <a:off x="5762583" y="1194536"/>
          <a:ext cx="5861685" cy="2291231"/>
        </p:xfrm>
        <a:graphic>
          <a:graphicData uri="http://schemas.openxmlformats.org/drawingml/2006/table">
            <a:tbl>
              <a:tblPr firstRow="1" firstCol="1" bandRow="1">
                <a:tableStyleId>{5C22544A-7EE6-4342-B048-85BDC9FD1C3A}</a:tableStyleId>
              </a:tblPr>
              <a:tblGrid>
                <a:gridCol w="1512860">
                  <a:extLst>
                    <a:ext uri="{9D8B030D-6E8A-4147-A177-3AD203B41FA5}">
                      <a16:colId xmlns:a16="http://schemas.microsoft.com/office/drawing/2014/main" val="2260725032"/>
                    </a:ext>
                  </a:extLst>
                </a:gridCol>
                <a:gridCol w="2380325">
                  <a:extLst>
                    <a:ext uri="{9D8B030D-6E8A-4147-A177-3AD203B41FA5}">
                      <a16:colId xmlns:a16="http://schemas.microsoft.com/office/drawing/2014/main" val="1984107017"/>
                    </a:ext>
                  </a:extLst>
                </a:gridCol>
                <a:gridCol w="1968500">
                  <a:extLst>
                    <a:ext uri="{9D8B030D-6E8A-4147-A177-3AD203B41FA5}">
                      <a16:colId xmlns:a16="http://schemas.microsoft.com/office/drawing/2014/main" val="502705948"/>
                    </a:ext>
                  </a:extLst>
                </a:gridCol>
              </a:tblGrid>
              <a:tr h="248923">
                <a:tc>
                  <a:txBody>
                    <a:bodyPr/>
                    <a:lstStyle/>
                    <a:p>
                      <a:pPr marL="0" marR="0" indent="0" algn="ctr">
                        <a:lnSpc>
                          <a:spcPct val="150000"/>
                        </a:lnSpc>
                        <a:spcBef>
                          <a:spcPts val="240"/>
                        </a:spcBef>
                        <a:buNone/>
                        <a:tabLst>
                          <a:tab pos="6280150" algn="r"/>
                        </a:tabLst>
                      </a:pPr>
                      <a:r>
                        <a:rPr lang="en-US" sz="1400" dirty="0">
                          <a:effectLst/>
                        </a:rPr>
                        <a:t>Feature</a:t>
                      </a:r>
                      <a:endParaRPr lang="en-US" sz="1100" dirty="0">
                        <a:effectLst/>
                        <a:latin typeface="Calibri" panose="020F0502020204030204" pitchFamily="34" charset="0"/>
                        <a:ea typeface="Calibri" panose="020F0502020204030204" pitchFamily="34" charset="0"/>
                      </a:endParaRPr>
                    </a:p>
                  </a:txBody>
                  <a:tcPr marL="68580" marR="68580" marT="0" marB="0"/>
                </a:tc>
                <a:tc>
                  <a:txBody>
                    <a:bodyPr/>
                    <a:lstStyle/>
                    <a:p>
                      <a:pPr marL="0" marR="0" indent="0" algn="ctr">
                        <a:lnSpc>
                          <a:spcPct val="150000"/>
                        </a:lnSpc>
                        <a:spcBef>
                          <a:spcPts val="240"/>
                        </a:spcBef>
                        <a:buNone/>
                        <a:tabLst>
                          <a:tab pos="6280150" algn="r"/>
                        </a:tabLst>
                      </a:pPr>
                      <a:r>
                        <a:rPr lang="en-US" sz="1400" dirty="0">
                          <a:effectLst/>
                        </a:rPr>
                        <a:t>Description</a:t>
                      </a:r>
                      <a:endParaRPr lang="en-US" sz="1100" dirty="0">
                        <a:effectLst/>
                        <a:latin typeface="Calibri" panose="020F0502020204030204" pitchFamily="34" charset="0"/>
                        <a:ea typeface="Calibri" panose="020F0502020204030204" pitchFamily="34" charset="0"/>
                      </a:endParaRPr>
                    </a:p>
                  </a:txBody>
                  <a:tcPr marL="68580" marR="68580" marT="0" marB="0"/>
                </a:tc>
                <a:tc>
                  <a:txBody>
                    <a:bodyPr/>
                    <a:lstStyle/>
                    <a:p>
                      <a:pPr marL="0" marR="0" indent="0" algn="ctr">
                        <a:lnSpc>
                          <a:spcPct val="150000"/>
                        </a:lnSpc>
                        <a:spcBef>
                          <a:spcPts val="240"/>
                        </a:spcBef>
                        <a:buNone/>
                        <a:tabLst>
                          <a:tab pos="6280150" algn="r"/>
                        </a:tabLst>
                      </a:pPr>
                      <a:r>
                        <a:rPr lang="en-US" sz="1400" dirty="0">
                          <a:effectLst/>
                        </a:rPr>
                        <a:t>Purpose</a:t>
                      </a:r>
                      <a:endParaRPr lang="en-US"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353737856"/>
                  </a:ext>
                </a:extLst>
              </a:tr>
              <a:tr h="689316">
                <a:tc>
                  <a:txBody>
                    <a:bodyPr/>
                    <a:lstStyle/>
                    <a:p>
                      <a:pPr marL="0" marR="0" indent="0">
                        <a:lnSpc>
                          <a:spcPct val="150000"/>
                        </a:lnSpc>
                        <a:spcBef>
                          <a:spcPts val="240"/>
                        </a:spcBef>
                        <a:buNone/>
                        <a:tabLst>
                          <a:tab pos="6280150" algn="r"/>
                        </a:tabLst>
                      </a:pPr>
                      <a:r>
                        <a:rPr lang="en-US" sz="1200" dirty="0">
                          <a:effectLst/>
                        </a:rPr>
                        <a:t>Word count</a:t>
                      </a:r>
                      <a:endParaRPr lang="en-US" sz="1100" dirty="0">
                        <a:effectLst/>
                        <a:latin typeface="Calibri" panose="020F0502020204030204" pitchFamily="34" charset="0"/>
                        <a:ea typeface="Calibri" panose="020F0502020204030204" pitchFamily="34" charset="0"/>
                      </a:endParaRPr>
                    </a:p>
                  </a:txBody>
                  <a:tcPr marL="68580" marR="68580" marT="0" marB="0"/>
                </a:tc>
                <a:tc>
                  <a:txBody>
                    <a:bodyPr/>
                    <a:lstStyle/>
                    <a:p>
                      <a:pPr marL="0" marR="0" indent="0">
                        <a:lnSpc>
                          <a:spcPct val="150000"/>
                        </a:lnSpc>
                        <a:spcBef>
                          <a:spcPts val="240"/>
                        </a:spcBef>
                        <a:buNone/>
                        <a:tabLst>
                          <a:tab pos="6280150" algn="r"/>
                        </a:tabLst>
                      </a:pPr>
                      <a:r>
                        <a:rPr lang="en-US" sz="1200" dirty="0">
                          <a:effectLst/>
                        </a:rPr>
                        <a:t>Number of words in description</a:t>
                      </a:r>
                      <a:endParaRPr lang="en-US" sz="1100" dirty="0">
                        <a:effectLst/>
                        <a:latin typeface="Calibri" panose="020F0502020204030204" pitchFamily="34" charset="0"/>
                        <a:ea typeface="Calibri" panose="020F0502020204030204" pitchFamily="34" charset="0"/>
                      </a:endParaRPr>
                    </a:p>
                  </a:txBody>
                  <a:tcPr marL="68580" marR="68580" marT="0" marB="0"/>
                </a:tc>
                <a:tc>
                  <a:txBody>
                    <a:bodyPr/>
                    <a:lstStyle/>
                    <a:p>
                      <a:pPr marL="0" marR="0" indent="0">
                        <a:lnSpc>
                          <a:spcPct val="150000"/>
                        </a:lnSpc>
                        <a:spcBef>
                          <a:spcPts val="240"/>
                        </a:spcBef>
                        <a:buNone/>
                        <a:tabLst>
                          <a:tab pos="6280150" algn="r"/>
                        </a:tabLst>
                      </a:pPr>
                      <a:r>
                        <a:rPr lang="en-US" sz="1200" dirty="0">
                          <a:effectLst/>
                        </a:rPr>
                        <a:t>Longer descriptions generally contain more actionable detail</a:t>
                      </a:r>
                      <a:endParaRPr lang="en-US"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427960509"/>
                  </a:ext>
                </a:extLst>
              </a:tr>
              <a:tr h="451355">
                <a:tc>
                  <a:txBody>
                    <a:bodyPr/>
                    <a:lstStyle/>
                    <a:p>
                      <a:pPr marL="0" marR="0" indent="0">
                        <a:lnSpc>
                          <a:spcPct val="150000"/>
                        </a:lnSpc>
                        <a:spcBef>
                          <a:spcPts val="240"/>
                        </a:spcBef>
                        <a:buNone/>
                        <a:tabLst>
                          <a:tab pos="6280150" algn="r"/>
                        </a:tabLst>
                      </a:pPr>
                      <a:r>
                        <a:rPr lang="en-US" sz="1200" dirty="0">
                          <a:effectLst/>
                        </a:rPr>
                        <a:t>Vague Term Count</a:t>
                      </a:r>
                      <a:endParaRPr lang="en-US" sz="1100" dirty="0">
                        <a:effectLst/>
                        <a:latin typeface="Calibri" panose="020F0502020204030204" pitchFamily="34" charset="0"/>
                        <a:ea typeface="Calibri" panose="020F0502020204030204" pitchFamily="34" charset="0"/>
                      </a:endParaRPr>
                    </a:p>
                  </a:txBody>
                  <a:tcPr marL="68580" marR="68580" marT="0" marB="0"/>
                </a:tc>
                <a:tc>
                  <a:txBody>
                    <a:bodyPr/>
                    <a:lstStyle/>
                    <a:p>
                      <a:pPr marL="0" marR="0" indent="0">
                        <a:lnSpc>
                          <a:spcPct val="150000"/>
                        </a:lnSpc>
                        <a:spcBef>
                          <a:spcPts val="240"/>
                        </a:spcBef>
                        <a:buNone/>
                        <a:tabLst>
                          <a:tab pos="6280150" algn="r"/>
                        </a:tabLst>
                      </a:pPr>
                      <a:r>
                        <a:rPr lang="en-US" sz="1200" dirty="0">
                          <a:effectLst/>
                        </a:rPr>
                        <a:t>Number of vague terms detected</a:t>
                      </a:r>
                      <a:endParaRPr lang="en-US" sz="1100" dirty="0">
                        <a:effectLst/>
                        <a:latin typeface="Calibri" panose="020F0502020204030204" pitchFamily="34" charset="0"/>
                        <a:ea typeface="Calibri" panose="020F0502020204030204" pitchFamily="34" charset="0"/>
                      </a:endParaRPr>
                    </a:p>
                  </a:txBody>
                  <a:tcPr marL="68580" marR="68580" marT="0" marB="0"/>
                </a:tc>
                <a:tc>
                  <a:txBody>
                    <a:bodyPr/>
                    <a:lstStyle/>
                    <a:p>
                      <a:pPr marL="0" marR="0" indent="0">
                        <a:lnSpc>
                          <a:spcPct val="150000"/>
                        </a:lnSpc>
                        <a:spcBef>
                          <a:spcPts val="240"/>
                        </a:spcBef>
                        <a:buNone/>
                        <a:tabLst>
                          <a:tab pos="6280150" algn="r"/>
                        </a:tabLst>
                      </a:pPr>
                      <a:r>
                        <a:rPr lang="en-US" sz="1200" dirty="0">
                          <a:effectLst/>
                        </a:rPr>
                        <a:t>High count indicates semantic hollowness</a:t>
                      </a:r>
                      <a:endParaRPr lang="en-US"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954011528"/>
                  </a:ext>
                </a:extLst>
              </a:tr>
              <a:tr h="689316">
                <a:tc>
                  <a:txBody>
                    <a:bodyPr/>
                    <a:lstStyle/>
                    <a:p>
                      <a:pPr marL="0" marR="0" indent="0">
                        <a:lnSpc>
                          <a:spcPct val="150000"/>
                        </a:lnSpc>
                        <a:spcBef>
                          <a:spcPts val="240"/>
                        </a:spcBef>
                        <a:buNone/>
                        <a:tabLst>
                          <a:tab pos="6280150" algn="r"/>
                        </a:tabLst>
                      </a:pPr>
                      <a:r>
                        <a:rPr lang="en-US" sz="1200" dirty="0">
                          <a:effectLst/>
                        </a:rPr>
                        <a:t>Vague Term Density </a:t>
                      </a:r>
                      <a:endParaRPr lang="en-US" sz="1100" dirty="0">
                        <a:effectLst/>
                        <a:latin typeface="Calibri" panose="020F0502020204030204" pitchFamily="34" charset="0"/>
                        <a:ea typeface="Calibri" panose="020F0502020204030204" pitchFamily="34" charset="0"/>
                      </a:endParaRPr>
                    </a:p>
                  </a:txBody>
                  <a:tcPr marL="68580" marR="68580" marT="0" marB="0"/>
                </a:tc>
                <a:tc>
                  <a:txBody>
                    <a:bodyPr/>
                    <a:lstStyle/>
                    <a:p>
                      <a:pPr marL="0" marR="0" indent="0">
                        <a:lnSpc>
                          <a:spcPct val="150000"/>
                        </a:lnSpc>
                        <a:spcBef>
                          <a:spcPts val="240"/>
                        </a:spcBef>
                        <a:buNone/>
                        <a:tabLst>
                          <a:tab pos="6280150" algn="r"/>
                        </a:tabLst>
                      </a:pPr>
                      <a:r>
                        <a:rPr lang="en-US" sz="1200" dirty="0">
                          <a:effectLst/>
                        </a:rPr>
                        <a:t>Vague terms per 100 words : </a:t>
                      </a:r>
                    </a:p>
                    <a:p>
                      <a:pPr marL="0" marR="0" indent="0">
                        <a:lnSpc>
                          <a:spcPct val="150000"/>
                        </a:lnSpc>
                        <a:spcBef>
                          <a:spcPts val="240"/>
                        </a:spcBef>
                        <a:buNone/>
                        <a:tabLst>
                          <a:tab pos="6280150" algn="r"/>
                        </a:tabLst>
                      </a:pPr>
                      <a:r>
                        <a:rPr lang="en-US" sz="1200" dirty="0">
                          <a:effectLst/>
                        </a:rPr>
                        <a:t>Vague Term Count / Word Count</a:t>
                      </a:r>
                      <a:endParaRPr lang="en-US" sz="1100" dirty="0">
                        <a:effectLst/>
                        <a:latin typeface="Calibri" panose="020F0502020204030204" pitchFamily="34" charset="0"/>
                        <a:ea typeface="Calibri" panose="020F0502020204030204" pitchFamily="34" charset="0"/>
                      </a:endParaRPr>
                    </a:p>
                  </a:txBody>
                  <a:tcPr marL="68580" marR="68580" marT="0" marB="0"/>
                </a:tc>
                <a:tc>
                  <a:txBody>
                    <a:bodyPr/>
                    <a:lstStyle/>
                    <a:p>
                      <a:pPr marL="0" marR="0" indent="0">
                        <a:lnSpc>
                          <a:spcPct val="150000"/>
                        </a:lnSpc>
                        <a:spcBef>
                          <a:spcPts val="240"/>
                        </a:spcBef>
                        <a:buNone/>
                        <a:tabLst>
                          <a:tab pos="6280150" algn="r"/>
                        </a:tabLst>
                      </a:pPr>
                      <a:r>
                        <a:rPr lang="en-US" sz="1200" dirty="0">
                          <a:effectLst/>
                        </a:rPr>
                        <a:t>Normalizes for varying description length</a:t>
                      </a:r>
                      <a:endParaRPr lang="en-US"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46105587"/>
                  </a:ext>
                </a:extLst>
              </a:tr>
            </a:tbl>
          </a:graphicData>
        </a:graphic>
      </p:graphicFrame>
    </p:spTree>
    <p:extLst>
      <p:ext uri="{BB962C8B-B14F-4D97-AF65-F5344CB8AC3E}">
        <p14:creationId xmlns:p14="http://schemas.microsoft.com/office/powerpoint/2010/main" val="1552569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F84E6-586C-BEDD-9C4F-98F86215C13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1408AB9-C7F5-CB60-7A94-BD4275887C57}"/>
              </a:ext>
            </a:extLst>
          </p:cNvPr>
          <p:cNvSpPr/>
          <p:nvPr/>
        </p:nvSpPr>
        <p:spPr>
          <a:xfrm>
            <a:off x="333375" y="103882"/>
            <a:ext cx="11525250" cy="548580"/>
          </a:xfrm>
          <a:prstGeom prst="rect">
            <a:avLst/>
          </a:prstGeom>
          <a:noFill/>
          <a:ln>
            <a:miter lim="800000"/>
          </a:ln>
        </p:spPr>
        <p:txBody>
          <a:bodyPr wrap="square" lIns="0" tIns="0" rIns="0" bIns="0" rtlCol="0" anchor="t"/>
          <a:lstStyle/>
          <a:p>
            <a:pPr marL="0" marR="0" lvl="0" indent="0" algn="ctr" defTabSz="914400" rtl="0" eaLnBrk="1" fontAlgn="ctr" latinLnBrk="0" hangingPunct="1">
              <a:lnSpc>
                <a:spcPts val="4320"/>
              </a:lnSpc>
              <a:spcBef>
                <a:spcPts val="0"/>
              </a:spcBef>
              <a:spcAft>
                <a:spcPts val="0"/>
              </a:spcAft>
              <a:buClrTx/>
              <a:buSzTx/>
              <a:buFontTx/>
              <a:buNone/>
              <a:tabLst/>
              <a:defRPr/>
            </a:pPr>
            <a:r>
              <a:rPr lang="en-US" sz="3000" kern="0" spc="-225" dirty="0">
                <a:solidFill>
                  <a:srgbClr val="FFFFFF"/>
                </a:solidFill>
                <a:latin typeface="Inter SemiBold" pitchFamily="34" charset="0"/>
                <a:ea typeface="Inter SemiBold" pitchFamily="34" charset="-122"/>
              </a:rPr>
              <a:t>Feature Engineering –  Correlation Analysis (2/3)</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323A9D3A-1263-1130-169D-538153F0A6BA}"/>
              </a:ext>
            </a:extLst>
          </p:cNvPr>
          <p:cNvSpPr txBox="1"/>
          <p:nvPr/>
        </p:nvSpPr>
        <p:spPr>
          <a:xfrm>
            <a:off x="333375" y="1630018"/>
            <a:ext cx="11659842" cy="4247317"/>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solidFill>
              </a:rPr>
              <a:t>Text Corpus Aggregation</a:t>
            </a:r>
            <a:r>
              <a:rPr lang="en-US" dirty="0">
                <a:solidFill>
                  <a:schemeClr val="bg1"/>
                </a:solidFill>
              </a:rPr>
              <a:t> In agile environments, Product Owners, Business Analysts often split vital context across multiple Jira fields (e.g., placing the user story in the </a:t>
            </a:r>
            <a:r>
              <a:rPr lang="en-US" i="1" dirty="0">
                <a:solidFill>
                  <a:schemeClr val="bg1"/>
                </a:solidFill>
              </a:rPr>
              <a:t>Description</a:t>
            </a:r>
            <a:r>
              <a:rPr lang="en-US" dirty="0">
                <a:solidFill>
                  <a:schemeClr val="bg1"/>
                </a:solidFill>
              </a:rPr>
              <a:t> but technical constraints in the </a:t>
            </a:r>
            <a:r>
              <a:rPr lang="en-US" i="1" dirty="0">
                <a:solidFill>
                  <a:schemeClr val="bg1"/>
                </a:solidFill>
              </a:rPr>
              <a:t>Acceptance Criteria</a:t>
            </a:r>
            <a:r>
              <a:rPr lang="en-US" dirty="0">
                <a:solidFill>
                  <a:schemeClr val="bg1"/>
                </a:solidFill>
              </a:rPr>
              <a:t>). </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To prevent data fragmentation, the system concatenates the </a:t>
            </a:r>
            <a:r>
              <a:rPr lang="en-US" b="1" dirty="0">
                <a:solidFill>
                  <a:schemeClr val="bg1"/>
                </a:solidFill>
              </a:rPr>
              <a:t>Summary, Description, and Acceptance Criteria </a:t>
            </a:r>
            <a:r>
              <a:rPr lang="en-US" dirty="0">
                <a:solidFill>
                  <a:schemeClr val="bg1"/>
                </a:solidFill>
              </a:rPr>
              <a:t>into a single, unified text corpus per ticket. This ensures complete contextual analysis.</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Combined = { Summary + Description + Acceptance Criteria }</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a:p>
            <a:r>
              <a:rPr lang="en-US" b="1" dirty="0">
                <a:solidFill>
                  <a:schemeClr val="bg1"/>
                </a:solidFill>
              </a:rPr>
              <a:t>Linguistic Preprocessing:</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Implemented custom stop word removal filtering 150+ standard grammatical noise words (e.g., </a:t>
            </a:r>
            <a:r>
              <a:rPr lang="en-US" i="1" dirty="0">
                <a:solidFill>
                  <a:schemeClr val="bg1"/>
                </a:solidFill>
              </a:rPr>
              <a:t>'the'</a:t>
            </a:r>
            <a:r>
              <a:rPr lang="en-US" dirty="0">
                <a:solidFill>
                  <a:schemeClr val="bg1"/>
                </a:solidFill>
              </a:rPr>
              <a:t>, </a:t>
            </a:r>
            <a:r>
              <a:rPr lang="en-US" i="1" dirty="0">
                <a:solidFill>
                  <a:schemeClr val="bg1"/>
                </a:solidFill>
              </a:rPr>
              <a:t>'is'</a:t>
            </a:r>
            <a:r>
              <a:rPr lang="en-US" dirty="0">
                <a:solidFill>
                  <a:schemeClr val="bg1"/>
                </a:solidFill>
              </a:rPr>
              <a:t>, </a:t>
            </a:r>
            <a:r>
              <a:rPr lang="en-US" i="1" dirty="0">
                <a:solidFill>
                  <a:schemeClr val="bg1"/>
                </a:solidFill>
              </a:rPr>
              <a:t>'for'</a:t>
            </a:r>
            <a:r>
              <a:rPr lang="en-US" dirty="0">
                <a:solidFill>
                  <a:schemeClr val="bg1"/>
                </a:solidFill>
              </a:rPr>
              <a:t>, </a:t>
            </a:r>
            <a:r>
              <a:rPr lang="en-US" i="1" dirty="0">
                <a:solidFill>
                  <a:schemeClr val="bg1"/>
                </a:solidFill>
              </a:rPr>
              <a:t>'and’</a:t>
            </a:r>
            <a:r>
              <a:rPr lang="en-US" dirty="0">
                <a:solidFill>
                  <a:schemeClr val="bg1"/>
                </a:solidFill>
              </a:rPr>
              <a:t>).</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Extracted Unigrams and Bigrams from the combined Summary, Description, and Acceptance Criteria fields.</a:t>
            </a:r>
          </a:p>
          <a:p>
            <a:pPr marL="285750" indent="-285750">
              <a:buFont typeface="Arial" panose="020B0604020202020204" pitchFamily="34" charset="0"/>
              <a:buChar char="•"/>
            </a:pPr>
            <a:endParaRPr lang="en-US" dirty="0">
              <a:solidFill>
                <a:schemeClr val="bg1"/>
              </a:solidFill>
            </a:endParaRPr>
          </a:p>
        </p:txBody>
      </p:sp>
    </p:spTree>
    <p:extLst>
      <p:ext uri="{BB962C8B-B14F-4D97-AF65-F5344CB8AC3E}">
        <p14:creationId xmlns:p14="http://schemas.microsoft.com/office/powerpoint/2010/main" val="1116585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414C9-F091-0408-6269-1D726A54936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53B9F49-AF43-62BE-812C-F975E2DFCA28}"/>
              </a:ext>
            </a:extLst>
          </p:cNvPr>
          <p:cNvSpPr/>
          <p:nvPr/>
        </p:nvSpPr>
        <p:spPr>
          <a:xfrm>
            <a:off x="333375" y="100229"/>
            <a:ext cx="11525250" cy="548580"/>
          </a:xfrm>
          <a:prstGeom prst="rect">
            <a:avLst/>
          </a:prstGeom>
          <a:noFill/>
          <a:ln>
            <a:miter lim="800000"/>
          </a:ln>
        </p:spPr>
        <p:txBody>
          <a:bodyPr wrap="square" lIns="0" tIns="0" rIns="0" bIns="0" rtlCol="0" anchor="t"/>
          <a:lstStyle/>
          <a:p>
            <a:pPr marL="0" marR="0" lvl="0" indent="0" algn="ctr" defTabSz="914400" rtl="0" eaLnBrk="1" fontAlgn="ctr" latinLnBrk="0" hangingPunct="1">
              <a:lnSpc>
                <a:spcPts val="4320"/>
              </a:lnSpc>
              <a:spcBef>
                <a:spcPts val="0"/>
              </a:spcBef>
              <a:spcAft>
                <a:spcPts val="0"/>
              </a:spcAft>
              <a:buClrTx/>
              <a:buSzTx/>
              <a:buFontTx/>
              <a:buNone/>
              <a:tabLst/>
              <a:defRPr/>
            </a:pPr>
            <a:r>
              <a:rPr lang="en-US" sz="3000" kern="0" spc="-225" dirty="0">
                <a:solidFill>
                  <a:srgbClr val="FFFFFF"/>
                </a:solidFill>
                <a:latin typeface="Inter SemiBold" pitchFamily="34" charset="0"/>
                <a:ea typeface="Inter SemiBold" pitchFamily="34" charset="-122"/>
              </a:rPr>
              <a:t>Feature Engineering –  Correlation Analysis (3/3)</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9C69E8D5-4199-1B1E-F4A0-073BE0C3CED5}"/>
              </a:ext>
            </a:extLst>
          </p:cNvPr>
          <p:cNvSpPr txBox="1"/>
          <p:nvPr/>
        </p:nvSpPr>
        <p:spPr>
          <a:xfrm>
            <a:off x="333375" y="1113183"/>
            <a:ext cx="11659842" cy="1477328"/>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solidFill>
              </a:rPr>
              <a:t>Semantic Vectorization (TF-IDF Bounding)</a:t>
            </a:r>
            <a:r>
              <a:rPr lang="en-US" dirty="0">
                <a:solidFill>
                  <a:schemeClr val="bg1"/>
                </a:solidFill>
              </a:rPr>
              <a:t> : Beyond fixed phrases, the cleaned unified text is processed through a TF-IDF vectorizer. To mathematically prevent the downstream models from overfitting.</a:t>
            </a:r>
          </a:p>
          <a:p>
            <a:pPr marL="285750" indent="-285750">
              <a:buFont typeface="Arial" panose="020B0604020202020204" pitchFamily="34" charset="0"/>
              <a:buChar char="•"/>
            </a:pPr>
            <a:r>
              <a:rPr lang="en-US" dirty="0">
                <a:solidFill>
                  <a:schemeClr val="bg1"/>
                </a:solidFill>
              </a:rPr>
              <a:t>The feature space is strictly capped at max_features = 1000. This bounds the data, forcing the classifiers (SVM, Random Forest) to learn generalized semantic patterns of requirement quality rather than memorizing the training dataset.</a:t>
            </a:r>
          </a:p>
          <a:p>
            <a:endParaRPr lang="en-US" dirty="0">
              <a:solidFill>
                <a:schemeClr val="bg1"/>
              </a:solidFill>
            </a:endParaRPr>
          </a:p>
        </p:txBody>
      </p:sp>
      <p:pic>
        <p:nvPicPr>
          <p:cNvPr id="4" name="Picture 3">
            <a:extLst>
              <a:ext uri="{FF2B5EF4-FFF2-40B4-BE49-F238E27FC236}">
                <a16:creationId xmlns:a16="http://schemas.microsoft.com/office/drawing/2014/main" id="{81016FB9-EFEB-4E3D-9B14-194CB7AA4316}"/>
              </a:ext>
            </a:extLst>
          </p:cNvPr>
          <p:cNvPicPr>
            <a:picLocks noChangeAspect="1"/>
          </p:cNvPicPr>
          <p:nvPr/>
        </p:nvPicPr>
        <p:blipFill>
          <a:blip r:embed="rId3"/>
          <a:stretch>
            <a:fillRect/>
          </a:stretch>
        </p:blipFill>
        <p:spPr>
          <a:xfrm>
            <a:off x="1258957" y="2590511"/>
            <a:ext cx="8878956" cy="3962509"/>
          </a:xfrm>
          <a:prstGeom prst="rect">
            <a:avLst/>
          </a:prstGeom>
        </p:spPr>
      </p:pic>
    </p:spTree>
    <p:extLst>
      <p:ext uri="{BB962C8B-B14F-4D97-AF65-F5344CB8AC3E}">
        <p14:creationId xmlns:p14="http://schemas.microsoft.com/office/powerpoint/2010/main" val="3738305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33375" y="157882"/>
            <a:ext cx="11525250" cy="548580"/>
          </a:xfrm>
          <a:prstGeom prst="rect">
            <a:avLst/>
          </a:prstGeom>
          <a:noFill/>
          <a:ln>
            <a:miter lim="800000"/>
          </a:ln>
        </p:spPr>
        <p:txBody>
          <a:bodyPr wrap="square" lIns="0" tIns="0" rIns="0" bIns="0" rtlCol="0" anchor="t"/>
          <a:lstStyle/>
          <a:p>
            <a:pPr algn="ctr" fontAlgn="ctr">
              <a:lnSpc>
                <a:spcPts val="4320"/>
              </a:lnSpc>
            </a:pPr>
            <a:r>
              <a:rPr lang="en-US" sz="3000" kern="0" spc="-225" dirty="0">
                <a:solidFill>
                  <a:srgbClr val="FFFFFF"/>
                </a:solidFill>
                <a:latin typeface="Inter SemiBold" pitchFamily="34" charset="0"/>
                <a:ea typeface="Inter SemiBold" pitchFamily="34" charset="-122"/>
                <a:cs typeface="Inter SemiBold" pitchFamily="34" charset="-120"/>
              </a:rPr>
              <a:t>ML Transparency: Model Selection</a:t>
            </a:r>
            <a:endParaRPr lang="en-US" sz="3000" dirty="0"/>
          </a:p>
        </p:txBody>
      </p:sp>
      <p:sp>
        <p:nvSpPr>
          <p:cNvPr id="4" name="Shape 2"/>
          <p:cNvSpPr/>
          <p:nvPr/>
        </p:nvSpPr>
        <p:spPr>
          <a:xfrm>
            <a:off x="476250" y="1743075"/>
            <a:ext cx="2738438" cy="693738"/>
          </a:xfrm>
          <a:prstGeom prst="rect">
            <a:avLst/>
          </a:prstGeom>
          <a:solidFill>
            <a:srgbClr val="000000">
              <a:alpha val="0"/>
            </a:srgbClr>
          </a:solidFill>
          <a:ln>
            <a:miter lim="800000"/>
          </a:ln>
        </p:spPr>
        <p:txBody>
          <a:bodyPr/>
          <a:lstStyle/>
          <a:p>
            <a:endParaRPr lang="en-US" dirty="0"/>
          </a:p>
        </p:txBody>
      </p:sp>
      <p:sp>
        <p:nvSpPr>
          <p:cNvPr id="5" name="Text 3"/>
          <p:cNvSpPr/>
          <p:nvPr/>
        </p:nvSpPr>
        <p:spPr>
          <a:xfrm>
            <a:off x="618292" y="1936055"/>
            <a:ext cx="2454354" cy="301675"/>
          </a:xfrm>
          <a:prstGeom prst="rect">
            <a:avLst/>
          </a:prstGeom>
          <a:noFill/>
          <a:ln>
            <a:miter lim="800000"/>
          </a:ln>
        </p:spPr>
        <p:txBody>
          <a:bodyPr wrap="square" lIns="0" tIns="0" rIns="0" bIns="0" rtlCol="0" anchor="ctr"/>
          <a:lstStyle/>
          <a:p>
            <a:pPr algn="ctr" fontAlgn="ctr">
              <a:lnSpc>
                <a:spcPts val="2376"/>
              </a:lnSpc>
            </a:pPr>
            <a:r>
              <a:rPr lang="en-US" sz="2063" kern="0" spc="-124" dirty="0">
                <a:solidFill>
                  <a:srgbClr val="FFFFFF"/>
                </a:solidFill>
                <a:latin typeface="Inter SemiBold" pitchFamily="34" charset="0"/>
                <a:ea typeface="Inter SemiBold" pitchFamily="34" charset="-122"/>
                <a:cs typeface="Inter SemiBold" pitchFamily="34" charset="-120"/>
              </a:rPr>
              <a:t>Logistic Regression</a:t>
            </a:r>
            <a:endParaRPr lang="en-US" dirty="0"/>
          </a:p>
        </p:txBody>
      </p:sp>
      <p:sp>
        <p:nvSpPr>
          <p:cNvPr id="6" name="Shape 4"/>
          <p:cNvSpPr/>
          <p:nvPr/>
        </p:nvSpPr>
        <p:spPr>
          <a:xfrm>
            <a:off x="476250" y="2532063"/>
            <a:ext cx="2738438" cy="2666206"/>
          </a:xfrm>
          <a:prstGeom prst="rect">
            <a:avLst/>
          </a:prstGeom>
          <a:solidFill>
            <a:srgbClr val="000000">
              <a:alpha val="0"/>
            </a:srgbClr>
          </a:solidFill>
          <a:ln>
            <a:miter lim="800000"/>
          </a:ln>
        </p:spPr>
        <p:txBody>
          <a:bodyPr/>
          <a:lstStyle/>
          <a:p>
            <a:endParaRPr lang="en-US" dirty="0"/>
          </a:p>
        </p:txBody>
      </p:sp>
      <p:pic>
        <p:nvPicPr>
          <p:cNvPr id="7" name="Image 0" descr="Abstract icon representing a linear regression line on a scatter plot"/>
          <p:cNvPicPr>
            <a:picLocks noChangeAspect="1"/>
          </p:cNvPicPr>
          <p:nvPr/>
        </p:nvPicPr>
        <p:blipFill>
          <a:blip r:embed="rId3"/>
          <a:srcRect t="1319" b="1319"/>
          <a:stretch/>
        </p:blipFill>
        <p:spPr>
          <a:xfrm>
            <a:off x="476250" y="2532063"/>
            <a:ext cx="2738438" cy="2666206"/>
          </a:xfrm>
          <a:prstGeom prst="rect">
            <a:avLst/>
          </a:prstGeom>
        </p:spPr>
      </p:pic>
      <p:sp>
        <p:nvSpPr>
          <p:cNvPr id="8" name="Shape 5"/>
          <p:cNvSpPr/>
          <p:nvPr/>
        </p:nvSpPr>
        <p:spPr>
          <a:xfrm>
            <a:off x="476250" y="5293519"/>
            <a:ext cx="2738438" cy="1088231"/>
          </a:xfrm>
          <a:prstGeom prst="rect">
            <a:avLst/>
          </a:prstGeom>
          <a:solidFill>
            <a:srgbClr val="000000">
              <a:alpha val="0"/>
            </a:srgbClr>
          </a:solidFill>
          <a:ln>
            <a:miter lim="800000"/>
          </a:ln>
        </p:spPr>
        <p:txBody>
          <a:bodyPr/>
          <a:lstStyle/>
          <a:p>
            <a:endParaRPr lang="en-US" dirty="0"/>
          </a:p>
        </p:txBody>
      </p:sp>
      <p:sp>
        <p:nvSpPr>
          <p:cNvPr id="9" name="Text 6"/>
          <p:cNvSpPr/>
          <p:nvPr/>
        </p:nvSpPr>
        <p:spPr>
          <a:xfrm>
            <a:off x="563776" y="5577929"/>
            <a:ext cx="2563386" cy="521196"/>
          </a:xfrm>
          <a:prstGeom prst="rect">
            <a:avLst/>
          </a:prstGeom>
          <a:noFill/>
          <a:ln>
            <a:miter lim="800000"/>
          </a:ln>
        </p:spPr>
        <p:txBody>
          <a:bodyPr wrap="square" lIns="0" tIns="0" rIns="0" bIns="0" rtlCol="0" anchor="ctr"/>
          <a:lstStyle/>
          <a:p>
            <a:pPr algn="ctr" fontAlgn="ctr">
              <a:lnSpc>
                <a:spcPts val="2052"/>
              </a:lnSpc>
            </a:pPr>
            <a:r>
              <a:rPr lang="en-US" sz="1500" kern="0" spc="-30" dirty="0">
                <a:solidFill>
                  <a:srgbClr val="FFFFFF">
                    <a:alpha val="80000"/>
                  </a:srgbClr>
                </a:solidFill>
                <a:latin typeface="Inter Medium" pitchFamily="34" charset="0"/>
                <a:ea typeface="Inter Medium" pitchFamily="34" charset="-122"/>
                <a:cs typeface="Inter Medium" pitchFamily="34" charset="-120"/>
              </a:rPr>
              <a:t>Baseline model for</a:t>
            </a:r>
            <a:br>
              <a:rPr lang="en-US" sz="1500" kern="0" spc="-30" dirty="0">
                <a:solidFill>
                  <a:srgbClr val="FFFFFF">
                    <a:alpha val="80000"/>
                  </a:srgbClr>
                </a:solidFill>
                <a:latin typeface="Inter Medium" pitchFamily="34" charset="0"/>
                <a:ea typeface="Inter Medium" pitchFamily="34" charset="-122"/>
                <a:cs typeface="Inter Medium" pitchFamily="34" charset="-120"/>
              </a:rPr>
            </a:br>
            <a:r>
              <a:rPr lang="en-US" sz="1500" kern="0" spc="-30" dirty="0">
                <a:solidFill>
                  <a:srgbClr val="FFFFFF">
                    <a:alpha val="80000"/>
                  </a:srgbClr>
                </a:solidFill>
                <a:latin typeface="Inter Medium" pitchFamily="34" charset="0"/>
                <a:ea typeface="Inter Medium" pitchFamily="34" charset="-122"/>
                <a:cs typeface="Inter Medium" pitchFamily="34" charset="-120"/>
              </a:rPr>
              <a:t>requirement classification.</a:t>
            </a:r>
            <a:endParaRPr lang="en-US" dirty="0"/>
          </a:p>
        </p:txBody>
      </p:sp>
      <p:sp>
        <p:nvSpPr>
          <p:cNvPr id="10" name="Shape 7"/>
          <p:cNvSpPr/>
          <p:nvPr/>
        </p:nvSpPr>
        <p:spPr>
          <a:xfrm>
            <a:off x="3309938" y="1743075"/>
            <a:ext cx="2738438" cy="693738"/>
          </a:xfrm>
          <a:prstGeom prst="rect">
            <a:avLst/>
          </a:prstGeom>
          <a:solidFill>
            <a:srgbClr val="000000">
              <a:alpha val="0"/>
            </a:srgbClr>
          </a:solidFill>
          <a:ln>
            <a:miter lim="800000"/>
          </a:ln>
        </p:spPr>
        <p:txBody>
          <a:bodyPr/>
          <a:lstStyle/>
          <a:p>
            <a:endParaRPr lang="en-US" dirty="0"/>
          </a:p>
        </p:txBody>
      </p:sp>
      <p:sp>
        <p:nvSpPr>
          <p:cNvPr id="11" name="Text 8"/>
          <p:cNvSpPr/>
          <p:nvPr/>
        </p:nvSpPr>
        <p:spPr>
          <a:xfrm>
            <a:off x="3365003" y="1908274"/>
            <a:ext cx="2628305" cy="321056"/>
          </a:xfrm>
          <a:prstGeom prst="rect">
            <a:avLst/>
          </a:prstGeom>
          <a:noFill/>
          <a:ln>
            <a:miter lim="800000"/>
          </a:ln>
        </p:spPr>
        <p:txBody>
          <a:bodyPr wrap="square" lIns="0" tIns="0" rIns="0" bIns="0" rtlCol="0" anchor="ctr"/>
          <a:lstStyle/>
          <a:p>
            <a:pPr algn="ctr" fontAlgn="ctr">
              <a:lnSpc>
                <a:spcPts val="3240"/>
              </a:lnSpc>
            </a:pPr>
            <a:r>
              <a:rPr lang="en-US" sz="2060" kern="0" spc="-169" dirty="0">
                <a:solidFill>
                  <a:srgbClr val="FFFFFF"/>
                </a:solidFill>
                <a:latin typeface="Inter SemiBold" pitchFamily="34" charset="0"/>
                <a:ea typeface="Inter SemiBold" pitchFamily="34" charset="-122"/>
                <a:cs typeface="Inter SemiBold" pitchFamily="34" charset="-120"/>
              </a:rPr>
              <a:t>Random Forest</a:t>
            </a:r>
            <a:endParaRPr lang="en-US" sz="2060" dirty="0"/>
          </a:p>
        </p:txBody>
      </p:sp>
      <p:sp>
        <p:nvSpPr>
          <p:cNvPr id="12" name="Shape 9"/>
          <p:cNvSpPr/>
          <p:nvPr/>
        </p:nvSpPr>
        <p:spPr>
          <a:xfrm>
            <a:off x="3309938" y="2532063"/>
            <a:ext cx="2738438" cy="2666206"/>
          </a:xfrm>
          <a:prstGeom prst="rect">
            <a:avLst/>
          </a:prstGeom>
          <a:solidFill>
            <a:srgbClr val="000000">
              <a:alpha val="0"/>
            </a:srgbClr>
          </a:solidFill>
          <a:ln>
            <a:miter lim="800000"/>
          </a:ln>
        </p:spPr>
        <p:txBody>
          <a:bodyPr/>
          <a:lstStyle/>
          <a:p>
            <a:endParaRPr lang="en-US" dirty="0"/>
          </a:p>
        </p:txBody>
      </p:sp>
      <p:pic>
        <p:nvPicPr>
          <p:cNvPr id="13" name="Image 1" descr="Icon of a schematic tree structure representing decision making"/>
          <p:cNvPicPr>
            <a:picLocks noChangeAspect="1"/>
          </p:cNvPicPr>
          <p:nvPr/>
        </p:nvPicPr>
        <p:blipFill>
          <a:blip r:embed="rId4"/>
          <a:srcRect t="1319" b="1319"/>
          <a:stretch/>
        </p:blipFill>
        <p:spPr>
          <a:xfrm>
            <a:off x="3309938" y="2532063"/>
            <a:ext cx="2738438" cy="2666206"/>
          </a:xfrm>
          <a:prstGeom prst="rect">
            <a:avLst/>
          </a:prstGeom>
        </p:spPr>
      </p:pic>
      <p:sp>
        <p:nvSpPr>
          <p:cNvPr id="14" name="Shape 10"/>
          <p:cNvSpPr/>
          <p:nvPr/>
        </p:nvSpPr>
        <p:spPr>
          <a:xfrm>
            <a:off x="3309938" y="5293519"/>
            <a:ext cx="2738438" cy="1088231"/>
          </a:xfrm>
          <a:prstGeom prst="rect">
            <a:avLst/>
          </a:prstGeom>
          <a:solidFill>
            <a:srgbClr val="000000">
              <a:alpha val="0"/>
            </a:srgbClr>
          </a:solidFill>
          <a:ln>
            <a:miter lim="800000"/>
          </a:ln>
        </p:spPr>
        <p:txBody>
          <a:bodyPr/>
          <a:lstStyle/>
          <a:p>
            <a:endParaRPr lang="en-US" dirty="0"/>
          </a:p>
        </p:txBody>
      </p:sp>
      <p:sp>
        <p:nvSpPr>
          <p:cNvPr id="15" name="Text 11"/>
          <p:cNvSpPr/>
          <p:nvPr/>
        </p:nvSpPr>
        <p:spPr>
          <a:xfrm>
            <a:off x="3336459" y="5577929"/>
            <a:ext cx="2685395" cy="521196"/>
          </a:xfrm>
          <a:prstGeom prst="rect">
            <a:avLst/>
          </a:prstGeom>
          <a:noFill/>
          <a:ln>
            <a:miter lim="800000"/>
          </a:ln>
        </p:spPr>
        <p:txBody>
          <a:bodyPr wrap="square" lIns="0" tIns="0" rIns="0" bIns="0" rtlCol="0" anchor="ctr"/>
          <a:lstStyle/>
          <a:p>
            <a:pPr algn="ctr" fontAlgn="ctr">
              <a:lnSpc>
                <a:spcPts val="2052"/>
              </a:lnSpc>
            </a:pPr>
            <a:r>
              <a:rPr lang="en-US" sz="1500" kern="0" spc="-30" dirty="0">
                <a:solidFill>
                  <a:srgbClr val="FFFFFF">
                    <a:alpha val="80000"/>
                  </a:srgbClr>
                </a:solidFill>
                <a:latin typeface="Inter Medium" pitchFamily="34" charset="0"/>
                <a:ea typeface="Inter Medium" pitchFamily="34" charset="-122"/>
                <a:cs typeface="Inter Medium" pitchFamily="34" charset="-120"/>
              </a:rPr>
              <a:t>Ensemble learning for high-</a:t>
            </a:r>
            <a:br>
              <a:rPr lang="en-US" sz="1500" kern="0" spc="-30" dirty="0">
                <a:solidFill>
                  <a:srgbClr val="FFFFFF">
                    <a:alpha val="80000"/>
                  </a:srgbClr>
                </a:solidFill>
                <a:latin typeface="Inter Medium" pitchFamily="34" charset="0"/>
                <a:ea typeface="Inter Medium" pitchFamily="34" charset="-122"/>
                <a:cs typeface="Inter Medium" pitchFamily="34" charset="-120"/>
              </a:rPr>
            </a:br>
            <a:r>
              <a:rPr lang="en-US" sz="1500" kern="0" spc="-30" dirty="0">
                <a:solidFill>
                  <a:srgbClr val="FFFFFF">
                    <a:alpha val="80000"/>
                  </a:srgbClr>
                </a:solidFill>
                <a:latin typeface="Inter Medium" pitchFamily="34" charset="0"/>
                <a:ea typeface="Inter Medium" pitchFamily="34" charset="-122"/>
                <a:cs typeface="Inter Medium" pitchFamily="34" charset="-120"/>
              </a:rPr>
              <a:t>dimensional feature sets.</a:t>
            </a:r>
            <a:endParaRPr lang="en-US" dirty="0"/>
          </a:p>
        </p:txBody>
      </p:sp>
      <p:sp>
        <p:nvSpPr>
          <p:cNvPr id="16" name="Shape 12"/>
          <p:cNvSpPr/>
          <p:nvPr/>
        </p:nvSpPr>
        <p:spPr>
          <a:xfrm>
            <a:off x="6143625" y="1743075"/>
            <a:ext cx="2738438" cy="693738"/>
          </a:xfrm>
          <a:prstGeom prst="rect">
            <a:avLst/>
          </a:prstGeom>
          <a:solidFill>
            <a:srgbClr val="000000">
              <a:alpha val="0"/>
            </a:srgbClr>
          </a:solidFill>
          <a:ln>
            <a:miter lim="800000"/>
          </a:ln>
        </p:spPr>
        <p:txBody>
          <a:bodyPr/>
          <a:lstStyle/>
          <a:p>
            <a:endParaRPr lang="en-US" dirty="0"/>
          </a:p>
        </p:txBody>
      </p:sp>
      <p:sp>
        <p:nvSpPr>
          <p:cNvPr id="17" name="Text 13"/>
          <p:cNvSpPr/>
          <p:nvPr/>
        </p:nvSpPr>
        <p:spPr>
          <a:xfrm>
            <a:off x="6188735" y="1921147"/>
            <a:ext cx="2648218" cy="308183"/>
          </a:xfrm>
          <a:prstGeom prst="rect">
            <a:avLst/>
          </a:prstGeom>
          <a:noFill/>
          <a:ln>
            <a:miter lim="800000"/>
          </a:ln>
        </p:spPr>
        <p:txBody>
          <a:bodyPr wrap="square" lIns="0" tIns="0" rIns="0" bIns="0" rtlCol="0" anchor="ctr"/>
          <a:lstStyle/>
          <a:p>
            <a:pPr algn="ctr" fontAlgn="ctr">
              <a:lnSpc>
                <a:spcPts val="3672"/>
              </a:lnSpc>
            </a:pPr>
            <a:r>
              <a:rPr lang="en-US" sz="2060" kern="0" spc="-191" dirty="0">
                <a:solidFill>
                  <a:srgbClr val="FFFFFF"/>
                </a:solidFill>
                <a:latin typeface="Inter SemiBold" pitchFamily="34" charset="0"/>
                <a:ea typeface="Inter SemiBold" pitchFamily="34" charset="-122"/>
                <a:cs typeface="Inter SemiBold" pitchFamily="34" charset="-120"/>
              </a:rPr>
              <a:t>SVM Variants</a:t>
            </a:r>
            <a:endParaRPr lang="en-US" sz="2060" dirty="0"/>
          </a:p>
        </p:txBody>
      </p:sp>
      <p:sp>
        <p:nvSpPr>
          <p:cNvPr id="18" name="Shape 14"/>
          <p:cNvSpPr/>
          <p:nvPr/>
        </p:nvSpPr>
        <p:spPr>
          <a:xfrm>
            <a:off x="6143625" y="2532063"/>
            <a:ext cx="2738438" cy="2666206"/>
          </a:xfrm>
          <a:prstGeom prst="rect">
            <a:avLst/>
          </a:prstGeom>
          <a:solidFill>
            <a:srgbClr val="000000">
              <a:alpha val="0"/>
            </a:srgbClr>
          </a:solidFill>
          <a:ln>
            <a:miter lim="800000"/>
          </a:ln>
        </p:spPr>
        <p:txBody>
          <a:bodyPr/>
          <a:lstStyle/>
          <a:p>
            <a:endParaRPr lang="en-US" dirty="0"/>
          </a:p>
        </p:txBody>
      </p:sp>
      <p:pic>
        <p:nvPicPr>
          <p:cNvPr id="19" name="Image 2" descr="Graphical representation of a support vector machine margin separation"/>
          <p:cNvPicPr>
            <a:picLocks noChangeAspect="1"/>
          </p:cNvPicPr>
          <p:nvPr/>
        </p:nvPicPr>
        <p:blipFill>
          <a:blip r:embed="rId5"/>
          <a:srcRect t="1319" b="1319"/>
          <a:stretch/>
        </p:blipFill>
        <p:spPr>
          <a:xfrm>
            <a:off x="6143625" y="2532063"/>
            <a:ext cx="2738438" cy="2666206"/>
          </a:xfrm>
          <a:prstGeom prst="rect">
            <a:avLst/>
          </a:prstGeom>
        </p:spPr>
      </p:pic>
      <p:sp>
        <p:nvSpPr>
          <p:cNvPr id="20" name="Shape 15"/>
          <p:cNvSpPr/>
          <p:nvPr/>
        </p:nvSpPr>
        <p:spPr>
          <a:xfrm>
            <a:off x="6143625" y="5293519"/>
            <a:ext cx="2738438" cy="1088231"/>
          </a:xfrm>
          <a:prstGeom prst="rect">
            <a:avLst/>
          </a:prstGeom>
          <a:solidFill>
            <a:srgbClr val="000000">
              <a:alpha val="0"/>
            </a:srgbClr>
          </a:solidFill>
          <a:ln>
            <a:miter lim="800000"/>
          </a:ln>
        </p:spPr>
        <p:txBody>
          <a:bodyPr/>
          <a:lstStyle/>
          <a:p>
            <a:endParaRPr lang="en-US" dirty="0"/>
          </a:p>
        </p:txBody>
      </p:sp>
      <p:sp>
        <p:nvSpPr>
          <p:cNvPr id="21" name="Text 16"/>
          <p:cNvSpPr/>
          <p:nvPr/>
        </p:nvSpPr>
        <p:spPr>
          <a:xfrm>
            <a:off x="6127864" y="5444579"/>
            <a:ext cx="2769959" cy="781794"/>
          </a:xfrm>
          <a:prstGeom prst="rect">
            <a:avLst/>
          </a:prstGeom>
          <a:noFill/>
          <a:ln>
            <a:miter lim="800000"/>
          </a:ln>
        </p:spPr>
        <p:txBody>
          <a:bodyPr wrap="square" lIns="0" tIns="0" rIns="0" bIns="0" rtlCol="0" anchor="ctr"/>
          <a:lstStyle/>
          <a:p>
            <a:pPr algn="ctr" fontAlgn="ctr">
              <a:lnSpc>
                <a:spcPts val="2052"/>
              </a:lnSpc>
            </a:pPr>
            <a:r>
              <a:rPr lang="en-US" sz="1500" kern="0" spc="-30" dirty="0">
                <a:solidFill>
                  <a:srgbClr val="FFFFFF">
                    <a:alpha val="80000"/>
                  </a:srgbClr>
                </a:solidFill>
                <a:latin typeface="Inter Medium" pitchFamily="34" charset="0"/>
                <a:ea typeface="Inter Medium" pitchFamily="34" charset="-122"/>
                <a:cs typeface="Inter Medium" pitchFamily="34" charset="-120"/>
              </a:rPr>
              <a:t>Linear, RBF, and Poly kernels</a:t>
            </a:r>
            <a:br>
              <a:rPr lang="en-US" sz="1500" kern="0" spc="-30" dirty="0">
                <a:solidFill>
                  <a:srgbClr val="FFFFFF">
                    <a:alpha val="80000"/>
                  </a:srgbClr>
                </a:solidFill>
                <a:latin typeface="Inter Medium" pitchFamily="34" charset="0"/>
                <a:ea typeface="Inter Medium" pitchFamily="34" charset="-122"/>
                <a:cs typeface="Inter Medium" pitchFamily="34" charset="-120"/>
              </a:rPr>
            </a:br>
            <a:r>
              <a:rPr lang="en-US" sz="1500" kern="0" spc="-30" dirty="0">
                <a:solidFill>
                  <a:srgbClr val="FFFFFF">
                    <a:alpha val="80000"/>
                  </a:srgbClr>
                </a:solidFill>
                <a:latin typeface="Inter Medium" pitchFamily="34" charset="0"/>
                <a:ea typeface="Inter Medium" pitchFamily="34" charset="-122"/>
                <a:cs typeface="Inter Medium" pitchFamily="34" charset="-120"/>
              </a:rPr>
              <a:t>evaluated for optimal</a:t>
            </a:r>
            <a:br>
              <a:rPr lang="en-US" sz="1500" kern="0" spc="-30" dirty="0">
                <a:solidFill>
                  <a:srgbClr val="FFFFFF">
                    <a:alpha val="80000"/>
                  </a:srgbClr>
                </a:solidFill>
                <a:latin typeface="Inter Medium" pitchFamily="34" charset="0"/>
                <a:ea typeface="Inter Medium" pitchFamily="34" charset="-122"/>
                <a:cs typeface="Inter Medium" pitchFamily="34" charset="-120"/>
              </a:rPr>
            </a:br>
            <a:r>
              <a:rPr lang="en-US" sz="1500" kern="0" spc="-30" dirty="0">
                <a:solidFill>
                  <a:srgbClr val="FFFFFF">
                    <a:alpha val="80000"/>
                  </a:srgbClr>
                </a:solidFill>
                <a:latin typeface="Inter Medium" pitchFamily="34" charset="0"/>
                <a:ea typeface="Inter Medium" pitchFamily="34" charset="-122"/>
                <a:cs typeface="Inter Medium" pitchFamily="34" charset="-120"/>
              </a:rPr>
              <a:t>decision boundaries.</a:t>
            </a:r>
            <a:endParaRPr lang="en-US" dirty="0"/>
          </a:p>
        </p:txBody>
      </p:sp>
      <p:sp>
        <p:nvSpPr>
          <p:cNvPr id="22" name="Shape 17"/>
          <p:cNvSpPr/>
          <p:nvPr/>
        </p:nvSpPr>
        <p:spPr>
          <a:xfrm>
            <a:off x="8977313" y="1743075"/>
            <a:ext cx="2738438" cy="693738"/>
          </a:xfrm>
          <a:prstGeom prst="rect">
            <a:avLst/>
          </a:prstGeom>
          <a:solidFill>
            <a:srgbClr val="000000">
              <a:alpha val="0"/>
            </a:srgbClr>
          </a:solidFill>
          <a:ln>
            <a:miter lim="800000"/>
          </a:ln>
        </p:spPr>
        <p:txBody>
          <a:bodyPr/>
          <a:lstStyle/>
          <a:p>
            <a:endParaRPr lang="en-US" sz="2060" dirty="0"/>
          </a:p>
        </p:txBody>
      </p:sp>
      <p:sp>
        <p:nvSpPr>
          <p:cNvPr id="23" name="Text 18"/>
          <p:cNvSpPr/>
          <p:nvPr/>
        </p:nvSpPr>
        <p:spPr>
          <a:xfrm>
            <a:off x="9079453" y="2003700"/>
            <a:ext cx="2534156" cy="301675"/>
          </a:xfrm>
          <a:prstGeom prst="rect">
            <a:avLst/>
          </a:prstGeom>
          <a:noFill/>
          <a:ln>
            <a:miter lim="800000"/>
          </a:ln>
        </p:spPr>
        <p:txBody>
          <a:bodyPr wrap="square" lIns="0" tIns="0" rIns="0" bIns="0" rtlCol="0" anchor="ctr"/>
          <a:lstStyle/>
          <a:p>
            <a:pPr algn="ctr" fontAlgn="ctr">
              <a:lnSpc>
                <a:spcPts val="2376"/>
              </a:lnSpc>
            </a:pPr>
            <a:r>
              <a:rPr lang="en-US" sz="2063" kern="0" spc="-124" dirty="0">
                <a:solidFill>
                  <a:srgbClr val="FFFFFF"/>
                </a:solidFill>
                <a:latin typeface="Inter SemiBold" pitchFamily="34" charset="0"/>
                <a:ea typeface="Inter SemiBold" pitchFamily="34" charset="-122"/>
                <a:cs typeface="Inter SemiBold" pitchFamily="34" charset="-120"/>
              </a:rPr>
              <a:t>Feature Engineering</a:t>
            </a:r>
            <a:endParaRPr lang="en-US" dirty="0"/>
          </a:p>
        </p:txBody>
      </p:sp>
      <p:sp>
        <p:nvSpPr>
          <p:cNvPr id="24" name="Shape 19"/>
          <p:cNvSpPr/>
          <p:nvPr/>
        </p:nvSpPr>
        <p:spPr>
          <a:xfrm>
            <a:off x="8977313" y="2532063"/>
            <a:ext cx="2738438" cy="2666206"/>
          </a:xfrm>
          <a:prstGeom prst="rect">
            <a:avLst/>
          </a:prstGeom>
          <a:solidFill>
            <a:srgbClr val="000000">
              <a:alpha val="0"/>
            </a:srgbClr>
          </a:solidFill>
          <a:ln>
            <a:miter lim="800000"/>
          </a:ln>
        </p:spPr>
        <p:txBody>
          <a:bodyPr/>
          <a:lstStyle/>
          <a:p>
            <a:endParaRPr lang="en-US" dirty="0"/>
          </a:p>
        </p:txBody>
      </p:sp>
      <p:pic>
        <p:nvPicPr>
          <p:cNvPr id="25" name="Image 3" descr="Grid visualization representing feature extraction and data vectorization"/>
          <p:cNvPicPr>
            <a:picLocks noChangeAspect="1"/>
          </p:cNvPicPr>
          <p:nvPr/>
        </p:nvPicPr>
        <p:blipFill>
          <a:blip r:embed="rId6"/>
          <a:srcRect t="1319" b="1319"/>
          <a:stretch/>
        </p:blipFill>
        <p:spPr>
          <a:xfrm>
            <a:off x="8977313" y="2532063"/>
            <a:ext cx="2738438" cy="2666206"/>
          </a:xfrm>
          <a:prstGeom prst="rect">
            <a:avLst/>
          </a:prstGeom>
        </p:spPr>
      </p:pic>
      <p:sp>
        <p:nvSpPr>
          <p:cNvPr id="26" name="Shape 20"/>
          <p:cNvSpPr/>
          <p:nvPr/>
        </p:nvSpPr>
        <p:spPr>
          <a:xfrm>
            <a:off x="8977313" y="5293519"/>
            <a:ext cx="2738438" cy="1088231"/>
          </a:xfrm>
          <a:prstGeom prst="rect">
            <a:avLst/>
          </a:prstGeom>
          <a:solidFill>
            <a:srgbClr val="000000">
              <a:alpha val="0"/>
            </a:srgbClr>
          </a:solidFill>
          <a:ln>
            <a:miter lim="800000"/>
          </a:ln>
        </p:spPr>
        <p:txBody>
          <a:bodyPr/>
          <a:lstStyle/>
          <a:p>
            <a:endParaRPr lang="en-US" dirty="0"/>
          </a:p>
        </p:txBody>
      </p:sp>
      <p:sp>
        <p:nvSpPr>
          <p:cNvPr id="27" name="Text 21"/>
          <p:cNvSpPr/>
          <p:nvPr/>
        </p:nvSpPr>
        <p:spPr>
          <a:xfrm>
            <a:off x="8913584" y="5361295"/>
            <a:ext cx="2738438" cy="1032421"/>
          </a:xfrm>
          <a:prstGeom prst="rect">
            <a:avLst/>
          </a:prstGeom>
          <a:noFill/>
          <a:ln>
            <a:miter lim="800000"/>
          </a:ln>
        </p:spPr>
        <p:txBody>
          <a:bodyPr wrap="square" lIns="0" tIns="0" rIns="0" bIns="0" rtlCol="0" anchor="ctr"/>
          <a:lstStyle/>
          <a:p>
            <a:pPr algn="ctr" fontAlgn="ctr">
              <a:lnSpc>
                <a:spcPts val="2052"/>
              </a:lnSpc>
            </a:pPr>
            <a:r>
              <a:rPr lang="en-US" sz="1500" kern="0" spc="-30" dirty="0">
                <a:solidFill>
                  <a:srgbClr val="FFFFFF">
                    <a:alpha val="80000"/>
                  </a:srgbClr>
                </a:solidFill>
                <a:latin typeface="Inter Medium" pitchFamily="34" charset="0"/>
                <a:ea typeface="Inter Medium" pitchFamily="34" charset="-122"/>
                <a:cs typeface="Inter Medium" pitchFamily="34" charset="-120"/>
              </a:rPr>
              <a:t>Vague_term_density with Min_max scaler, TF-IDF transformation with</a:t>
            </a:r>
            <a:br>
              <a:rPr lang="en-US" sz="1500" kern="0" spc="-30" dirty="0">
                <a:solidFill>
                  <a:srgbClr val="FFFFFF">
                    <a:alpha val="80000"/>
                  </a:srgbClr>
                </a:solidFill>
                <a:latin typeface="Inter Medium" pitchFamily="34" charset="0"/>
                <a:ea typeface="Inter Medium" pitchFamily="34" charset="-122"/>
                <a:cs typeface="Inter Medium" pitchFamily="34" charset="-120"/>
              </a:rPr>
            </a:br>
            <a:r>
              <a:rPr lang="en-US" sz="1500" kern="0" spc="-30" dirty="0">
                <a:solidFill>
                  <a:srgbClr val="FFFFFF">
                    <a:alpha val="80000"/>
                  </a:srgbClr>
                </a:solidFill>
                <a:latin typeface="Inter Medium" pitchFamily="34" charset="0"/>
                <a:ea typeface="Inter Medium" pitchFamily="34" charset="-122"/>
                <a:cs typeface="Inter Medium" pitchFamily="34" charset="-120"/>
              </a:rPr>
              <a:t>max_features=1000 to</a:t>
            </a:r>
            <a:br>
              <a:rPr lang="en-US" sz="1500" kern="0" spc="-30" dirty="0">
                <a:solidFill>
                  <a:srgbClr val="FFFFFF">
                    <a:alpha val="80000"/>
                  </a:srgbClr>
                </a:solidFill>
                <a:latin typeface="Inter Medium" pitchFamily="34" charset="0"/>
                <a:ea typeface="Inter Medium" pitchFamily="34" charset="-122"/>
                <a:cs typeface="Inter Medium" pitchFamily="34" charset="-120"/>
              </a:rPr>
            </a:br>
            <a:r>
              <a:rPr lang="en-US" sz="1500" kern="0" spc="-30" dirty="0">
                <a:solidFill>
                  <a:srgbClr val="FFFFFF">
                    <a:alpha val="80000"/>
                  </a:srgbClr>
                </a:solidFill>
                <a:latin typeface="Inter Medium" pitchFamily="34" charset="0"/>
                <a:ea typeface="Inter Medium" pitchFamily="34" charset="-122"/>
                <a:cs typeface="Inter Medium" pitchFamily="34" charset="-120"/>
              </a:rPr>
              <a:t>prevent overfitting.</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42326" y="103882"/>
            <a:ext cx="11525250" cy="548580"/>
          </a:xfrm>
          <a:prstGeom prst="rect">
            <a:avLst/>
          </a:prstGeom>
          <a:noFill/>
          <a:ln>
            <a:miter lim="800000"/>
          </a:ln>
        </p:spPr>
        <p:txBody>
          <a:bodyPr wrap="square" lIns="0" tIns="0" rIns="0" bIns="0" rtlCol="0" anchor="t"/>
          <a:lstStyle/>
          <a:p>
            <a:pPr algn="ctr" fontAlgn="ctr">
              <a:lnSpc>
                <a:spcPts val="4320"/>
              </a:lnSpc>
            </a:pPr>
            <a:r>
              <a:rPr lang="en-US" sz="3000" kern="0" spc="-225" dirty="0">
                <a:solidFill>
                  <a:srgbClr val="FFFFFF"/>
                </a:solidFill>
                <a:latin typeface="Inter SemiBold" pitchFamily="34" charset="0"/>
                <a:ea typeface="Inter SemiBold" pitchFamily="34" charset="-122"/>
                <a:cs typeface="Inter SemiBold" pitchFamily="34" charset="-120"/>
              </a:rPr>
              <a:t>Evolution Setup</a:t>
            </a:r>
            <a:endParaRPr lang="en-US" sz="3000" dirty="0"/>
          </a:p>
        </p:txBody>
      </p:sp>
      <p:sp>
        <p:nvSpPr>
          <p:cNvPr id="18" name="Text 14"/>
          <p:cNvSpPr/>
          <p:nvPr/>
        </p:nvSpPr>
        <p:spPr>
          <a:xfrm>
            <a:off x="6198781" y="4352627"/>
            <a:ext cx="5485626" cy="724198"/>
          </a:xfrm>
          <a:prstGeom prst="rect">
            <a:avLst/>
          </a:prstGeom>
          <a:noFill/>
          <a:ln>
            <a:miter lim="800000"/>
          </a:ln>
        </p:spPr>
        <p:txBody>
          <a:bodyPr wrap="square" lIns="0" tIns="0" rIns="0" bIns="0" rtlCol="0" anchor="ctr"/>
          <a:lstStyle/>
          <a:p>
            <a:pPr algn="ctr" fontAlgn="ctr">
              <a:lnSpc>
                <a:spcPts val="1901"/>
              </a:lnSpc>
            </a:pPr>
            <a:endParaRPr lang="en-US" dirty="0"/>
          </a:p>
        </p:txBody>
      </p:sp>
      <p:cxnSp>
        <p:nvCxnSpPr>
          <p:cNvPr id="11" name="Straight Connector 10">
            <a:extLst>
              <a:ext uri="{FF2B5EF4-FFF2-40B4-BE49-F238E27FC236}">
                <a16:creationId xmlns:a16="http://schemas.microsoft.com/office/drawing/2014/main" id="{0FE3EB02-BA9D-C1AA-42DF-DE6E39753457}"/>
              </a:ext>
            </a:extLst>
          </p:cNvPr>
          <p:cNvCxnSpPr>
            <a:cxnSpLocks/>
          </p:cNvCxnSpPr>
          <p:nvPr/>
        </p:nvCxnSpPr>
        <p:spPr>
          <a:xfrm>
            <a:off x="5542428" y="1134035"/>
            <a:ext cx="0" cy="2608729"/>
          </a:xfrm>
          <a:prstGeom prst="line">
            <a:avLst/>
          </a:prstGeom>
          <a:ln/>
        </p:spPr>
        <p:style>
          <a:lnRef idx="3">
            <a:schemeClr val="accent3"/>
          </a:lnRef>
          <a:fillRef idx="0">
            <a:schemeClr val="accent3"/>
          </a:fillRef>
          <a:effectRef idx="2">
            <a:schemeClr val="accent3"/>
          </a:effectRef>
          <a:fontRef idx="minor">
            <a:schemeClr val="tx1"/>
          </a:fontRef>
        </p:style>
      </p:cxnSp>
      <p:sp>
        <p:nvSpPr>
          <p:cNvPr id="12" name="TextBox 11">
            <a:extLst>
              <a:ext uri="{FF2B5EF4-FFF2-40B4-BE49-F238E27FC236}">
                <a16:creationId xmlns:a16="http://schemas.microsoft.com/office/drawing/2014/main" id="{134ECF86-C8E1-1A35-22CF-9358B56E55DE}"/>
              </a:ext>
            </a:extLst>
          </p:cNvPr>
          <p:cNvSpPr txBox="1"/>
          <p:nvPr/>
        </p:nvSpPr>
        <p:spPr>
          <a:xfrm>
            <a:off x="627529" y="1102659"/>
            <a:ext cx="4114799" cy="1938992"/>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Stage -1 : Hold-Out Test Set</a:t>
            </a:r>
          </a:p>
          <a:p>
            <a:pPr marL="285750" indent="-285750">
              <a:buFont typeface="Arial" panose="020B0604020202020204" pitchFamily="34" charset="0"/>
              <a:buChar char="•"/>
            </a:pPr>
            <a:endParaRPr lang="en-US" dirty="0">
              <a:solidFill>
                <a:schemeClr val="bg1"/>
              </a:solidFill>
            </a:endParaRPr>
          </a:p>
          <a:p>
            <a:pPr lvl="1"/>
            <a:r>
              <a:rPr lang="en-US" sz="1400" dirty="0">
                <a:solidFill>
                  <a:schemeClr val="bg1"/>
                </a:solidFill>
              </a:rPr>
              <a:t>Reserved 147 issues from our dataset of 525 as a completely unseen test set. The remaining 378 issues were used for training. This provides a realistic picture of how the model would perform on new, unseen data.</a:t>
            </a:r>
          </a:p>
          <a:p>
            <a:pPr lvl="1"/>
            <a:endParaRPr lang="en-US" sz="1400" dirty="0">
              <a:solidFill>
                <a:schemeClr val="bg1"/>
              </a:solidFill>
            </a:endParaRPr>
          </a:p>
        </p:txBody>
      </p:sp>
      <p:sp>
        <p:nvSpPr>
          <p:cNvPr id="14" name="TextBox 13">
            <a:extLst>
              <a:ext uri="{FF2B5EF4-FFF2-40B4-BE49-F238E27FC236}">
                <a16:creationId xmlns:a16="http://schemas.microsoft.com/office/drawing/2014/main" id="{637E1675-8D25-526B-155F-00EF508E0850}"/>
              </a:ext>
            </a:extLst>
          </p:cNvPr>
          <p:cNvSpPr txBox="1"/>
          <p:nvPr/>
        </p:nvSpPr>
        <p:spPr>
          <a:xfrm>
            <a:off x="6037729" y="1053542"/>
            <a:ext cx="5785877" cy="2154436"/>
          </a:xfrm>
          <a:prstGeom prst="rect">
            <a:avLst/>
          </a:prstGeom>
          <a:noFill/>
        </p:spPr>
        <p:txBody>
          <a:bodyPr wrap="square" rtlCol="0">
            <a:spAutoFit/>
          </a:bodyPr>
          <a:lstStyle/>
          <a:p>
            <a:pPr marL="285750" lvl="0" indent="-285750">
              <a:buFont typeface="Arial" panose="020B0604020202020204" pitchFamily="34" charset="0"/>
              <a:buChar char="•"/>
            </a:pPr>
            <a:r>
              <a:rPr lang="en-US" dirty="0">
                <a:solidFill>
                  <a:schemeClr val="bg1"/>
                </a:solidFill>
              </a:rPr>
              <a:t>Stage 2: Cross-Validation for Robustness</a:t>
            </a:r>
            <a:br>
              <a:rPr lang="en-US" dirty="0"/>
            </a:br>
            <a:endParaRPr lang="en-US" dirty="0"/>
          </a:p>
          <a:p>
            <a:pPr marL="742950" lvl="1" indent="-285750">
              <a:buFont typeface="Arial" panose="020B0604020202020204" pitchFamily="34" charset="0"/>
              <a:buChar char="•"/>
            </a:pPr>
            <a:r>
              <a:rPr lang="en-US" sz="1400" dirty="0">
                <a:solidFill>
                  <a:schemeClr val="bg1"/>
                </a:solidFill>
              </a:rPr>
              <a:t>5-fold stratified cross-validation on the training data. This means we split the 378 training issues into 5 different groups, training on 4 groups and testing on the 5th, repeating the process 5 times. Each issue gets tested exactly once, and average the results.</a:t>
            </a:r>
          </a:p>
          <a:p>
            <a:pPr marL="742950" lvl="1" indent="-285750">
              <a:buFont typeface="Arial" panose="020B0604020202020204" pitchFamily="34" charset="0"/>
              <a:buChar char="•"/>
            </a:pPr>
            <a:endParaRPr lang="en-US" sz="1400" dirty="0">
              <a:solidFill>
                <a:schemeClr val="bg1"/>
              </a:solidFill>
            </a:endParaRPr>
          </a:p>
          <a:p>
            <a:pPr marL="742950" lvl="1" indent="-285750">
              <a:buFont typeface="Arial" panose="020B0604020202020204" pitchFamily="34" charset="0"/>
              <a:buChar char="•"/>
            </a:pPr>
            <a:r>
              <a:rPr lang="en-US" sz="1400" dirty="0">
                <a:solidFill>
                  <a:schemeClr val="bg1"/>
                </a:solidFill>
              </a:rPr>
              <a:t>Detects overfitting The average across 5 folds gives us a truer picture of how the model will perform in production.</a:t>
            </a:r>
          </a:p>
        </p:txBody>
      </p:sp>
      <p:sp>
        <p:nvSpPr>
          <p:cNvPr id="17" name="TextBox 16">
            <a:extLst>
              <a:ext uri="{FF2B5EF4-FFF2-40B4-BE49-F238E27FC236}">
                <a16:creationId xmlns:a16="http://schemas.microsoft.com/office/drawing/2014/main" id="{EF87658D-8A4B-03D9-2FD3-9EBA7E2CACB6}"/>
              </a:ext>
            </a:extLst>
          </p:cNvPr>
          <p:cNvSpPr txBox="1"/>
          <p:nvPr/>
        </p:nvSpPr>
        <p:spPr>
          <a:xfrm>
            <a:off x="627529" y="3988387"/>
            <a:ext cx="10614212" cy="369332"/>
          </a:xfrm>
          <a:prstGeom prst="rect">
            <a:avLst/>
          </a:prstGeom>
          <a:noFill/>
        </p:spPr>
        <p:txBody>
          <a:bodyPr wrap="square" rtlCol="0">
            <a:spAutoFit/>
          </a:bodyPr>
          <a:lstStyle/>
          <a:p>
            <a:pPr marL="285750" lvl="0" indent="-285750">
              <a:buFont typeface="Arial" panose="020B0604020202020204" pitchFamily="34" charset="0"/>
              <a:buChar char="•"/>
            </a:pPr>
            <a:r>
              <a:rPr lang="en-US" b="1" dirty="0">
                <a:solidFill>
                  <a:schemeClr val="bg1"/>
                </a:solidFill>
              </a:rPr>
              <a:t>Overfitting Prevention Measures:</a:t>
            </a:r>
            <a:r>
              <a:rPr lang="en-US" dirty="0">
                <a:solidFill>
                  <a:schemeClr val="bg1"/>
                </a:solidFill>
              </a:rPr>
              <a:t> </a:t>
            </a:r>
            <a:endParaRPr lang="en-US" sz="1400" dirty="0">
              <a:solidFill>
                <a:schemeClr val="bg1"/>
              </a:solidFill>
            </a:endParaRPr>
          </a:p>
        </p:txBody>
      </p:sp>
      <p:graphicFrame>
        <p:nvGraphicFramePr>
          <p:cNvPr id="26" name="Table 25">
            <a:extLst>
              <a:ext uri="{FF2B5EF4-FFF2-40B4-BE49-F238E27FC236}">
                <a16:creationId xmlns:a16="http://schemas.microsoft.com/office/drawing/2014/main" id="{32D53222-3B45-85FA-861C-3FF436CC28A6}"/>
              </a:ext>
            </a:extLst>
          </p:cNvPr>
          <p:cNvGraphicFramePr>
            <a:graphicFrameLocks noGrp="1"/>
          </p:cNvGraphicFramePr>
          <p:nvPr>
            <p:extLst>
              <p:ext uri="{D42A27DB-BD31-4B8C-83A1-F6EECF244321}">
                <p14:modId xmlns:p14="http://schemas.microsoft.com/office/powerpoint/2010/main" val="2898311893"/>
              </p:ext>
            </p:extLst>
          </p:nvPr>
        </p:nvGraphicFramePr>
        <p:xfrm>
          <a:off x="1924422" y="4569130"/>
          <a:ext cx="6296213" cy="2087880"/>
        </p:xfrm>
        <a:graphic>
          <a:graphicData uri="http://schemas.openxmlformats.org/drawingml/2006/table">
            <a:tbl>
              <a:tblPr firstRow="1" bandRow="1">
                <a:tableStyleId>{5C22544A-7EE6-4342-B048-85BDC9FD1C3A}</a:tableStyleId>
              </a:tblPr>
              <a:tblGrid>
                <a:gridCol w="1329766">
                  <a:extLst>
                    <a:ext uri="{9D8B030D-6E8A-4147-A177-3AD203B41FA5}">
                      <a16:colId xmlns:a16="http://schemas.microsoft.com/office/drawing/2014/main" val="3219906069"/>
                    </a:ext>
                  </a:extLst>
                </a:gridCol>
                <a:gridCol w="2017059">
                  <a:extLst>
                    <a:ext uri="{9D8B030D-6E8A-4147-A177-3AD203B41FA5}">
                      <a16:colId xmlns:a16="http://schemas.microsoft.com/office/drawing/2014/main" val="1804900422"/>
                    </a:ext>
                  </a:extLst>
                </a:gridCol>
                <a:gridCol w="2949388">
                  <a:extLst>
                    <a:ext uri="{9D8B030D-6E8A-4147-A177-3AD203B41FA5}">
                      <a16:colId xmlns:a16="http://schemas.microsoft.com/office/drawing/2014/main" val="4197324903"/>
                    </a:ext>
                  </a:extLst>
                </a:gridCol>
              </a:tblGrid>
              <a:tr h="0">
                <a:tc>
                  <a:txBody>
                    <a:bodyPr/>
                    <a:lstStyle/>
                    <a:p>
                      <a:pPr algn="ctr"/>
                      <a:r>
                        <a:rPr lang="en-US" sz="1100" b="1" dirty="0">
                          <a:latin typeface="+mj-lt"/>
                        </a:rPr>
                        <a:t>Parameter</a:t>
                      </a:r>
                    </a:p>
                  </a:txBody>
                  <a:tcPr/>
                </a:tc>
                <a:tc>
                  <a:txBody>
                    <a:bodyPr/>
                    <a:lstStyle/>
                    <a:p>
                      <a:pPr algn="ctr"/>
                      <a:r>
                        <a:rPr lang="en-US" sz="1100" b="1" dirty="0">
                          <a:latin typeface="+mj-lt"/>
                        </a:rPr>
                        <a:t>Value</a:t>
                      </a:r>
                    </a:p>
                  </a:txBody>
                  <a:tcPr/>
                </a:tc>
                <a:tc>
                  <a:txBody>
                    <a:bodyPr/>
                    <a:lstStyle/>
                    <a:p>
                      <a:pPr algn="ctr"/>
                      <a:r>
                        <a:rPr lang="en-US" sz="1100" b="1" dirty="0">
                          <a:latin typeface="+mj-lt"/>
                        </a:rPr>
                        <a:t>Purpose</a:t>
                      </a:r>
                    </a:p>
                  </a:txBody>
                  <a:tcPr/>
                </a:tc>
                <a:extLst>
                  <a:ext uri="{0D108BD9-81ED-4DB2-BD59-A6C34878D82A}">
                    <a16:rowId xmlns:a16="http://schemas.microsoft.com/office/drawing/2014/main" val="2984489961"/>
                  </a:ext>
                </a:extLst>
              </a:tr>
              <a:tr h="0">
                <a:tc>
                  <a:txBody>
                    <a:bodyPr/>
                    <a:lstStyle/>
                    <a:p>
                      <a:pPr algn="l">
                        <a:buNone/>
                      </a:pPr>
                      <a:r>
                        <a:rPr lang="en-US" sz="1000" b="1" i="0" dirty="0">
                          <a:solidFill>
                            <a:srgbClr val="475569"/>
                          </a:solidFill>
                          <a:effectLst/>
                          <a:latin typeface="+mj-lt"/>
                        </a:rPr>
                        <a:t>max_features</a:t>
                      </a:r>
                      <a:endParaRPr lang="en-US" sz="1000" b="0" i="0" dirty="0">
                        <a:solidFill>
                          <a:srgbClr val="475569"/>
                        </a:solidFill>
                        <a:effectLst/>
                        <a:latin typeface="+mj-lt"/>
                      </a:endParaRPr>
                    </a:p>
                  </a:txBody>
                  <a:tcPr marL="190500" marR="190500" marT="152400" marB="152400" anchor="ctr"/>
                </a:tc>
                <a:tc>
                  <a:txBody>
                    <a:bodyPr/>
                    <a:lstStyle/>
                    <a:p>
                      <a:pPr algn="l">
                        <a:buNone/>
                      </a:pPr>
                      <a:r>
                        <a:rPr lang="en-US" sz="1000" b="0" i="0" dirty="0">
                          <a:solidFill>
                            <a:srgbClr val="475569"/>
                          </a:solidFill>
                          <a:effectLst/>
                          <a:latin typeface="+mj-lt"/>
                        </a:rPr>
                        <a:t>1,000 (TF-IDF)</a:t>
                      </a:r>
                    </a:p>
                  </a:txBody>
                  <a:tcPr marL="190500" marR="190500" marT="152400" marB="152400" anchor="ctr"/>
                </a:tc>
                <a:tc>
                  <a:txBody>
                    <a:bodyPr/>
                    <a:lstStyle/>
                    <a:p>
                      <a:pPr algn="l">
                        <a:buNone/>
                      </a:pPr>
                      <a:r>
                        <a:rPr lang="en-US" sz="1000" b="0" i="0" dirty="0">
                          <a:solidFill>
                            <a:srgbClr val="475569"/>
                          </a:solidFill>
                          <a:effectLst/>
                          <a:latin typeface="+mj-lt"/>
                        </a:rPr>
                        <a:t>Prevents memorization of rare, noisy jargon.</a:t>
                      </a:r>
                    </a:p>
                  </a:txBody>
                  <a:tcPr marL="190500" marR="190500" marT="152400" marB="152400" anchor="ctr"/>
                </a:tc>
                <a:extLst>
                  <a:ext uri="{0D108BD9-81ED-4DB2-BD59-A6C34878D82A}">
                    <a16:rowId xmlns:a16="http://schemas.microsoft.com/office/drawing/2014/main" val="828404402"/>
                  </a:ext>
                </a:extLst>
              </a:tr>
              <a:tr h="0">
                <a:tc>
                  <a:txBody>
                    <a:bodyPr/>
                    <a:lstStyle/>
                    <a:p>
                      <a:pPr algn="l">
                        <a:buNone/>
                      </a:pPr>
                      <a:r>
                        <a:rPr lang="en-US" sz="1000" b="1" i="0" dirty="0">
                          <a:solidFill>
                            <a:srgbClr val="475569"/>
                          </a:solidFill>
                          <a:effectLst/>
                          <a:latin typeface="+mj-lt"/>
                        </a:rPr>
                        <a:t>sublinear_tf</a:t>
                      </a:r>
                      <a:endParaRPr lang="en-US" sz="1000" b="0" i="0" dirty="0">
                        <a:solidFill>
                          <a:srgbClr val="475569"/>
                        </a:solidFill>
                        <a:effectLst/>
                        <a:latin typeface="+mj-lt"/>
                      </a:endParaRPr>
                    </a:p>
                  </a:txBody>
                  <a:tcPr marL="190500" marR="190500" marT="152400" marB="152400" anchor="ctr"/>
                </a:tc>
                <a:tc>
                  <a:txBody>
                    <a:bodyPr/>
                    <a:lstStyle/>
                    <a:p>
                      <a:pPr algn="l">
                        <a:buNone/>
                      </a:pPr>
                      <a:r>
                        <a:rPr lang="en-US" sz="1000" b="0" i="0" dirty="0">
                          <a:solidFill>
                            <a:srgbClr val="475569"/>
                          </a:solidFill>
                          <a:effectLst/>
                          <a:latin typeface="+mj-lt"/>
                        </a:rPr>
                        <a:t>True</a:t>
                      </a:r>
                    </a:p>
                  </a:txBody>
                  <a:tcPr marL="190500" marR="190500" marT="152400" marB="152400" anchor="ctr"/>
                </a:tc>
                <a:tc>
                  <a:txBody>
                    <a:bodyPr/>
                    <a:lstStyle/>
                    <a:p>
                      <a:pPr algn="l">
                        <a:buNone/>
                      </a:pPr>
                      <a:r>
                        <a:rPr lang="en-US" sz="1000" b="0" i="0" dirty="0">
                          <a:solidFill>
                            <a:srgbClr val="475569"/>
                          </a:solidFill>
                          <a:effectLst/>
                          <a:latin typeface="+mj-lt"/>
                        </a:rPr>
                        <a:t>Dampens logarithmic impact of frequent terms.</a:t>
                      </a:r>
                    </a:p>
                  </a:txBody>
                  <a:tcPr marL="190500" marR="190500" marT="152400" marB="152400" anchor="ctr"/>
                </a:tc>
                <a:extLst>
                  <a:ext uri="{0D108BD9-81ED-4DB2-BD59-A6C34878D82A}">
                    <a16:rowId xmlns:a16="http://schemas.microsoft.com/office/drawing/2014/main" val="3985235037"/>
                  </a:ext>
                </a:extLst>
              </a:tr>
              <a:tr h="0">
                <a:tc>
                  <a:txBody>
                    <a:bodyPr/>
                    <a:lstStyle/>
                    <a:p>
                      <a:pPr algn="l">
                        <a:buNone/>
                      </a:pPr>
                      <a:r>
                        <a:rPr lang="en-US" sz="1000" b="1" i="0" dirty="0">
                          <a:solidFill>
                            <a:srgbClr val="475569"/>
                          </a:solidFill>
                          <a:effectLst/>
                          <a:latin typeface="+mj-lt"/>
                        </a:rPr>
                        <a:t>class_weight</a:t>
                      </a:r>
                      <a:endParaRPr lang="en-US" sz="1000" b="0" i="0" dirty="0">
                        <a:solidFill>
                          <a:srgbClr val="475569"/>
                        </a:solidFill>
                        <a:effectLst/>
                        <a:latin typeface="+mj-lt"/>
                      </a:endParaRPr>
                    </a:p>
                  </a:txBody>
                  <a:tcPr marL="190500" marR="190500" marT="152400" marB="152400" anchor="ctr"/>
                </a:tc>
                <a:tc>
                  <a:txBody>
                    <a:bodyPr/>
                    <a:lstStyle/>
                    <a:p>
                      <a:pPr algn="l">
                        <a:buNone/>
                      </a:pPr>
                      <a:r>
                        <a:rPr lang="en-US" sz="1000" b="0" i="0" dirty="0">
                          <a:solidFill>
                            <a:srgbClr val="475569"/>
                          </a:solidFill>
                          <a:effectLst/>
                          <a:latin typeface="+mj-lt"/>
                        </a:rPr>
                        <a:t>Balanced</a:t>
                      </a:r>
                    </a:p>
                  </a:txBody>
                  <a:tcPr marL="190500" marR="190500" marT="152400" marB="152400" anchor="ctr"/>
                </a:tc>
                <a:tc>
                  <a:txBody>
                    <a:bodyPr/>
                    <a:lstStyle/>
                    <a:p>
                      <a:pPr algn="l">
                        <a:buNone/>
                      </a:pPr>
                      <a:r>
                        <a:rPr lang="en-US" sz="1000" b="0" i="0" dirty="0">
                          <a:solidFill>
                            <a:srgbClr val="475569"/>
                          </a:solidFill>
                          <a:effectLst/>
                          <a:latin typeface="+mj-lt"/>
                        </a:rPr>
                        <a:t>Penalizes minority class misclassification.</a:t>
                      </a:r>
                    </a:p>
                  </a:txBody>
                  <a:tcPr marL="190500" marR="190500" marT="152400" marB="152400" anchor="ctr"/>
                </a:tc>
                <a:extLst>
                  <a:ext uri="{0D108BD9-81ED-4DB2-BD59-A6C34878D82A}">
                    <a16:rowId xmlns:a16="http://schemas.microsoft.com/office/drawing/2014/main" val="897773969"/>
                  </a:ext>
                </a:extLst>
              </a:tr>
              <a:tr h="0">
                <a:tc>
                  <a:txBody>
                    <a:bodyPr/>
                    <a:lstStyle/>
                    <a:p>
                      <a:pPr algn="l">
                        <a:buNone/>
                      </a:pPr>
                      <a:r>
                        <a:rPr lang="en-US" sz="1000" b="1" i="0" dirty="0">
                          <a:solidFill>
                            <a:srgbClr val="475569"/>
                          </a:solidFill>
                          <a:effectLst/>
                          <a:latin typeface="+mj-lt"/>
                        </a:rPr>
                        <a:t>SMOTE</a:t>
                      </a:r>
                      <a:endParaRPr lang="en-US" sz="1000" b="0" i="0" dirty="0">
                        <a:solidFill>
                          <a:srgbClr val="475569"/>
                        </a:solidFill>
                        <a:effectLst/>
                        <a:latin typeface="+mj-lt"/>
                      </a:endParaRPr>
                    </a:p>
                  </a:txBody>
                  <a:tcPr marL="190500" marR="190500" marT="152400" marB="152400" anchor="ctr"/>
                </a:tc>
                <a:tc>
                  <a:txBody>
                    <a:bodyPr/>
                    <a:lstStyle/>
                    <a:p>
                      <a:pPr algn="l">
                        <a:buNone/>
                      </a:pPr>
                      <a:r>
                        <a:rPr lang="en-US" sz="1000" b="0" i="0" dirty="0">
                          <a:solidFill>
                            <a:srgbClr val="475569"/>
                          </a:solidFill>
                          <a:effectLst/>
                          <a:latin typeface="+mj-lt"/>
                        </a:rPr>
                        <a:t>Synthetic Oversampling</a:t>
                      </a:r>
                    </a:p>
                  </a:txBody>
                  <a:tcPr marL="190500" marR="190500" marT="152400" marB="152400" anchor="ctr"/>
                </a:tc>
                <a:tc>
                  <a:txBody>
                    <a:bodyPr/>
                    <a:lstStyle/>
                    <a:p>
                      <a:pPr algn="l">
                        <a:buNone/>
                      </a:pPr>
                      <a:r>
                        <a:rPr lang="en-US" sz="1000" b="0" i="0" dirty="0">
                          <a:solidFill>
                            <a:srgbClr val="475569"/>
                          </a:solidFill>
                          <a:effectLst/>
                          <a:latin typeface="+mj-lt"/>
                        </a:rPr>
                        <a:t>Ensures balanced representation across targets.</a:t>
                      </a:r>
                    </a:p>
                  </a:txBody>
                  <a:tcPr marL="190500" marR="190500" marT="152400" marB="152400" anchor="ctr"/>
                </a:tc>
                <a:extLst>
                  <a:ext uri="{0D108BD9-81ED-4DB2-BD59-A6C34878D82A}">
                    <a16:rowId xmlns:a16="http://schemas.microsoft.com/office/drawing/2014/main" val="30309863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BB33D-9434-59E6-F7D1-8C40106965E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9E7AC23-E11C-8CBE-99B3-4072F174E1AF}"/>
              </a:ext>
            </a:extLst>
          </p:cNvPr>
          <p:cNvSpPr/>
          <p:nvPr/>
        </p:nvSpPr>
        <p:spPr>
          <a:xfrm>
            <a:off x="285751" y="136952"/>
            <a:ext cx="11525250" cy="548580"/>
          </a:xfrm>
          <a:prstGeom prst="rect">
            <a:avLst/>
          </a:prstGeom>
          <a:noFill/>
          <a:ln>
            <a:miter lim="800000"/>
          </a:ln>
        </p:spPr>
        <p:txBody>
          <a:bodyPr wrap="square" lIns="0" tIns="0" rIns="0" bIns="0" rtlCol="0" anchor="t"/>
          <a:lstStyle/>
          <a:p>
            <a:pPr algn="ctr" fontAlgn="ctr">
              <a:lnSpc>
                <a:spcPts val="4320"/>
              </a:lnSpc>
            </a:pPr>
            <a:r>
              <a:rPr lang="en-US" sz="3000" kern="0" spc="-225" dirty="0">
                <a:solidFill>
                  <a:srgbClr val="FFFFFF"/>
                </a:solidFill>
                <a:latin typeface="Inter SemiBold" pitchFamily="34" charset="0"/>
                <a:ea typeface="Inter SemiBold" pitchFamily="34" charset="-122"/>
                <a:cs typeface="Inter SemiBold" pitchFamily="34" charset="-120"/>
              </a:rPr>
              <a:t>Model Performance Results</a:t>
            </a:r>
            <a:endParaRPr lang="en-US" sz="3000" dirty="0"/>
          </a:p>
        </p:txBody>
      </p:sp>
      <p:sp>
        <p:nvSpPr>
          <p:cNvPr id="18" name="Text 14">
            <a:extLst>
              <a:ext uri="{FF2B5EF4-FFF2-40B4-BE49-F238E27FC236}">
                <a16:creationId xmlns:a16="http://schemas.microsoft.com/office/drawing/2014/main" id="{73031B52-81F9-0522-8871-75E6B165AAF0}"/>
              </a:ext>
            </a:extLst>
          </p:cNvPr>
          <p:cNvSpPr/>
          <p:nvPr/>
        </p:nvSpPr>
        <p:spPr>
          <a:xfrm>
            <a:off x="6198781" y="4352627"/>
            <a:ext cx="5485626" cy="724198"/>
          </a:xfrm>
          <a:prstGeom prst="rect">
            <a:avLst/>
          </a:prstGeom>
          <a:noFill/>
          <a:ln>
            <a:miter lim="800000"/>
          </a:ln>
        </p:spPr>
        <p:txBody>
          <a:bodyPr wrap="square" lIns="0" tIns="0" rIns="0" bIns="0" rtlCol="0" anchor="ctr"/>
          <a:lstStyle/>
          <a:p>
            <a:pPr algn="ctr" fontAlgn="ctr">
              <a:lnSpc>
                <a:spcPts val="1901"/>
              </a:lnSpc>
            </a:pPr>
            <a:endParaRPr lang="en-US" dirty="0"/>
          </a:p>
        </p:txBody>
      </p:sp>
      <p:sp>
        <p:nvSpPr>
          <p:cNvPr id="19" name="Shape 15">
            <a:extLst>
              <a:ext uri="{FF2B5EF4-FFF2-40B4-BE49-F238E27FC236}">
                <a16:creationId xmlns:a16="http://schemas.microsoft.com/office/drawing/2014/main" id="{263C3149-2C50-1FDD-3B4F-C0E3718EA700}"/>
              </a:ext>
            </a:extLst>
          </p:cNvPr>
          <p:cNvSpPr/>
          <p:nvPr/>
        </p:nvSpPr>
        <p:spPr>
          <a:xfrm>
            <a:off x="0" y="6134100"/>
            <a:ext cx="12192000" cy="723900"/>
          </a:xfrm>
          <a:prstGeom prst="rect">
            <a:avLst/>
          </a:prstGeom>
          <a:solidFill>
            <a:srgbClr val="222222"/>
          </a:solidFill>
          <a:ln>
            <a:miter lim="800000"/>
          </a:ln>
        </p:spPr>
        <p:txBody>
          <a:bodyPr/>
          <a:lstStyle/>
          <a:p>
            <a:endParaRPr lang="en-US" dirty="0"/>
          </a:p>
        </p:txBody>
      </p:sp>
      <p:sp>
        <p:nvSpPr>
          <p:cNvPr id="20" name="Text 16">
            <a:extLst>
              <a:ext uri="{FF2B5EF4-FFF2-40B4-BE49-F238E27FC236}">
                <a16:creationId xmlns:a16="http://schemas.microsoft.com/office/drawing/2014/main" id="{1C8EF033-AD48-890D-0B44-7EEC1DBE9715}"/>
              </a:ext>
            </a:extLst>
          </p:cNvPr>
          <p:cNvSpPr/>
          <p:nvPr/>
        </p:nvSpPr>
        <p:spPr>
          <a:xfrm>
            <a:off x="0" y="6376690"/>
            <a:ext cx="11811001" cy="241399"/>
          </a:xfrm>
          <a:prstGeom prst="rect">
            <a:avLst/>
          </a:prstGeom>
          <a:noFill/>
          <a:ln>
            <a:miter lim="800000"/>
          </a:ln>
        </p:spPr>
        <p:txBody>
          <a:bodyPr wrap="square" lIns="0" tIns="0" rIns="0" bIns="0" rtlCol="0" anchor="ctr"/>
          <a:lstStyle/>
          <a:p>
            <a:pPr algn="ctr" fontAlgn="ctr">
              <a:lnSpc>
                <a:spcPts val="1901"/>
              </a:lnSpc>
            </a:pPr>
            <a:r>
              <a:rPr lang="en-US" sz="1650" kern="0" spc="-99" dirty="0">
                <a:solidFill>
                  <a:srgbClr val="FFFFFF"/>
                </a:solidFill>
                <a:latin typeface="Inter SemiBold" pitchFamily="34" charset="0"/>
                <a:ea typeface="Inter SemiBold" pitchFamily="34" charset="-122"/>
                <a:cs typeface="Inter SemiBold" pitchFamily="34" charset="-120"/>
              </a:rPr>
              <a:t>Logistic Regression model outperformed other candidates with high accuracy, F1 Score  &amp; low FP, demonstrating that the underlying text features are highly linearly separable.</a:t>
            </a:r>
            <a:endParaRPr lang="en-US" sz="1600" dirty="0"/>
          </a:p>
        </p:txBody>
      </p:sp>
      <p:sp>
        <p:nvSpPr>
          <p:cNvPr id="4" name="TextBox 3">
            <a:extLst>
              <a:ext uri="{FF2B5EF4-FFF2-40B4-BE49-F238E27FC236}">
                <a16:creationId xmlns:a16="http://schemas.microsoft.com/office/drawing/2014/main" id="{5F2A65F2-BF6C-5EFC-49A6-0DD60E9FF017}"/>
              </a:ext>
            </a:extLst>
          </p:cNvPr>
          <p:cNvSpPr txBox="1"/>
          <p:nvPr/>
        </p:nvSpPr>
        <p:spPr>
          <a:xfrm>
            <a:off x="317704" y="2935039"/>
            <a:ext cx="11351032" cy="2893100"/>
          </a:xfrm>
          <a:prstGeom prst="rect">
            <a:avLst/>
          </a:prstGeom>
          <a:noFill/>
        </p:spPr>
        <p:txBody>
          <a:bodyPr wrap="square" rtlCol="0">
            <a:spAutoFit/>
          </a:bodyPr>
          <a:lstStyle/>
          <a:p>
            <a:endParaRPr lang="en-US" b="1" dirty="0">
              <a:solidFill>
                <a:schemeClr val="bg1"/>
              </a:solidFill>
            </a:endParaRPr>
          </a:p>
          <a:p>
            <a:r>
              <a:rPr lang="en-US" b="1" dirty="0">
                <a:solidFill>
                  <a:schemeClr val="bg1"/>
                </a:solidFill>
              </a:rPr>
              <a:t>Model Performance Highlights</a:t>
            </a:r>
          </a:p>
          <a:p>
            <a:r>
              <a:rPr lang="en-US" b="1" dirty="0">
                <a:solidFill>
                  <a:schemeClr val="bg1"/>
                </a:solidFill>
              </a:rPr>
              <a:t>	</a:t>
            </a:r>
          </a:p>
          <a:p>
            <a:pPr marL="285750" lvl="0" indent="-285750">
              <a:buFont typeface="Arial" panose="020B0604020202020204" pitchFamily="34" charset="0"/>
              <a:buChar char="•"/>
            </a:pPr>
            <a:r>
              <a:rPr lang="en-US" sz="1400" b="1" dirty="0">
                <a:solidFill>
                  <a:schemeClr val="bg1"/>
                </a:solidFill>
              </a:rPr>
              <a:t>Best Performing Model:</a:t>
            </a:r>
            <a:r>
              <a:rPr lang="en-US" sz="1400" dirty="0">
                <a:solidFill>
                  <a:schemeClr val="bg1"/>
                </a:solidFill>
              </a:rPr>
              <a:t> Logistic Regression achieved the highest F1-Score (0.959) and Recall (0.983) in cross-validation, demonstrating excellent ability to identify BAD-quality requirements.</a:t>
            </a:r>
          </a:p>
          <a:p>
            <a:pPr marL="285750" lvl="0" indent="-285750">
              <a:buFont typeface="Arial" panose="020B0604020202020204" pitchFamily="34" charset="0"/>
              <a:buChar char="•"/>
            </a:pPr>
            <a:r>
              <a:rPr lang="en-US" sz="1400" b="1" dirty="0">
                <a:solidFill>
                  <a:schemeClr val="bg1"/>
                </a:solidFill>
              </a:rPr>
              <a:t>No Overfitting Issue:</a:t>
            </a:r>
            <a:r>
              <a:rPr lang="en-US" sz="1400" dirty="0">
                <a:solidFill>
                  <a:schemeClr val="bg1"/>
                </a:solidFill>
              </a:rPr>
              <a:t> Cross-validation results consistently improved over the hold-out test (F1 improvement: +2.9% to +4.6%), confirming models are learning genuine patterns, not memorizing training data.</a:t>
            </a:r>
          </a:p>
          <a:p>
            <a:pPr marL="285750" lvl="0" indent="-285750">
              <a:buFont typeface="Arial" panose="020B0604020202020204" pitchFamily="34" charset="0"/>
              <a:buChar char="•"/>
            </a:pPr>
            <a:r>
              <a:rPr lang="en-US" sz="1400" b="1" dirty="0">
                <a:solidFill>
                  <a:schemeClr val="bg1"/>
                </a:solidFill>
              </a:rPr>
              <a:t>Robust Detection:</a:t>
            </a:r>
            <a:r>
              <a:rPr lang="en-US" sz="1400" dirty="0">
                <a:solidFill>
                  <a:schemeClr val="bg1"/>
                </a:solidFill>
              </a:rPr>
              <a:t> All models achieved FNR below 5.1% in cross-validation, with Logistic Regression reaching the lowest FNR of 1.69%—meaning it misses fewer than 2 out of every 100 BAD requirements.</a:t>
            </a:r>
          </a:p>
          <a:p>
            <a:pPr marL="285750" lvl="0" indent="-285750">
              <a:buFont typeface="Arial" panose="020B0604020202020204" pitchFamily="34" charset="0"/>
              <a:buChar char="•"/>
            </a:pPr>
            <a:r>
              <a:rPr lang="en-US" sz="1400" b="1" dirty="0">
                <a:solidFill>
                  <a:schemeClr val="bg1"/>
                </a:solidFill>
              </a:rPr>
              <a:t>Consistent Performance:</a:t>
            </a:r>
            <a:r>
              <a:rPr lang="en-US" sz="1400" dirty="0">
                <a:solidFill>
                  <a:schemeClr val="bg1"/>
                </a:solidFill>
              </a:rPr>
              <a:t> Low standard deviation across 5 folds (±0.02) confirms models perform reliably regardless of which data split is used.</a:t>
            </a:r>
          </a:p>
          <a:p>
            <a:pPr marL="285750" lvl="0" indent="-285750">
              <a:buFont typeface="Arial" panose="020B0604020202020204" pitchFamily="34" charset="0"/>
              <a:buChar char="•"/>
            </a:pPr>
            <a:r>
              <a:rPr lang="en-US" sz="1400" b="1" dirty="0">
                <a:solidFill>
                  <a:schemeClr val="bg1"/>
                </a:solidFill>
              </a:rPr>
              <a:t>Test Scenarios –</a:t>
            </a:r>
            <a:r>
              <a:rPr lang="en-US" sz="1400" dirty="0">
                <a:solidFill>
                  <a:schemeClr val="bg1"/>
                </a:solidFill>
              </a:rPr>
              <a:t> Refer below scenarios verified to test the performance of model - </a:t>
            </a:r>
          </a:p>
          <a:p>
            <a:endParaRPr lang="en-US" sz="1600" dirty="0">
              <a:solidFill>
                <a:schemeClr val="bg1"/>
              </a:solidFill>
            </a:endParaRPr>
          </a:p>
        </p:txBody>
      </p:sp>
      <p:graphicFrame>
        <p:nvGraphicFramePr>
          <p:cNvPr id="7" name="Table 6">
            <a:extLst>
              <a:ext uri="{FF2B5EF4-FFF2-40B4-BE49-F238E27FC236}">
                <a16:creationId xmlns:a16="http://schemas.microsoft.com/office/drawing/2014/main" id="{B8F9725C-76C6-0638-117E-CFC0A08B5291}"/>
              </a:ext>
            </a:extLst>
          </p:cNvPr>
          <p:cNvGraphicFramePr>
            <a:graphicFrameLocks noGrp="1"/>
          </p:cNvGraphicFramePr>
          <p:nvPr/>
        </p:nvGraphicFramePr>
        <p:xfrm>
          <a:off x="1021978" y="1162556"/>
          <a:ext cx="8579220" cy="1835589"/>
        </p:xfrm>
        <a:graphic>
          <a:graphicData uri="http://schemas.openxmlformats.org/drawingml/2006/table">
            <a:tbl>
              <a:tblPr/>
              <a:tblGrid>
                <a:gridCol w="1060795">
                  <a:extLst>
                    <a:ext uri="{9D8B030D-6E8A-4147-A177-3AD203B41FA5}">
                      <a16:colId xmlns:a16="http://schemas.microsoft.com/office/drawing/2014/main" val="2387400349"/>
                    </a:ext>
                  </a:extLst>
                </a:gridCol>
                <a:gridCol w="1357246">
                  <a:extLst>
                    <a:ext uri="{9D8B030D-6E8A-4147-A177-3AD203B41FA5}">
                      <a16:colId xmlns:a16="http://schemas.microsoft.com/office/drawing/2014/main" val="1660188104"/>
                    </a:ext>
                  </a:extLst>
                </a:gridCol>
                <a:gridCol w="675051">
                  <a:extLst>
                    <a:ext uri="{9D8B030D-6E8A-4147-A177-3AD203B41FA5}">
                      <a16:colId xmlns:a16="http://schemas.microsoft.com/office/drawing/2014/main" val="2967208020"/>
                    </a:ext>
                  </a:extLst>
                </a:gridCol>
                <a:gridCol w="685766">
                  <a:extLst>
                    <a:ext uri="{9D8B030D-6E8A-4147-A177-3AD203B41FA5}">
                      <a16:colId xmlns:a16="http://schemas.microsoft.com/office/drawing/2014/main" val="408592955"/>
                    </a:ext>
                  </a:extLst>
                </a:gridCol>
                <a:gridCol w="685766">
                  <a:extLst>
                    <a:ext uri="{9D8B030D-6E8A-4147-A177-3AD203B41FA5}">
                      <a16:colId xmlns:a16="http://schemas.microsoft.com/office/drawing/2014/main" val="3673463330"/>
                    </a:ext>
                  </a:extLst>
                </a:gridCol>
                <a:gridCol w="685766">
                  <a:extLst>
                    <a:ext uri="{9D8B030D-6E8A-4147-A177-3AD203B41FA5}">
                      <a16:colId xmlns:a16="http://schemas.microsoft.com/office/drawing/2014/main" val="2914775047"/>
                    </a:ext>
                  </a:extLst>
                </a:gridCol>
                <a:gridCol w="685766">
                  <a:extLst>
                    <a:ext uri="{9D8B030D-6E8A-4147-A177-3AD203B41FA5}">
                      <a16:colId xmlns:a16="http://schemas.microsoft.com/office/drawing/2014/main" val="710487552"/>
                    </a:ext>
                  </a:extLst>
                </a:gridCol>
                <a:gridCol w="685766">
                  <a:extLst>
                    <a:ext uri="{9D8B030D-6E8A-4147-A177-3AD203B41FA5}">
                      <a16:colId xmlns:a16="http://schemas.microsoft.com/office/drawing/2014/main" val="1348634426"/>
                    </a:ext>
                  </a:extLst>
                </a:gridCol>
                <a:gridCol w="685766">
                  <a:extLst>
                    <a:ext uri="{9D8B030D-6E8A-4147-A177-3AD203B41FA5}">
                      <a16:colId xmlns:a16="http://schemas.microsoft.com/office/drawing/2014/main" val="1104232585"/>
                    </a:ext>
                  </a:extLst>
                </a:gridCol>
                <a:gridCol w="685766">
                  <a:extLst>
                    <a:ext uri="{9D8B030D-6E8A-4147-A177-3AD203B41FA5}">
                      <a16:colId xmlns:a16="http://schemas.microsoft.com/office/drawing/2014/main" val="1216919060"/>
                    </a:ext>
                  </a:extLst>
                </a:gridCol>
                <a:gridCol w="685766">
                  <a:extLst>
                    <a:ext uri="{9D8B030D-6E8A-4147-A177-3AD203B41FA5}">
                      <a16:colId xmlns:a16="http://schemas.microsoft.com/office/drawing/2014/main" val="2907358879"/>
                    </a:ext>
                  </a:extLst>
                </a:gridCol>
              </a:tblGrid>
              <a:tr h="262227">
                <a:tc>
                  <a:txBody>
                    <a:bodyPr/>
                    <a:lstStyle/>
                    <a:p>
                      <a:pPr algn="ctr" fontAlgn="ctr">
                        <a:buNone/>
                      </a:pPr>
                      <a:r>
                        <a:rPr lang="en-US" sz="1100" b="1" i="0" u="none" strike="noStrike" dirty="0">
                          <a:solidFill>
                            <a:srgbClr val="000000"/>
                          </a:solidFill>
                          <a:effectLst/>
                          <a:latin typeface="Calibri" panose="020F0502020204030204" pitchFamily="34" charset="0"/>
                        </a:rPr>
                        <a:t>Stage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US" sz="1100" b="1" i="0" u="none" strike="noStrike" dirty="0">
                          <a:solidFill>
                            <a:srgbClr val="000000"/>
                          </a:solidFill>
                          <a:effectLst/>
                          <a:latin typeface="Calibri" panose="020F0502020204030204" pitchFamily="34" charset="0"/>
                        </a:rPr>
                        <a:t>Model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US" sz="1100" b="1" i="0" u="none" strike="noStrike" dirty="0">
                          <a:solidFill>
                            <a:srgbClr val="000000"/>
                          </a:solidFill>
                          <a:effectLst/>
                          <a:latin typeface="Calibri" panose="020F0502020204030204" pitchFamily="34" charset="0"/>
                        </a:rPr>
                        <a:t>Accuracy</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US" sz="1100" b="1" i="0" u="none" strike="noStrike" dirty="0">
                          <a:solidFill>
                            <a:srgbClr val="000000"/>
                          </a:solidFill>
                          <a:effectLst/>
                          <a:latin typeface="Calibri" panose="020F0502020204030204" pitchFamily="34" charset="0"/>
                        </a:rPr>
                        <a:t>Precision</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US" sz="1100" b="1" i="0" u="none" strike="noStrike" dirty="0">
                          <a:solidFill>
                            <a:srgbClr val="000000"/>
                          </a:solidFill>
                          <a:effectLst/>
                          <a:latin typeface="Calibri" panose="020F0502020204030204" pitchFamily="34" charset="0"/>
                        </a:rPr>
                        <a:t>Recall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US" sz="1100" b="1" i="0" u="none" strike="noStrike" dirty="0">
                          <a:solidFill>
                            <a:srgbClr val="000000"/>
                          </a:solidFill>
                          <a:effectLst/>
                          <a:latin typeface="Calibri" panose="020F0502020204030204" pitchFamily="34" charset="0"/>
                        </a:rPr>
                        <a:t>F1_Score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US" sz="1100" b="1" i="0" u="none" strike="noStrike" dirty="0">
                          <a:solidFill>
                            <a:srgbClr val="000000"/>
                          </a:solidFill>
                          <a:effectLst/>
                          <a:latin typeface="Calibri" panose="020F0502020204030204" pitchFamily="34" charset="0"/>
                        </a:rPr>
                        <a:t>FNR</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gridSpan="4">
                  <a:txBody>
                    <a:bodyPr/>
                    <a:lstStyle/>
                    <a:p>
                      <a:pPr algn="ctr" fontAlgn="ctr">
                        <a:buNone/>
                      </a:pPr>
                      <a:r>
                        <a:rPr lang="en-US" sz="1100" b="1" i="0" u="none" strike="noStrike" dirty="0">
                          <a:solidFill>
                            <a:srgbClr val="000000"/>
                          </a:solidFill>
                          <a:effectLst/>
                          <a:latin typeface="Calibri" panose="020F0502020204030204" pitchFamily="34" charset="0"/>
                        </a:rPr>
                        <a:t>Confusion Matrix</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03081533"/>
                  </a:ext>
                </a:extLst>
              </a:tr>
              <a:tr h="262227">
                <a:tc rowSpan="3">
                  <a:txBody>
                    <a:bodyPr/>
                    <a:lstStyle/>
                    <a:p>
                      <a:pPr algn="ctr" fontAlgn="b">
                        <a:buNone/>
                      </a:pPr>
                      <a:r>
                        <a:rPr lang="en-US" sz="1000" b="0" i="0" u="none" strike="noStrike" dirty="0">
                          <a:solidFill>
                            <a:srgbClr val="000000"/>
                          </a:solidFill>
                          <a:effectLst/>
                          <a:latin typeface="Calibri" panose="020F0502020204030204" pitchFamily="34" charset="0"/>
                        </a:rPr>
                        <a:t>Stage -1 :Model Performance on hold-out data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Random Forest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0.918367</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0.875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0.955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0.913043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0.0455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TN=72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FP=9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FN=3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TP=63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3656519022"/>
                  </a:ext>
                </a:extLst>
              </a:tr>
              <a:tr h="262227">
                <a:tc vMerge="1">
                  <a:txBody>
                    <a:bodyPr/>
                    <a:lstStyle/>
                    <a:p>
                      <a:endParaRPr lang="en-US"/>
                    </a:p>
                  </a:txBody>
                  <a:tcPr/>
                </a:tc>
                <a:tc>
                  <a:txBody>
                    <a:bodyPr/>
                    <a:lstStyle/>
                    <a:p>
                      <a:pPr algn="ctr" fontAlgn="ctr">
                        <a:buNone/>
                      </a:pPr>
                      <a:r>
                        <a:rPr lang="en-US" sz="1100" b="0" i="0" u="none" strike="noStrike" dirty="0">
                          <a:solidFill>
                            <a:srgbClr val="000000"/>
                          </a:solidFill>
                          <a:effectLst/>
                          <a:latin typeface="Calibri" panose="020F0502020204030204" pitchFamily="34" charset="0"/>
                        </a:rPr>
                        <a:t>Logistic Regression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0.918367</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0.875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0.955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0.913043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0.0455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TN=72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FP=9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FN=3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TP=63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898118868"/>
                  </a:ext>
                </a:extLst>
              </a:tr>
              <a:tr h="262227">
                <a:tc vMerge="1">
                  <a:txBody>
                    <a:bodyPr/>
                    <a:lstStyle/>
                    <a:p>
                      <a:endParaRPr lang="en-US"/>
                    </a:p>
                  </a:txBody>
                  <a:tcPr/>
                </a:tc>
                <a:tc>
                  <a:txBody>
                    <a:bodyPr/>
                    <a:lstStyle/>
                    <a:p>
                      <a:pPr algn="ctr" fontAlgn="ctr">
                        <a:buNone/>
                      </a:pPr>
                      <a:r>
                        <a:rPr lang="en-US" sz="1100" b="1" i="0" u="none" strike="noStrike" dirty="0">
                          <a:solidFill>
                            <a:srgbClr val="000000"/>
                          </a:solidFill>
                          <a:effectLst/>
                          <a:latin typeface="Calibri" panose="020F0502020204030204" pitchFamily="34" charset="0"/>
                        </a:rPr>
                        <a:t>SVM (Linear)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0.92517</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0.898551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0.939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0.918519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0.0606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TN=72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FP=7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FN=4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TP=62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879409883"/>
                  </a:ext>
                </a:extLst>
              </a:tr>
              <a:tr h="262227">
                <a:tc rowSpan="3">
                  <a:txBody>
                    <a:bodyPr/>
                    <a:lstStyle/>
                    <a:p>
                      <a:pPr algn="ctr" fontAlgn="b">
                        <a:buNone/>
                      </a:pPr>
                      <a:r>
                        <a:rPr lang="en-US" sz="1000" b="0" i="0" u="none" strike="noStrike" dirty="0">
                          <a:solidFill>
                            <a:srgbClr val="000000"/>
                          </a:solidFill>
                          <a:effectLst/>
                          <a:latin typeface="Calibri" panose="020F0502020204030204" pitchFamily="34" charset="0"/>
                        </a:rPr>
                        <a:t>Stage -2 :Cross-Validation Performance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Random Forest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0.9333</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0.9339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0.9494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0.9416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0.0506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TN=210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FP=18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FN=4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TP=293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477861251"/>
                  </a:ext>
                </a:extLst>
              </a:tr>
              <a:tr h="262227">
                <a:tc vMerge="1">
                  <a:txBody>
                    <a:bodyPr/>
                    <a:lstStyle/>
                    <a:p>
                      <a:endParaRPr lang="en-US"/>
                    </a:p>
                  </a:txBody>
                  <a:tcPr/>
                </a:tc>
                <a:tc>
                  <a:txBody>
                    <a:bodyPr/>
                    <a:lstStyle/>
                    <a:p>
                      <a:pPr algn="ctr" fontAlgn="ctr">
                        <a:buNone/>
                      </a:pPr>
                      <a:r>
                        <a:rPr lang="en-US" sz="1100" b="1" i="0" u="none" strike="noStrike" dirty="0">
                          <a:solidFill>
                            <a:srgbClr val="000000"/>
                          </a:solidFill>
                          <a:effectLst/>
                          <a:latin typeface="Calibri" panose="020F0502020204030204" pitchFamily="34" charset="0"/>
                        </a:rPr>
                        <a:t>Logistic Regression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0.9524</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0.9362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0.9831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0.9589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0.0169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TN=208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FP=20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FN=3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FF0000"/>
                          </a:solidFill>
                          <a:effectLst/>
                          <a:latin typeface="Calibri" panose="020F0502020204030204" pitchFamily="34" charset="0"/>
                        </a:rPr>
                        <a:t>TP=294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2545526863"/>
                  </a:ext>
                </a:extLst>
              </a:tr>
              <a:tr h="262227">
                <a:tc vMerge="1">
                  <a:txBody>
                    <a:bodyPr/>
                    <a:lstStyle/>
                    <a:p>
                      <a:endParaRPr lang="en-US"/>
                    </a:p>
                  </a:txBody>
                  <a:tcPr/>
                </a:tc>
                <a:tc>
                  <a:txBody>
                    <a:bodyPr/>
                    <a:lstStyle/>
                    <a:p>
                      <a:pPr algn="ctr" fontAlgn="ctr">
                        <a:buNone/>
                      </a:pPr>
                      <a:r>
                        <a:rPr lang="en-US" sz="1100" b="0" i="0" u="none" strike="noStrike" dirty="0">
                          <a:solidFill>
                            <a:srgbClr val="000000"/>
                          </a:solidFill>
                          <a:effectLst/>
                          <a:latin typeface="Calibri" panose="020F0502020204030204" pitchFamily="34" charset="0"/>
                        </a:rPr>
                        <a:t>SVM (Linear)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0.9505</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0.9393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0.9763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0.9572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0.0237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TN=209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FP=19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FN=5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100" b="0" i="0" u="none" strike="noStrike" dirty="0">
                          <a:solidFill>
                            <a:srgbClr val="000000"/>
                          </a:solidFill>
                          <a:effectLst/>
                          <a:latin typeface="Calibri" panose="020F0502020204030204" pitchFamily="34" charset="0"/>
                        </a:rPr>
                        <a:t>TP=292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4045406239"/>
                  </a:ext>
                </a:extLst>
              </a:tr>
            </a:tbl>
          </a:graphicData>
        </a:graphic>
      </p:graphicFrame>
    </p:spTree>
    <p:extLst>
      <p:ext uri="{BB962C8B-B14F-4D97-AF65-F5344CB8AC3E}">
        <p14:creationId xmlns:p14="http://schemas.microsoft.com/office/powerpoint/2010/main" val="389005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ACB60-41A0-6A1F-AE7B-190D76D489E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2386638-C480-1D62-B492-81737D3E73E6}"/>
              </a:ext>
            </a:extLst>
          </p:cNvPr>
          <p:cNvSpPr/>
          <p:nvPr/>
        </p:nvSpPr>
        <p:spPr>
          <a:xfrm>
            <a:off x="333375" y="139358"/>
            <a:ext cx="11525250" cy="548580"/>
          </a:xfrm>
          <a:prstGeom prst="rect">
            <a:avLst/>
          </a:prstGeom>
          <a:noFill/>
          <a:ln>
            <a:miter lim="800000"/>
          </a:ln>
        </p:spPr>
        <p:txBody>
          <a:bodyPr wrap="square" lIns="0" tIns="0" rIns="0" bIns="0" rtlCol="0" anchor="t"/>
          <a:lstStyle/>
          <a:p>
            <a:pPr marL="0" marR="0" lvl="0" indent="0" algn="ctr" defTabSz="914400" rtl="0" eaLnBrk="1" fontAlgn="ctr" latinLnBrk="0" hangingPunct="1">
              <a:lnSpc>
                <a:spcPts val="4320"/>
              </a:lnSpc>
              <a:spcBef>
                <a:spcPts val="0"/>
              </a:spcBef>
              <a:spcAft>
                <a:spcPts val="0"/>
              </a:spcAft>
              <a:buClrTx/>
              <a:buSzTx/>
              <a:buFontTx/>
              <a:buNone/>
              <a:tabLst/>
              <a:defRPr/>
            </a:pPr>
            <a:r>
              <a:rPr lang="en-US" sz="3000" kern="0" spc="-225" dirty="0">
                <a:solidFill>
                  <a:srgbClr val="FFFFFF"/>
                </a:solidFill>
                <a:latin typeface="Inter SemiBold" pitchFamily="34" charset="0"/>
                <a:ea typeface="Inter SemiBold" pitchFamily="34" charset="-122"/>
              </a:rPr>
              <a:t>Hybrid Score Engine with Tunable Parameters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A1A891C8-297E-9D7A-CB91-B0587FA638C0}"/>
              </a:ext>
            </a:extLst>
          </p:cNvPr>
          <p:cNvSpPr txBox="1"/>
          <p:nvPr/>
        </p:nvSpPr>
        <p:spPr>
          <a:xfrm>
            <a:off x="537882" y="1326776"/>
            <a:ext cx="11116236" cy="5139869"/>
          </a:xfrm>
          <a:prstGeom prst="rect">
            <a:avLst/>
          </a:prstGeom>
          <a:noFill/>
        </p:spPr>
        <p:txBody>
          <a:bodyPr wrap="square" rtlCol="0">
            <a:spAutoFit/>
          </a:bodyPr>
          <a:lstStyle/>
          <a:p>
            <a:pPr marL="285750" indent="-285750">
              <a:buFont typeface="Arial" panose="020B0604020202020204" pitchFamily="34" charset="0"/>
              <a:buChar char="•"/>
            </a:pPr>
            <a:r>
              <a:rPr lang="en-US" sz="2000" b="1" dirty="0">
                <a:solidFill>
                  <a:schemeClr val="bg1"/>
                </a:solidFill>
              </a:rPr>
              <a:t>Assigned final score as</a:t>
            </a:r>
          </a:p>
          <a:p>
            <a:endParaRPr lang="en-US" dirty="0">
              <a:solidFill>
                <a:schemeClr val="bg1"/>
              </a:solidFill>
            </a:endParaRPr>
          </a:p>
          <a:p>
            <a:r>
              <a:rPr lang="en-US" dirty="0">
                <a:solidFill>
                  <a:schemeClr val="bg1"/>
                </a:solidFill>
              </a:rPr>
              <a:t>Final Score =  ((Rule_Score * rule weight) + (ML Classifier Score * ML Classifier Weight))  </a:t>
            </a:r>
          </a:p>
          <a:p>
            <a:endParaRPr lang="en-US" dirty="0">
              <a:solidFill>
                <a:schemeClr val="bg1"/>
              </a:solidFill>
            </a:endParaRPr>
          </a:p>
          <a:p>
            <a:r>
              <a:rPr lang="en-US" sz="1600" dirty="0">
                <a:solidFill>
                  <a:schemeClr val="bg1"/>
                </a:solidFill>
              </a:rPr>
              <a:t>Default configuration : Rule weight = 60% and ML classifier weight = 40%</a:t>
            </a:r>
          </a:p>
          <a:p>
            <a:r>
              <a:rPr lang="en-US" dirty="0">
                <a:solidFill>
                  <a:schemeClr val="bg1"/>
                </a:solidFill>
              </a:rPr>
              <a:t> </a:t>
            </a:r>
          </a:p>
          <a:p>
            <a:pPr marL="285750" indent="-285750">
              <a:buFont typeface="Arial" panose="020B0604020202020204" pitchFamily="34" charset="0"/>
              <a:buChar char="•"/>
            </a:pPr>
            <a:r>
              <a:rPr lang="en-US" sz="2000" b="1" dirty="0">
                <a:solidFill>
                  <a:schemeClr val="bg1"/>
                </a:solidFill>
              </a:rPr>
              <a:t>Metric And Parameter Gate Considerations </a:t>
            </a:r>
          </a:p>
          <a:p>
            <a:endParaRPr lang="en-US" dirty="0">
              <a:solidFill>
                <a:schemeClr val="bg1"/>
              </a:solidFill>
            </a:endParaRPr>
          </a:p>
          <a:p>
            <a:pPr marL="342900" indent="-342900">
              <a:buAutoNum type="alphaLcParenBoth"/>
            </a:pPr>
            <a:r>
              <a:rPr lang="en-US" b="1" dirty="0">
                <a:solidFill>
                  <a:schemeClr val="bg1"/>
                </a:solidFill>
              </a:rPr>
              <a:t>Dynamic Weight Balancing Sliders - </a:t>
            </a:r>
            <a:r>
              <a:rPr lang="en-US" dirty="0">
                <a:solidFill>
                  <a:schemeClr val="bg1"/>
                </a:solidFill>
              </a:rPr>
              <a:t>The system allows user to dynamically adjust the balance between the two core components: </a:t>
            </a:r>
          </a:p>
          <a:p>
            <a:pPr lvl="1"/>
            <a:r>
              <a:rPr lang="en-US" dirty="0">
                <a:solidFill>
                  <a:schemeClr val="bg1"/>
                </a:solidFill>
              </a:rPr>
              <a:t>- Increasing the Rule Engine Weight provides strict, consistent enforcement of structural standards and mandatory field population across teams. </a:t>
            </a:r>
          </a:p>
          <a:p>
            <a:pPr lvl="1"/>
            <a:r>
              <a:rPr lang="en-US" dirty="0">
                <a:solidFill>
                  <a:schemeClr val="bg1"/>
                </a:solidFill>
              </a:rPr>
              <a:t>- Increasing the Machine Learning Weight allows the system to focus heavily on semantic content.</a:t>
            </a:r>
            <a:endParaRPr lang="en-US" b="1" dirty="0">
              <a:solidFill>
                <a:schemeClr val="bg1"/>
              </a:solidFill>
            </a:endParaRPr>
          </a:p>
          <a:p>
            <a:endParaRPr lang="en-US" b="1" dirty="0">
              <a:solidFill>
                <a:schemeClr val="bg1"/>
              </a:solidFill>
            </a:endParaRPr>
          </a:p>
          <a:p>
            <a:pPr marL="342900" indent="-342900">
              <a:buAutoNum type="alphaLcParenBoth"/>
            </a:pPr>
            <a:r>
              <a:rPr lang="en-US" b="1" dirty="0">
                <a:solidFill>
                  <a:schemeClr val="bg1"/>
                </a:solidFill>
              </a:rPr>
              <a:t>Actionable Quality Threshold Score (%) Gate  - </a:t>
            </a:r>
            <a:r>
              <a:rPr lang="en-US" dirty="0">
                <a:solidFill>
                  <a:schemeClr val="bg1"/>
                </a:solidFill>
              </a:rPr>
              <a:t>This parameter serves as the gatekeeper for requirement quality. If an issue's hybrid score falls below the threshold, it is automatically flagged as BAD (hollow) and blocked from development. </a:t>
            </a:r>
          </a:p>
          <a:p>
            <a:pPr marL="342900" indent="-342900">
              <a:buAutoNum type="alphaLcParenBoth"/>
            </a:pPr>
            <a:endParaRPr lang="en-US" dirty="0">
              <a:solidFill>
                <a:schemeClr val="bg1"/>
              </a:solidFill>
            </a:endParaRPr>
          </a:p>
        </p:txBody>
      </p:sp>
    </p:spTree>
    <p:extLst>
      <p:ext uri="{BB962C8B-B14F-4D97-AF65-F5344CB8AC3E}">
        <p14:creationId xmlns:p14="http://schemas.microsoft.com/office/powerpoint/2010/main" val="3903209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92741" y="143546"/>
            <a:ext cx="11525250" cy="548580"/>
          </a:xfrm>
          <a:prstGeom prst="rect">
            <a:avLst/>
          </a:prstGeom>
          <a:noFill/>
          <a:ln>
            <a:miter lim="800000"/>
          </a:ln>
        </p:spPr>
        <p:txBody>
          <a:bodyPr wrap="square" lIns="0" tIns="0" rIns="0" bIns="0" rtlCol="0" anchor="t"/>
          <a:lstStyle/>
          <a:p>
            <a:pPr algn="ctr" fontAlgn="ctr">
              <a:lnSpc>
                <a:spcPts val="4320"/>
              </a:lnSpc>
            </a:pPr>
            <a:r>
              <a:rPr lang="en-US" sz="3000" kern="0" spc="-225" dirty="0">
                <a:solidFill>
                  <a:srgbClr val="FFFFFF"/>
                </a:solidFill>
                <a:latin typeface="Inter SemiBold" pitchFamily="34" charset="0"/>
                <a:ea typeface="Inter SemiBold" pitchFamily="34" charset="-122"/>
                <a:cs typeface="Inter SemiBold" pitchFamily="34" charset="-120"/>
              </a:rPr>
              <a:t>Case Study - Scenarios Validation </a:t>
            </a:r>
            <a:endParaRPr lang="en-US" sz="3000" dirty="0"/>
          </a:p>
        </p:txBody>
      </p:sp>
      <p:sp>
        <p:nvSpPr>
          <p:cNvPr id="3" name="Text 1"/>
          <p:cNvSpPr/>
          <p:nvPr/>
        </p:nvSpPr>
        <p:spPr>
          <a:xfrm>
            <a:off x="333375" y="1038969"/>
            <a:ext cx="11525250" cy="286643"/>
          </a:xfrm>
          <a:prstGeom prst="rect">
            <a:avLst/>
          </a:prstGeom>
          <a:noFill/>
          <a:ln>
            <a:miter lim="800000"/>
          </a:ln>
        </p:spPr>
        <p:txBody>
          <a:bodyPr wrap="square" lIns="0" tIns="0" rIns="0" bIns="0" rtlCol="0" anchor="t"/>
          <a:lstStyle/>
          <a:p>
            <a:pPr algn="ctr" fontAlgn="ctr">
              <a:lnSpc>
                <a:spcPts val="2257"/>
              </a:lnSpc>
              <a:spcBef>
                <a:spcPts val="867"/>
              </a:spcBef>
            </a:pPr>
            <a:r>
              <a:rPr lang="en-US" sz="1650" kern="0" spc="-33" dirty="0">
                <a:solidFill>
                  <a:srgbClr val="FFFFFF">
                    <a:alpha val="80000"/>
                  </a:srgbClr>
                </a:solidFill>
                <a:latin typeface="Inter Medium" pitchFamily="34" charset="0"/>
                <a:ea typeface="Inter Medium" pitchFamily="34" charset="-122"/>
                <a:cs typeface="Inter Medium" pitchFamily="34" charset="-120"/>
              </a:rPr>
              <a:t>Full-spectrum quality coverage through layered validation</a:t>
            </a:r>
            <a:endParaRPr lang="en-US" dirty="0"/>
          </a:p>
        </p:txBody>
      </p:sp>
      <p:sp>
        <p:nvSpPr>
          <p:cNvPr id="4" name="Shape 2"/>
          <p:cNvSpPr/>
          <p:nvPr/>
        </p:nvSpPr>
        <p:spPr>
          <a:xfrm>
            <a:off x="476250" y="1743075"/>
            <a:ext cx="5572125" cy="693738"/>
          </a:xfrm>
          <a:prstGeom prst="rect">
            <a:avLst/>
          </a:prstGeom>
          <a:solidFill>
            <a:srgbClr val="000000">
              <a:alpha val="0"/>
            </a:srgbClr>
          </a:solidFill>
          <a:ln>
            <a:miter lim="800000"/>
          </a:ln>
        </p:spPr>
        <p:txBody>
          <a:bodyPr/>
          <a:lstStyle/>
          <a:p>
            <a:endParaRPr lang="en-US" dirty="0"/>
          </a:p>
        </p:txBody>
      </p:sp>
      <p:sp>
        <p:nvSpPr>
          <p:cNvPr id="5" name="Text 3"/>
          <p:cNvSpPr/>
          <p:nvPr/>
        </p:nvSpPr>
        <p:spPr>
          <a:xfrm>
            <a:off x="333375" y="1174650"/>
            <a:ext cx="4279136" cy="466279"/>
          </a:xfrm>
          <a:prstGeom prst="rect">
            <a:avLst/>
          </a:prstGeom>
          <a:noFill/>
          <a:ln>
            <a:miter lim="800000"/>
          </a:ln>
        </p:spPr>
        <p:txBody>
          <a:bodyPr wrap="square" lIns="0" tIns="0" rIns="0" bIns="0" rtlCol="0" anchor="ctr"/>
          <a:lstStyle/>
          <a:p>
            <a:pPr algn="ctr" fontAlgn="ctr">
              <a:lnSpc>
                <a:spcPts val="3672"/>
              </a:lnSpc>
            </a:pPr>
            <a:r>
              <a:rPr lang="en-US" sz="2400" kern="0" spc="-191" dirty="0">
                <a:solidFill>
                  <a:srgbClr val="FFFFFF"/>
                </a:solidFill>
                <a:latin typeface="Inter SemiBold" pitchFamily="34" charset="0"/>
                <a:ea typeface="Inter SemiBold" pitchFamily="34" charset="-122"/>
                <a:cs typeface="Inter SemiBold" pitchFamily="34" charset="-120"/>
              </a:rPr>
              <a:t>Scenario 1 (ML Trigger)</a:t>
            </a:r>
            <a:endParaRPr lang="en-US" sz="1400" dirty="0"/>
          </a:p>
        </p:txBody>
      </p:sp>
      <p:sp>
        <p:nvSpPr>
          <p:cNvPr id="6" name="Shape 4"/>
          <p:cNvSpPr/>
          <p:nvPr/>
        </p:nvSpPr>
        <p:spPr>
          <a:xfrm>
            <a:off x="476250" y="2532063"/>
            <a:ext cx="5572125" cy="2666206"/>
          </a:xfrm>
          <a:prstGeom prst="rect">
            <a:avLst/>
          </a:prstGeom>
          <a:solidFill>
            <a:srgbClr val="000000">
              <a:alpha val="0"/>
            </a:srgbClr>
          </a:solidFill>
          <a:ln>
            <a:miter lim="800000"/>
          </a:ln>
        </p:spPr>
        <p:txBody>
          <a:bodyPr/>
          <a:lstStyle/>
          <a:p>
            <a:endParaRPr lang="en-US" dirty="0"/>
          </a:p>
        </p:txBody>
      </p:sp>
      <p:sp>
        <p:nvSpPr>
          <p:cNvPr id="9" name="Text 6"/>
          <p:cNvSpPr/>
          <p:nvPr/>
        </p:nvSpPr>
        <p:spPr>
          <a:xfrm>
            <a:off x="272554" y="5577929"/>
            <a:ext cx="5979516" cy="1088231"/>
          </a:xfrm>
          <a:prstGeom prst="rect">
            <a:avLst/>
          </a:prstGeom>
          <a:noFill/>
          <a:ln>
            <a:miter lim="800000"/>
          </a:ln>
        </p:spPr>
        <p:txBody>
          <a:bodyPr wrap="square" lIns="0" tIns="0" rIns="0" bIns="0" rtlCol="0" anchor="t"/>
          <a:lstStyle/>
          <a:p>
            <a:pPr fontAlgn="ctr">
              <a:lnSpc>
                <a:spcPts val="2052"/>
              </a:lnSpc>
            </a:pPr>
            <a:r>
              <a:rPr lang="en-US" sz="1500" kern="0" spc="-30" dirty="0">
                <a:solidFill>
                  <a:srgbClr val="FFFFFF">
                    <a:alpha val="80000"/>
                  </a:srgbClr>
                </a:solidFill>
                <a:latin typeface="Inter Medium" pitchFamily="34" charset="0"/>
                <a:ea typeface="Inter Medium" pitchFamily="34" charset="-122"/>
                <a:cs typeface="Inter Medium" pitchFamily="34" charset="-120"/>
              </a:rPr>
              <a:t>Valid structure, hollow text content—Correctly flagged by ML.</a:t>
            </a:r>
            <a:endParaRPr lang="en-US" sz="1500" kern="0" spc="-30" dirty="0">
              <a:solidFill>
                <a:srgbClr val="FFFFFF">
                  <a:alpha val="80000"/>
                </a:srgbClr>
              </a:solidFill>
              <a:latin typeface="Inter Medium" pitchFamily="34" charset="0"/>
              <a:ea typeface="Inter Medium" pitchFamily="34" charset="-122"/>
            </a:endParaRPr>
          </a:p>
          <a:p>
            <a:pPr fontAlgn="ctr">
              <a:lnSpc>
                <a:spcPts val="2052"/>
              </a:lnSpc>
            </a:pPr>
            <a:r>
              <a:rPr lang="en-US" sz="1500" kern="0" spc="-30" dirty="0">
                <a:solidFill>
                  <a:srgbClr val="FFFFFF">
                    <a:alpha val="80000"/>
                  </a:srgbClr>
                </a:solidFill>
                <a:latin typeface="Inter Medium" pitchFamily="34" charset="0"/>
                <a:ea typeface="Inter Medium" pitchFamily="34" charset="-122"/>
              </a:rPr>
              <a:t>Rule Engine score – 100  | ML Score – 0.35  | Hybrid (final score) – 60.14</a:t>
            </a:r>
          </a:p>
          <a:p>
            <a:pPr fontAlgn="ctr">
              <a:lnSpc>
                <a:spcPts val="2052"/>
              </a:lnSpc>
            </a:pPr>
            <a:r>
              <a:rPr lang="en-US" sz="1500" kern="0" spc="-30" dirty="0">
                <a:solidFill>
                  <a:srgbClr val="FFFFFF">
                    <a:alpha val="80000"/>
                  </a:srgbClr>
                </a:solidFill>
                <a:latin typeface="Inter Medium" pitchFamily="34" charset="0"/>
                <a:ea typeface="Inter Medium" pitchFamily="34" charset="-122"/>
              </a:rPr>
              <a:t>Explanation - Semantic hollowness: Vague statement detected </a:t>
            </a:r>
          </a:p>
        </p:txBody>
      </p:sp>
      <p:sp>
        <p:nvSpPr>
          <p:cNvPr id="10" name="Shape 7"/>
          <p:cNvSpPr/>
          <p:nvPr/>
        </p:nvSpPr>
        <p:spPr>
          <a:xfrm>
            <a:off x="6143625" y="1743075"/>
            <a:ext cx="5572125" cy="693738"/>
          </a:xfrm>
          <a:prstGeom prst="rect">
            <a:avLst/>
          </a:prstGeom>
          <a:solidFill>
            <a:srgbClr val="000000">
              <a:alpha val="0"/>
            </a:srgbClr>
          </a:solidFill>
          <a:ln>
            <a:miter lim="800000"/>
          </a:ln>
        </p:spPr>
        <p:txBody>
          <a:bodyPr/>
          <a:lstStyle/>
          <a:p>
            <a:endParaRPr lang="en-US" dirty="0"/>
          </a:p>
        </p:txBody>
      </p:sp>
      <p:sp>
        <p:nvSpPr>
          <p:cNvPr id="11" name="Text 8"/>
          <p:cNvSpPr/>
          <p:nvPr/>
        </p:nvSpPr>
        <p:spPr>
          <a:xfrm>
            <a:off x="6804859" y="1185317"/>
            <a:ext cx="4576227" cy="466279"/>
          </a:xfrm>
          <a:prstGeom prst="rect">
            <a:avLst/>
          </a:prstGeom>
          <a:noFill/>
          <a:ln>
            <a:miter lim="800000"/>
          </a:ln>
        </p:spPr>
        <p:txBody>
          <a:bodyPr wrap="square" lIns="0" tIns="0" rIns="0" bIns="0" rtlCol="0" anchor="ctr"/>
          <a:lstStyle/>
          <a:p>
            <a:pPr algn="ctr" fontAlgn="ctr">
              <a:lnSpc>
                <a:spcPts val="3672"/>
              </a:lnSpc>
            </a:pPr>
            <a:r>
              <a:rPr lang="en-US" sz="2400" kern="0" spc="-191" dirty="0">
                <a:solidFill>
                  <a:srgbClr val="FFFFFF"/>
                </a:solidFill>
                <a:latin typeface="Inter SemiBold" pitchFamily="34" charset="0"/>
                <a:ea typeface="Inter SemiBold" pitchFamily="34" charset="-122"/>
                <a:cs typeface="Inter SemiBold" pitchFamily="34" charset="-120"/>
              </a:rPr>
              <a:t>Scenario 2 (Rule Trigger)</a:t>
            </a:r>
            <a:endParaRPr lang="en-US" sz="1400" dirty="0"/>
          </a:p>
        </p:txBody>
      </p:sp>
      <p:sp>
        <p:nvSpPr>
          <p:cNvPr id="12" name="Shape 9"/>
          <p:cNvSpPr/>
          <p:nvPr/>
        </p:nvSpPr>
        <p:spPr>
          <a:xfrm>
            <a:off x="6143625" y="2532063"/>
            <a:ext cx="5572125" cy="2666206"/>
          </a:xfrm>
          <a:prstGeom prst="rect">
            <a:avLst/>
          </a:prstGeom>
          <a:solidFill>
            <a:srgbClr val="000000">
              <a:alpha val="0"/>
            </a:srgbClr>
          </a:solidFill>
          <a:ln>
            <a:miter lim="800000"/>
          </a:ln>
        </p:spPr>
        <p:txBody>
          <a:bodyPr/>
          <a:lstStyle/>
          <a:p>
            <a:endParaRPr lang="en-US" dirty="0"/>
          </a:p>
        </p:txBody>
      </p:sp>
      <p:sp>
        <p:nvSpPr>
          <p:cNvPr id="14" name="Shape 10"/>
          <p:cNvSpPr/>
          <p:nvPr/>
        </p:nvSpPr>
        <p:spPr>
          <a:xfrm>
            <a:off x="6143625" y="5577929"/>
            <a:ext cx="5572125" cy="803821"/>
          </a:xfrm>
          <a:prstGeom prst="rect">
            <a:avLst/>
          </a:prstGeom>
          <a:solidFill>
            <a:srgbClr val="000000">
              <a:alpha val="0"/>
            </a:srgbClr>
          </a:solidFill>
          <a:ln>
            <a:miter lim="800000"/>
          </a:ln>
        </p:spPr>
        <p:txBody>
          <a:bodyPr/>
          <a:lstStyle/>
          <a:p>
            <a:endParaRPr lang="en-US" dirty="0"/>
          </a:p>
        </p:txBody>
      </p:sp>
      <p:sp>
        <p:nvSpPr>
          <p:cNvPr id="15" name="Text 11"/>
          <p:cNvSpPr/>
          <p:nvPr/>
        </p:nvSpPr>
        <p:spPr>
          <a:xfrm>
            <a:off x="6191405" y="5530973"/>
            <a:ext cx="5992587" cy="1183481"/>
          </a:xfrm>
          <a:prstGeom prst="rect">
            <a:avLst/>
          </a:prstGeom>
          <a:noFill/>
          <a:ln>
            <a:miter lim="800000"/>
          </a:ln>
        </p:spPr>
        <p:txBody>
          <a:bodyPr wrap="square" lIns="0" tIns="0" rIns="0" bIns="0" rtlCol="0" anchor="t"/>
          <a:lstStyle/>
          <a:p>
            <a:pPr fontAlgn="ctr">
              <a:lnSpc>
                <a:spcPts val="2052"/>
              </a:lnSpc>
            </a:pPr>
            <a:r>
              <a:rPr lang="en-US" sz="1500" kern="0" spc="-30" dirty="0">
                <a:solidFill>
                  <a:srgbClr val="FFFFFF">
                    <a:alpha val="80000"/>
                  </a:srgbClr>
                </a:solidFill>
                <a:latin typeface="Inter Medium" pitchFamily="34" charset="0"/>
                <a:ea typeface="Inter Medium" pitchFamily="34" charset="-122"/>
              </a:rPr>
              <a:t>Valid text but missing operational fields-Correctly caught by the 10-Gate Rule Engine.</a:t>
            </a:r>
          </a:p>
          <a:p>
            <a:r>
              <a:rPr lang="en-US" sz="1500" kern="0" spc="-30" dirty="0">
                <a:solidFill>
                  <a:srgbClr val="FFFFFF">
                    <a:alpha val="80000"/>
                  </a:srgbClr>
                </a:solidFill>
                <a:latin typeface="Inter Medium" pitchFamily="34" charset="0"/>
                <a:ea typeface="Inter Medium" pitchFamily="34" charset="-122"/>
              </a:rPr>
              <a:t>Rule Engine score – 45  | ML Score – 82.94 | Hybrid (final score) – 60.17 </a:t>
            </a:r>
          </a:p>
          <a:p>
            <a:r>
              <a:rPr lang="en-US" sz="1500" kern="0" spc="-30" dirty="0">
                <a:solidFill>
                  <a:srgbClr val="FFFFFF">
                    <a:alpha val="80000"/>
                  </a:srgbClr>
                </a:solidFill>
                <a:latin typeface="Inter Medium" pitchFamily="34" charset="0"/>
                <a:ea typeface="Inter Medium" pitchFamily="34" charset="-122"/>
              </a:rPr>
              <a:t>Explanation - Missing User Story format | Due date is missing or invalid | Missing Priority | Missing Category | Missing Assignee | Missing Sub-area </a:t>
            </a:r>
          </a:p>
        </p:txBody>
      </p:sp>
      <p:pic>
        <p:nvPicPr>
          <p:cNvPr id="17" name="Picture 16">
            <a:extLst>
              <a:ext uri="{FF2B5EF4-FFF2-40B4-BE49-F238E27FC236}">
                <a16:creationId xmlns:a16="http://schemas.microsoft.com/office/drawing/2014/main" id="{AB167C84-573B-BCDD-2181-29289C0C8BF0}"/>
              </a:ext>
            </a:extLst>
          </p:cNvPr>
          <p:cNvPicPr>
            <a:picLocks noChangeAspect="1"/>
          </p:cNvPicPr>
          <p:nvPr/>
        </p:nvPicPr>
        <p:blipFill>
          <a:blip r:embed="rId3"/>
          <a:stretch>
            <a:fillRect/>
          </a:stretch>
        </p:blipFill>
        <p:spPr>
          <a:xfrm>
            <a:off x="211735" y="1786578"/>
            <a:ext cx="5979515" cy="3658111"/>
          </a:xfrm>
          <a:prstGeom prst="rect">
            <a:avLst/>
          </a:prstGeom>
        </p:spPr>
      </p:pic>
      <p:pic>
        <p:nvPicPr>
          <p:cNvPr id="19" name="Picture 18">
            <a:extLst>
              <a:ext uri="{FF2B5EF4-FFF2-40B4-BE49-F238E27FC236}">
                <a16:creationId xmlns:a16="http://schemas.microsoft.com/office/drawing/2014/main" id="{BA7B3A15-32F0-DF7C-6BBD-BA3E777C4FE8}"/>
              </a:ext>
            </a:extLst>
          </p:cNvPr>
          <p:cNvPicPr>
            <a:picLocks noChangeAspect="1"/>
          </p:cNvPicPr>
          <p:nvPr/>
        </p:nvPicPr>
        <p:blipFill>
          <a:blip r:embed="rId4"/>
          <a:stretch>
            <a:fillRect/>
          </a:stretch>
        </p:blipFill>
        <p:spPr>
          <a:xfrm>
            <a:off x="6286500" y="1777612"/>
            <a:ext cx="5992587" cy="365811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77AB1-B2E3-68DF-916F-E3A33F7B31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35FDF50-D15F-45AA-9E56-2C04F10A3322}"/>
              </a:ext>
            </a:extLst>
          </p:cNvPr>
          <p:cNvSpPr/>
          <p:nvPr/>
        </p:nvSpPr>
        <p:spPr>
          <a:xfrm>
            <a:off x="62753" y="103882"/>
            <a:ext cx="11525250" cy="548580"/>
          </a:xfrm>
          <a:prstGeom prst="rect">
            <a:avLst/>
          </a:prstGeom>
          <a:noFill/>
          <a:ln>
            <a:miter lim="800000"/>
          </a:ln>
        </p:spPr>
        <p:txBody>
          <a:bodyPr wrap="square" lIns="0" tIns="0" rIns="0" bIns="0" rtlCol="0" anchor="t"/>
          <a:lstStyle/>
          <a:p>
            <a:pPr algn="ctr" fontAlgn="ctr">
              <a:lnSpc>
                <a:spcPts val="4320"/>
              </a:lnSpc>
              <a:spcAft>
                <a:spcPts val="600"/>
              </a:spcAft>
            </a:pPr>
            <a:r>
              <a:rPr lang="en-US" sz="3000" kern="0" spc="-225" dirty="0">
                <a:solidFill>
                  <a:srgbClr val="FFFFFF"/>
                </a:solidFill>
                <a:latin typeface="Inter SemiBold" pitchFamily="34" charset="0"/>
                <a:ea typeface="Inter SemiBold" pitchFamily="34" charset="-122"/>
              </a:rPr>
              <a:t>UI – Landing Page</a:t>
            </a:r>
          </a:p>
        </p:txBody>
      </p:sp>
      <p:sp>
        <p:nvSpPr>
          <p:cNvPr id="23" name="Text 3">
            <a:extLst>
              <a:ext uri="{FF2B5EF4-FFF2-40B4-BE49-F238E27FC236}">
                <a16:creationId xmlns:a16="http://schemas.microsoft.com/office/drawing/2014/main" id="{9D5F5144-6E5A-DC2B-7FC8-708FABBCE506}"/>
              </a:ext>
            </a:extLst>
          </p:cNvPr>
          <p:cNvSpPr/>
          <p:nvPr/>
        </p:nvSpPr>
        <p:spPr>
          <a:xfrm>
            <a:off x="458881" y="1363858"/>
            <a:ext cx="5262282" cy="466279"/>
          </a:xfrm>
          <a:prstGeom prst="rect">
            <a:avLst/>
          </a:prstGeom>
          <a:noFill/>
          <a:ln>
            <a:miter lim="800000"/>
          </a:ln>
        </p:spPr>
        <p:txBody>
          <a:bodyPr wrap="square" lIns="0" tIns="0" rIns="0" bIns="0" rtlCol="0" anchor="ctr"/>
          <a:lstStyle/>
          <a:p>
            <a:pPr algn="ctr" fontAlgn="ctr">
              <a:lnSpc>
                <a:spcPts val="3672"/>
              </a:lnSpc>
            </a:pPr>
            <a:r>
              <a:rPr lang="en-US" sz="2400" kern="0" spc="-191" dirty="0">
                <a:solidFill>
                  <a:srgbClr val="FFFFFF"/>
                </a:solidFill>
                <a:latin typeface="Inter SemiBold" pitchFamily="34" charset="0"/>
                <a:ea typeface="Inter SemiBold" pitchFamily="34" charset="-122"/>
                <a:cs typeface="Inter SemiBold" pitchFamily="34" charset="-120"/>
              </a:rPr>
              <a:t>UI Layout</a:t>
            </a:r>
            <a:endParaRPr lang="en-US" sz="1400" dirty="0"/>
          </a:p>
        </p:txBody>
      </p:sp>
      <p:sp>
        <p:nvSpPr>
          <p:cNvPr id="10" name="Text 3">
            <a:extLst>
              <a:ext uri="{FF2B5EF4-FFF2-40B4-BE49-F238E27FC236}">
                <a16:creationId xmlns:a16="http://schemas.microsoft.com/office/drawing/2014/main" id="{F79601DD-CF24-CA3C-1459-1F5B86A4E885}"/>
              </a:ext>
            </a:extLst>
          </p:cNvPr>
          <p:cNvSpPr/>
          <p:nvPr/>
        </p:nvSpPr>
        <p:spPr>
          <a:xfrm>
            <a:off x="8620323" y="1407855"/>
            <a:ext cx="2631141" cy="466279"/>
          </a:xfrm>
          <a:prstGeom prst="rect">
            <a:avLst/>
          </a:prstGeom>
          <a:noFill/>
          <a:ln>
            <a:miter lim="800000"/>
          </a:ln>
        </p:spPr>
        <p:txBody>
          <a:bodyPr wrap="square" lIns="0" tIns="0" rIns="0" bIns="0" rtlCol="0" anchor="ctr"/>
          <a:lstStyle/>
          <a:p>
            <a:pPr algn="ctr" fontAlgn="ctr">
              <a:lnSpc>
                <a:spcPts val="3672"/>
              </a:lnSpc>
            </a:pPr>
            <a:r>
              <a:rPr lang="en-US" sz="2400" kern="0" spc="-191" dirty="0">
                <a:solidFill>
                  <a:srgbClr val="FFFFFF"/>
                </a:solidFill>
                <a:latin typeface="Inter SemiBold" pitchFamily="34" charset="0"/>
                <a:ea typeface="Inter SemiBold" pitchFamily="34" charset="-122"/>
                <a:cs typeface="Inter SemiBold" pitchFamily="34" charset="-120"/>
              </a:rPr>
              <a:t>Filters</a:t>
            </a:r>
            <a:endParaRPr lang="en-US" sz="1400" dirty="0"/>
          </a:p>
        </p:txBody>
      </p:sp>
      <p:pic>
        <p:nvPicPr>
          <p:cNvPr id="7" name="Picture 6">
            <a:extLst>
              <a:ext uri="{FF2B5EF4-FFF2-40B4-BE49-F238E27FC236}">
                <a16:creationId xmlns:a16="http://schemas.microsoft.com/office/drawing/2014/main" id="{55BA203B-857D-0EFC-8964-8791885888F6}"/>
              </a:ext>
            </a:extLst>
          </p:cNvPr>
          <p:cNvPicPr>
            <a:picLocks noChangeAspect="1"/>
          </p:cNvPicPr>
          <p:nvPr/>
        </p:nvPicPr>
        <p:blipFill>
          <a:blip r:embed="rId3"/>
          <a:stretch>
            <a:fillRect/>
          </a:stretch>
        </p:blipFill>
        <p:spPr>
          <a:xfrm>
            <a:off x="9024657" y="2145271"/>
            <a:ext cx="1822474" cy="4516219"/>
          </a:xfrm>
          <a:prstGeom prst="rect">
            <a:avLst/>
          </a:prstGeom>
        </p:spPr>
      </p:pic>
      <p:pic>
        <p:nvPicPr>
          <p:cNvPr id="9" name="Picture 8">
            <a:extLst>
              <a:ext uri="{FF2B5EF4-FFF2-40B4-BE49-F238E27FC236}">
                <a16:creationId xmlns:a16="http://schemas.microsoft.com/office/drawing/2014/main" id="{17445578-12A7-8187-8FFB-CE3CB20E03A0}"/>
              </a:ext>
            </a:extLst>
          </p:cNvPr>
          <p:cNvPicPr>
            <a:picLocks noChangeAspect="1"/>
          </p:cNvPicPr>
          <p:nvPr/>
        </p:nvPicPr>
        <p:blipFill>
          <a:blip r:embed="rId4"/>
          <a:stretch>
            <a:fillRect/>
          </a:stretch>
        </p:blipFill>
        <p:spPr>
          <a:xfrm>
            <a:off x="170330" y="2145271"/>
            <a:ext cx="8126366" cy="3498346"/>
          </a:xfrm>
          <a:prstGeom prst="rect">
            <a:avLst/>
          </a:prstGeom>
        </p:spPr>
      </p:pic>
    </p:spTree>
    <p:extLst>
      <p:ext uri="{BB962C8B-B14F-4D97-AF65-F5344CB8AC3E}">
        <p14:creationId xmlns:p14="http://schemas.microsoft.com/office/powerpoint/2010/main" val="2659147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158A487-4503-0A70-6528-4B2AA66712D7}"/>
              </a:ext>
            </a:extLst>
          </p:cNvPr>
          <p:cNvPicPr>
            <a:picLocks noChangeAspect="1"/>
          </p:cNvPicPr>
          <p:nvPr/>
        </p:nvPicPr>
        <p:blipFill>
          <a:blip r:embed="rId3"/>
          <a:stretch>
            <a:fillRect/>
          </a:stretch>
        </p:blipFill>
        <p:spPr>
          <a:xfrm>
            <a:off x="457200" y="1373752"/>
            <a:ext cx="3980330" cy="588908"/>
          </a:xfrm>
          <a:prstGeom prst="rect">
            <a:avLst/>
          </a:prstGeom>
        </p:spPr>
      </p:pic>
      <p:pic>
        <p:nvPicPr>
          <p:cNvPr id="9" name="Picture 8">
            <a:extLst>
              <a:ext uri="{FF2B5EF4-FFF2-40B4-BE49-F238E27FC236}">
                <a16:creationId xmlns:a16="http://schemas.microsoft.com/office/drawing/2014/main" id="{C268920E-759C-F6EB-E85C-A7B5EC8EE272}"/>
              </a:ext>
            </a:extLst>
          </p:cNvPr>
          <p:cNvPicPr>
            <a:picLocks noChangeAspect="1"/>
          </p:cNvPicPr>
          <p:nvPr/>
        </p:nvPicPr>
        <p:blipFill>
          <a:blip r:embed="rId4"/>
          <a:stretch>
            <a:fillRect/>
          </a:stretch>
        </p:blipFill>
        <p:spPr>
          <a:xfrm>
            <a:off x="4686061" y="1385435"/>
            <a:ext cx="7371468" cy="2623349"/>
          </a:xfrm>
          <a:prstGeom prst="rect">
            <a:avLst/>
          </a:prstGeom>
        </p:spPr>
      </p:pic>
      <p:pic>
        <p:nvPicPr>
          <p:cNvPr id="11" name="Picture 10">
            <a:extLst>
              <a:ext uri="{FF2B5EF4-FFF2-40B4-BE49-F238E27FC236}">
                <a16:creationId xmlns:a16="http://schemas.microsoft.com/office/drawing/2014/main" id="{62EE1792-7C7E-DEBB-E3C8-35BC9B8B16BF}"/>
              </a:ext>
            </a:extLst>
          </p:cNvPr>
          <p:cNvPicPr>
            <a:picLocks noChangeAspect="1"/>
          </p:cNvPicPr>
          <p:nvPr/>
        </p:nvPicPr>
        <p:blipFill>
          <a:blip r:embed="rId5"/>
          <a:stretch>
            <a:fillRect/>
          </a:stretch>
        </p:blipFill>
        <p:spPr>
          <a:xfrm>
            <a:off x="457201" y="4206884"/>
            <a:ext cx="3980330" cy="2417927"/>
          </a:xfrm>
          <a:prstGeom prst="rect">
            <a:avLst/>
          </a:prstGeom>
        </p:spPr>
      </p:pic>
      <p:pic>
        <p:nvPicPr>
          <p:cNvPr id="15" name="Picture 14">
            <a:extLst>
              <a:ext uri="{FF2B5EF4-FFF2-40B4-BE49-F238E27FC236}">
                <a16:creationId xmlns:a16="http://schemas.microsoft.com/office/drawing/2014/main" id="{A7627A0A-7D22-074F-419D-90D30B334833}"/>
              </a:ext>
            </a:extLst>
          </p:cNvPr>
          <p:cNvPicPr>
            <a:picLocks noChangeAspect="1"/>
          </p:cNvPicPr>
          <p:nvPr/>
        </p:nvPicPr>
        <p:blipFill>
          <a:blip r:embed="rId6"/>
          <a:stretch>
            <a:fillRect/>
          </a:stretch>
        </p:blipFill>
        <p:spPr>
          <a:xfrm>
            <a:off x="450712" y="2052582"/>
            <a:ext cx="3986818" cy="1956203"/>
          </a:xfrm>
          <a:prstGeom prst="rect">
            <a:avLst/>
          </a:prstGeom>
        </p:spPr>
      </p:pic>
      <p:pic>
        <p:nvPicPr>
          <p:cNvPr id="19" name="Picture 18">
            <a:extLst>
              <a:ext uri="{FF2B5EF4-FFF2-40B4-BE49-F238E27FC236}">
                <a16:creationId xmlns:a16="http://schemas.microsoft.com/office/drawing/2014/main" id="{35D9167D-19AD-31A3-41E4-C8B4F0817E2A}"/>
              </a:ext>
            </a:extLst>
          </p:cNvPr>
          <p:cNvPicPr>
            <a:picLocks noChangeAspect="1"/>
          </p:cNvPicPr>
          <p:nvPr/>
        </p:nvPicPr>
        <p:blipFill>
          <a:blip r:embed="rId7"/>
          <a:stretch>
            <a:fillRect/>
          </a:stretch>
        </p:blipFill>
        <p:spPr>
          <a:xfrm>
            <a:off x="4650506" y="4232028"/>
            <a:ext cx="4186519" cy="2417928"/>
          </a:xfrm>
          <a:prstGeom prst="rect">
            <a:avLst/>
          </a:prstGeom>
        </p:spPr>
      </p:pic>
      <p:pic>
        <p:nvPicPr>
          <p:cNvPr id="21" name="Picture 20">
            <a:extLst>
              <a:ext uri="{FF2B5EF4-FFF2-40B4-BE49-F238E27FC236}">
                <a16:creationId xmlns:a16="http://schemas.microsoft.com/office/drawing/2014/main" id="{0A8B5BCD-3B05-C660-0743-3D09A2A824AB}"/>
              </a:ext>
            </a:extLst>
          </p:cNvPr>
          <p:cNvPicPr>
            <a:picLocks noChangeAspect="1"/>
          </p:cNvPicPr>
          <p:nvPr/>
        </p:nvPicPr>
        <p:blipFill>
          <a:blip r:embed="rId8"/>
          <a:stretch>
            <a:fillRect/>
          </a:stretch>
        </p:blipFill>
        <p:spPr>
          <a:xfrm>
            <a:off x="9050000" y="4232028"/>
            <a:ext cx="3079390" cy="2392783"/>
          </a:xfrm>
          <a:prstGeom prst="rect">
            <a:avLst/>
          </a:prstGeom>
        </p:spPr>
      </p:pic>
      <p:sp>
        <p:nvSpPr>
          <p:cNvPr id="23" name="Text 3">
            <a:extLst>
              <a:ext uri="{FF2B5EF4-FFF2-40B4-BE49-F238E27FC236}">
                <a16:creationId xmlns:a16="http://schemas.microsoft.com/office/drawing/2014/main" id="{7CCC3F3C-8A29-D29C-753D-07C528D9DD68}"/>
              </a:ext>
            </a:extLst>
          </p:cNvPr>
          <p:cNvSpPr/>
          <p:nvPr/>
        </p:nvSpPr>
        <p:spPr>
          <a:xfrm>
            <a:off x="-401732" y="738574"/>
            <a:ext cx="5332319" cy="466279"/>
          </a:xfrm>
          <a:prstGeom prst="rect">
            <a:avLst/>
          </a:prstGeom>
          <a:noFill/>
          <a:ln>
            <a:miter lim="800000"/>
          </a:ln>
        </p:spPr>
        <p:txBody>
          <a:bodyPr wrap="square" lIns="0" tIns="0" rIns="0" bIns="0" rtlCol="0" anchor="ctr"/>
          <a:lstStyle/>
          <a:p>
            <a:pPr algn="ctr" fontAlgn="ctr">
              <a:lnSpc>
                <a:spcPts val="3672"/>
              </a:lnSpc>
            </a:pPr>
            <a:r>
              <a:rPr lang="en-US" sz="2400" kern="0" spc="-191" dirty="0">
                <a:solidFill>
                  <a:srgbClr val="FFFFFF"/>
                </a:solidFill>
                <a:latin typeface="Inter SemiBold" pitchFamily="34" charset="0"/>
                <a:ea typeface="Inter SemiBold" pitchFamily="34" charset="-122"/>
                <a:cs typeface="Inter SemiBold" pitchFamily="34" charset="-120"/>
              </a:rPr>
              <a:t>Dashboard – Data insights</a:t>
            </a:r>
            <a:endParaRPr lang="en-US" sz="1400" dirty="0"/>
          </a:p>
        </p:txBody>
      </p:sp>
      <p:sp>
        <p:nvSpPr>
          <p:cNvPr id="4" name="Text 0">
            <a:extLst>
              <a:ext uri="{FF2B5EF4-FFF2-40B4-BE49-F238E27FC236}">
                <a16:creationId xmlns:a16="http://schemas.microsoft.com/office/drawing/2014/main" id="{FD867714-9580-7261-534E-443DF5E4DE47}"/>
              </a:ext>
            </a:extLst>
          </p:cNvPr>
          <p:cNvSpPr/>
          <p:nvPr/>
        </p:nvSpPr>
        <p:spPr>
          <a:xfrm>
            <a:off x="333375" y="110944"/>
            <a:ext cx="11525250" cy="548580"/>
          </a:xfrm>
          <a:prstGeom prst="rect">
            <a:avLst/>
          </a:prstGeom>
          <a:noFill/>
          <a:ln>
            <a:miter lim="800000"/>
          </a:ln>
        </p:spPr>
        <p:txBody>
          <a:bodyPr wrap="square" lIns="0" tIns="0" rIns="0" bIns="0" rtlCol="0" anchor="t"/>
          <a:lstStyle/>
          <a:p>
            <a:pPr marL="2286" algn="ctr">
              <a:spcAft>
                <a:spcPts val="600"/>
              </a:spcAft>
            </a:pPr>
            <a:r>
              <a:rPr lang="en-US" sz="3000" kern="0" dirty="0">
                <a:solidFill>
                  <a:schemeClr val="bg1"/>
                </a:solidFill>
                <a:latin typeface="Inter SemiBold"/>
                <a:ea typeface="Inter SemiBold" pitchFamily="34" charset="-122"/>
              </a:rPr>
              <a:t>UI – Insights, Dashboard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DFEB-0E34-D8E1-FFFF-23EB4FEB1A0A}"/>
            </a:ext>
          </a:extLst>
        </p:cNvPr>
        <p:cNvGrpSpPr/>
        <p:nvPr/>
      </p:nvGrpSpPr>
      <p:grpSpPr>
        <a:xfrm>
          <a:off x="0" y="0"/>
          <a:ext cx="0" cy="0"/>
          <a:chOff x="0" y="0"/>
          <a:chExt cx="0" cy="0"/>
        </a:xfrm>
      </p:grpSpPr>
      <p:sp>
        <p:nvSpPr>
          <p:cNvPr id="23" name="Text 3">
            <a:extLst>
              <a:ext uri="{FF2B5EF4-FFF2-40B4-BE49-F238E27FC236}">
                <a16:creationId xmlns:a16="http://schemas.microsoft.com/office/drawing/2014/main" id="{450213AD-7534-028C-174A-65DFE2B8EC36}"/>
              </a:ext>
            </a:extLst>
          </p:cNvPr>
          <p:cNvSpPr/>
          <p:nvPr/>
        </p:nvSpPr>
        <p:spPr>
          <a:xfrm>
            <a:off x="458881" y="1046110"/>
            <a:ext cx="6919072" cy="411957"/>
          </a:xfrm>
          <a:prstGeom prst="rect">
            <a:avLst/>
          </a:prstGeom>
          <a:noFill/>
          <a:ln>
            <a:miter lim="800000"/>
          </a:ln>
        </p:spPr>
        <p:txBody>
          <a:bodyPr wrap="square" lIns="0" tIns="0" rIns="0" bIns="0" rtlCol="0" anchor="ctr"/>
          <a:lstStyle/>
          <a:p>
            <a:pPr algn="ctr" fontAlgn="ctr">
              <a:lnSpc>
                <a:spcPts val="3672"/>
              </a:lnSpc>
            </a:pPr>
            <a:r>
              <a:rPr lang="en-US" sz="2400" kern="0" spc="-191" dirty="0">
                <a:solidFill>
                  <a:srgbClr val="FFFFFF"/>
                </a:solidFill>
                <a:latin typeface="Inter SemiBold" pitchFamily="34" charset="0"/>
                <a:ea typeface="Inter SemiBold" pitchFamily="34" charset="-122"/>
                <a:cs typeface="Inter SemiBold" pitchFamily="34" charset="-120"/>
              </a:rPr>
              <a:t>Dashboard – Data Analysis &amp; Hypothesis Validation</a:t>
            </a:r>
            <a:endParaRPr lang="en-US" sz="1400" dirty="0"/>
          </a:p>
        </p:txBody>
      </p:sp>
      <p:pic>
        <p:nvPicPr>
          <p:cNvPr id="6" name="Picture 5">
            <a:extLst>
              <a:ext uri="{FF2B5EF4-FFF2-40B4-BE49-F238E27FC236}">
                <a16:creationId xmlns:a16="http://schemas.microsoft.com/office/drawing/2014/main" id="{6BF4AAE4-FE2F-F0AB-8A64-4BCC44E40472}"/>
              </a:ext>
            </a:extLst>
          </p:cNvPr>
          <p:cNvPicPr>
            <a:picLocks noChangeAspect="1"/>
          </p:cNvPicPr>
          <p:nvPr/>
        </p:nvPicPr>
        <p:blipFill>
          <a:blip r:embed="rId3"/>
          <a:stretch>
            <a:fillRect/>
          </a:stretch>
        </p:blipFill>
        <p:spPr>
          <a:xfrm>
            <a:off x="1997309" y="1800964"/>
            <a:ext cx="5990244" cy="3309894"/>
          </a:xfrm>
          <a:prstGeom prst="rect">
            <a:avLst/>
          </a:prstGeom>
        </p:spPr>
      </p:pic>
      <p:sp>
        <p:nvSpPr>
          <p:cNvPr id="4" name="Text 19">
            <a:extLst>
              <a:ext uri="{FF2B5EF4-FFF2-40B4-BE49-F238E27FC236}">
                <a16:creationId xmlns:a16="http://schemas.microsoft.com/office/drawing/2014/main" id="{C8A839DE-36F0-C762-E57A-F0841BD2A2D0}"/>
              </a:ext>
            </a:extLst>
          </p:cNvPr>
          <p:cNvSpPr/>
          <p:nvPr/>
        </p:nvSpPr>
        <p:spPr>
          <a:xfrm>
            <a:off x="458881" y="5605911"/>
            <a:ext cx="12106275" cy="411957"/>
          </a:xfrm>
          <a:prstGeom prst="rect">
            <a:avLst/>
          </a:prstGeom>
          <a:noFill/>
          <a:ln>
            <a:miter lim="800000"/>
          </a:ln>
        </p:spPr>
        <p:txBody>
          <a:bodyPr wrap="square" lIns="0" tIns="0" rIns="0" bIns="0" rtlCol="0" anchor="ctr"/>
          <a:lstStyle/>
          <a:p>
            <a:r>
              <a:rPr lang="en-US" sz="1600" dirty="0">
                <a:solidFill>
                  <a:schemeClr val="bg1"/>
                </a:solidFill>
              </a:rPr>
              <a:t>Hypothesis Proven – </a:t>
            </a:r>
          </a:p>
          <a:p>
            <a:r>
              <a:rPr lang="en-US" sz="1600" dirty="0">
                <a:solidFill>
                  <a:schemeClr val="bg1"/>
                </a:solidFill>
              </a:rPr>
              <a:t>More than 50% additional issues are captured by ML Model as BAD ticket and requires review against hypothesis of 20% and above assumed at start.</a:t>
            </a:r>
            <a:endParaRPr lang="en-US" sz="1400" dirty="0">
              <a:solidFill>
                <a:schemeClr val="bg1"/>
              </a:solidFill>
            </a:endParaRPr>
          </a:p>
        </p:txBody>
      </p:sp>
      <p:sp>
        <p:nvSpPr>
          <p:cNvPr id="5" name="Text 0">
            <a:extLst>
              <a:ext uri="{FF2B5EF4-FFF2-40B4-BE49-F238E27FC236}">
                <a16:creationId xmlns:a16="http://schemas.microsoft.com/office/drawing/2014/main" id="{BD6B8012-ECA1-92F4-598D-56B274B9B31B}"/>
              </a:ext>
            </a:extLst>
          </p:cNvPr>
          <p:cNvSpPr/>
          <p:nvPr/>
        </p:nvSpPr>
        <p:spPr>
          <a:xfrm>
            <a:off x="-347943" y="208955"/>
            <a:ext cx="11525250" cy="548580"/>
          </a:xfrm>
          <a:prstGeom prst="rect">
            <a:avLst/>
          </a:prstGeom>
          <a:noFill/>
          <a:ln>
            <a:miter lim="800000"/>
          </a:ln>
        </p:spPr>
        <p:txBody>
          <a:bodyPr wrap="square" lIns="0" tIns="0" rIns="0" bIns="0" rtlCol="0" anchor="t"/>
          <a:lstStyle/>
          <a:p>
            <a:pPr marL="2286" algn="ctr">
              <a:spcAft>
                <a:spcPts val="600"/>
              </a:spcAft>
            </a:pPr>
            <a:r>
              <a:rPr lang="en-US" sz="3000" kern="0" dirty="0">
                <a:solidFill>
                  <a:schemeClr val="bg1"/>
                </a:solidFill>
                <a:latin typeface="Inter SemiBold"/>
                <a:ea typeface="Inter SemiBold" pitchFamily="34" charset="-122"/>
              </a:rPr>
              <a:t>UI – Data analysis &amp; Hypothesis validation</a:t>
            </a:r>
            <a:endParaRPr lang="en-US" sz="3000" kern="0" dirty="0">
              <a:solidFill>
                <a:schemeClr val="bg1"/>
              </a:solidFill>
              <a:ea typeface="Inter SemiBold" pitchFamily="34" charset="-122"/>
            </a:endParaRPr>
          </a:p>
        </p:txBody>
      </p:sp>
    </p:spTree>
    <p:extLst>
      <p:ext uri="{BB962C8B-B14F-4D97-AF65-F5344CB8AC3E}">
        <p14:creationId xmlns:p14="http://schemas.microsoft.com/office/powerpoint/2010/main" val="3864193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52FCF-D78D-C891-25D5-596E69B177E0}"/>
            </a:ext>
          </a:extLst>
        </p:cNvPr>
        <p:cNvGrpSpPr/>
        <p:nvPr/>
      </p:nvGrpSpPr>
      <p:grpSpPr>
        <a:xfrm>
          <a:off x="0" y="0"/>
          <a:ext cx="0" cy="0"/>
          <a:chOff x="0" y="0"/>
          <a:chExt cx="0" cy="0"/>
        </a:xfrm>
      </p:grpSpPr>
      <p:sp>
        <p:nvSpPr>
          <p:cNvPr id="23" name="Text 3">
            <a:extLst>
              <a:ext uri="{FF2B5EF4-FFF2-40B4-BE49-F238E27FC236}">
                <a16:creationId xmlns:a16="http://schemas.microsoft.com/office/drawing/2014/main" id="{885264F7-56F4-E3F7-D169-B2D6CEE00741}"/>
              </a:ext>
            </a:extLst>
          </p:cNvPr>
          <p:cNvSpPr/>
          <p:nvPr/>
        </p:nvSpPr>
        <p:spPr>
          <a:xfrm>
            <a:off x="458880" y="1046110"/>
            <a:ext cx="9859495" cy="411957"/>
          </a:xfrm>
          <a:prstGeom prst="rect">
            <a:avLst/>
          </a:prstGeom>
          <a:noFill/>
          <a:ln>
            <a:miter lim="800000"/>
          </a:ln>
        </p:spPr>
        <p:txBody>
          <a:bodyPr wrap="square" lIns="0" tIns="0" rIns="0" bIns="0" rtlCol="0" anchor="ctr"/>
          <a:lstStyle/>
          <a:p>
            <a:pPr fontAlgn="ctr">
              <a:lnSpc>
                <a:spcPts val="3672"/>
              </a:lnSpc>
            </a:pPr>
            <a:endParaRPr lang="en-US" sz="1600" dirty="0"/>
          </a:p>
        </p:txBody>
      </p:sp>
      <p:sp>
        <p:nvSpPr>
          <p:cNvPr id="5" name="Text 0">
            <a:extLst>
              <a:ext uri="{FF2B5EF4-FFF2-40B4-BE49-F238E27FC236}">
                <a16:creationId xmlns:a16="http://schemas.microsoft.com/office/drawing/2014/main" id="{8DCFB3B4-D85F-A618-4E24-AB6162CF67F8}"/>
              </a:ext>
            </a:extLst>
          </p:cNvPr>
          <p:cNvSpPr/>
          <p:nvPr/>
        </p:nvSpPr>
        <p:spPr>
          <a:xfrm>
            <a:off x="-347943" y="208955"/>
            <a:ext cx="11525250" cy="548580"/>
          </a:xfrm>
          <a:prstGeom prst="rect">
            <a:avLst/>
          </a:prstGeom>
          <a:noFill/>
          <a:ln>
            <a:miter lim="800000"/>
          </a:ln>
        </p:spPr>
        <p:txBody>
          <a:bodyPr wrap="square" lIns="0" tIns="0" rIns="0" bIns="0" rtlCol="0" anchor="t"/>
          <a:lstStyle/>
          <a:p>
            <a:pPr marL="2286" algn="ctr">
              <a:spcAft>
                <a:spcPts val="600"/>
              </a:spcAft>
            </a:pPr>
            <a:r>
              <a:rPr lang="en-US" sz="3000" kern="0" dirty="0">
                <a:solidFill>
                  <a:schemeClr val="bg1"/>
                </a:solidFill>
                <a:latin typeface="Inter SemiBold"/>
                <a:ea typeface="Inter SemiBold" pitchFamily="34" charset="-122"/>
              </a:rPr>
              <a:t>Conversational Chatbot : Hybrid RAG Execution Pipeline</a:t>
            </a:r>
            <a:endParaRPr lang="en-US" sz="3000" kern="0" dirty="0">
              <a:solidFill>
                <a:schemeClr val="bg1"/>
              </a:solidFill>
              <a:ea typeface="Inter SemiBold" pitchFamily="34" charset="-122"/>
            </a:endParaRPr>
          </a:p>
        </p:txBody>
      </p:sp>
      <p:sp>
        <p:nvSpPr>
          <p:cNvPr id="10" name="Text 3">
            <a:extLst>
              <a:ext uri="{FF2B5EF4-FFF2-40B4-BE49-F238E27FC236}">
                <a16:creationId xmlns:a16="http://schemas.microsoft.com/office/drawing/2014/main" id="{BD7F2A9D-D330-55BC-625E-8841F4BEE244}"/>
              </a:ext>
            </a:extLst>
          </p:cNvPr>
          <p:cNvSpPr/>
          <p:nvPr/>
        </p:nvSpPr>
        <p:spPr>
          <a:xfrm>
            <a:off x="304798" y="1463942"/>
            <a:ext cx="11887202" cy="2222972"/>
          </a:xfrm>
          <a:prstGeom prst="rect">
            <a:avLst/>
          </a:prstGeom>
          <a:noFill/>
          <a:ln>
            <a:miter lim="800000"/>
          </a:ln>
        </p:spPr>
        <p:txBody>
          <a:bodyPr wrap="square" lIns="0" tIns="0" rIns="0" bIns="0" rtlCol="0" anchor="t"/>
          <a:lstStyle/>
          <a:p>
            <a:pPr marL="285750" indent="-285750" fontAlgn="ctr">
              <a:lnSpc>
                <a:spcPts val="3672"/>
              </a:lnSpc>
              <a:buFont typeface="Arial" panose="020B0604020202020204" pitchFamily="34" charset="0"/>
              <a:buChar char="•"/>
            </a:pPr>
            <a:r>
              <a:rPr lang="en-US" dirty="0">
                <a:solidFill>
                  <a:schemeClr val="bg1"/>
                </a:solidFill>
              </a:rPr>
              <a:t>Purpose : Natural Language interface  for Jira ticket analysis</a:t>
            </a:r>
            <a:r>
              <a:rPr lang="en-US" kern="0" spc="-191" dirty="0">
                <a:solidFill>
                  <a:srgbClr val="FFFFFF"/>
                </a:solidFill>
                <a:ea typeface="Inter SemiBold" pitchFamily="34" charset="-122"/>
              </a:rPr>
              <a:t>.</a:t>
            </a:r>
          </a:p>
          <a:p>
            <a:pPr marL="285750" indent="-285750" fontAlgn="ctr">
              <a:lnSpc>
                <a:spcPts val="3672"/>
              </a:lnSpc>
              <a:buFont typeface="Arial" panose="020B0604020202020204" pitchFamily="34" charset="0"/>
              <a:buChar char="•"/>
            </a:pPr>
            <a:r>
              <a:rPr lang="en-US" dirty="0">
                <a:solidFill>
                  <a:schemeClr val="bg1"/>
                </a:solidFill>
              </a:rPr>
              <a:t>5-stage  Hybrid RAG  pipeline  -  Combining Deterministic Filtering, LLM Intent Parsing and vector search for tabular Jira data</a:t>
            </a:r>
          </a:p>
          <a:p>
            <a:pPr marL="285750" indent="-285750" fontAlgn="ctr">
              <a:lnSpc>
                <a:spcPts val="3672"/>
              </a:lnSpc>
              <a:buFont typeface="Arial" panose="020B0604020202020204" pitchFamily="34" charset="0"/>
              <a:buChar char="•"/>
            </a:pPr>
            <a:endParaRPr lang="en-US" sz="1600" b="1" kern="0" spc="-191" dirty="0">
              <a:solidFill>
                <a:srgbClr val="FFFFFF"/>
              </a:solidFill>
              <a:ea typeface="Inter SemiBold" pitchFamily="34" charset="-122"/>
            </a:endParaRPr>
          </a:p>
          <a:p>
            <a:pPr fontAlgn="ctr">
              <a:lnSpc>
                <a:spcPts val="3672"/>
              </a:lnSpc>
            </a:pPr>
            <a:endParaRPr lang="en-US" dirty="0"/>
          </a:p>
        </p:txBody>
      </p:sp>
      <p:sp>
        <p:nvSpPr>
          <p:cNvPr id="13" name="Rectangle 12">
            <a:extLst>
              <a:ext uri="{FF2B5EF4-FFF2-40B4-BE49-F238E27FC236}">
                <a16:creationId xmlns:a16="http://schemas.microsoft.com/office/drawing/2014/main" id="{2B09FC54-0A3C-FEC6-491B-9BACA756EBDB}"/>
              </a:ext>
            </a:extLst>
          </p:cNvPr>
          <p:cNvSpPr/>
          <p:nvPr/>
        </p:nvSpPr>
        <p:spPr>
          <a:xfrm>
            <a:off x="601898" y="3613160"/>
            <a:ext cx="1713940" cy="13004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Direct Fast Path</a:t>
            </a:r>
          </a:p>
          <a:p>
            <a:pPr algn="ctr"/>
            <a:endParaRPr lang="en-US" sz="900" b="1" dirty="0"/>
          </a:p>
          <a:p>
            <a:r>
              <a:rPr lang="en-US" sz="900" dirty="0"/>
              <a:t>• Regex intercepts Ticket IDs (e.g., AML-123)</a:t>
            </a:r>
            <a:br>
              <a:rPr lang="en-US" sz="900" dirty="0"/>
            </a:br>
            <a:r>
              <a:rPr lang="en-US" sz="900" dirty="0"/>
              <a:t>• Bypasses LLM entirely</a:t>
            </a:r>
            <a:br>
              <a:rPr lang="en-US" sz="900" dirty="0"/>
            </a:br>
            <a:r>
              <a:rPr lang="en-US" sz="900" dirty="0"/>
              <a:t>• </a:t>
            </a:r>
            <a:r>
              <a:rPr lang="en-US" sz="900" b="1" dirty="0"/>
              <a:t>Result:</a:t>
            </a:r>
            <a:r>
              <a:rPr lang="en-US" sz="900" dirty="0"/>
              <a:t> Sub-200ms in-memory Pandas lookup.</a:t>
            </a:r>
          </a:p>
        </p:txBody>
      </p:sp>
      <p:sp>
        <p:nvSpPr>
          <p:cNvPr id="14" name="Rectangle 13">
            <a:extLst>
              <a:ext uri="{FF2B5EF4-FFF2-40B4-BE49-F238E27FC236}">
                <a16:creationId xmlns:a16="http://schemas.microsoft.com/office/drawing/2014/main" id="{D465E713-C76A-0FC5-7F76-04F92DA89CD6}"/>
              </a:ext>
            </a:extLst>
          </p:cNvPr>
          <p:cNvSpPr/>
          <p:nvPr/>
        </p:nvSpPr>
        <p:spPr>
          <a:xfrm>
            <a:off x="2789980" y="3601916"/>
            <a:ext cx="1713940" cy="13004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 Local Llama3 </a:t>
            </a:r>
          </a:p>
          <a:p>
            <a:pPr algn="ctr"/>
            <a:endParaRPr lang="en-US" sz="900" dirty="0"/>
          </a:p>
          <a:p>
            <a:pPr marL="171450" indent="-171450">
              <a:buFont typeface="Arial" panose="020B0604020202020204" pitchFamily="34" charset="0"/>
              <a:buChar char="•"/>
            </a:pPr>
            <a:r>
              <a:rPr lang="en-US" sz="900" dirty="0"/>
              <a:t>Validates query</a:t>
            </a:r>
          </a:p>
          <a:p>
            <a:pPr marL="171450" indent="-171450">
              <a:buFont typeface="Arial" panose="020B0604020202020204" pitchFamily="34" charset="0"/>
              <a:buChar char="•"/>
            </a:pPr>
            <a:r>
              <a:rPr lang="en-US" sz="900" dirty="0"/>
              <a:t>Extracts strict JSON: Intent (list, avg, count, etc.) &amp; Filters (Priority, Status, Date).</a:t>
            </a:r>
          </a:p>
        </p:txBody>
      </p:sp>
      <p:sp>
        <p:nvSpPr>
          <p:cNvPr id="25" name="Rectangle: Rounded Corners 24">
            <a:extLst>
              <a:ext uri="{FF2B5EF4-FFF2-40B4-BE49-F238E27FC236}">
                <a16:creationId xmlns:a16="http://schemas.microsoft.com/office/drawing/2014/main" id="{5440B50C-9125-424F-9443-9E8B978BC5C0}"/>
              </a:ext>
            </a:extLst>
          </p:cNvPr>
          <p:cNvSpPr/>
          <p:nvPr/>
        </p:nvSpPr>
        <p:spPr>
          <a:xfrm>
            <a:off x="4454616" y="5643594"/>
            <a:ext cx="2330824" cy="4119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Result</a:t>
            </a:r>
          </a:p>
        </p:txBody>
      </p:sp>
      <p:sp>
        <p:nvSpPr>
          <p:cNvPr id="29" name="Rectangle 28">
            <a:extLst>
              <a:ext uri="{FF2B5EF4-FFF2-40B4-BE49-F238E27FC236}">
                <a16:creationId xmlns:a16="http://schemas.microsoft.com/office/drawing/2014/main" id="{D47D6116-DD85-E1A3-C03A-8EB11B5344A2}"/>
              </a:ext>
            </a:extLst>
          </p:cNvPr>
          <p:cNvSpPr/>
          <p:nvPr/>
        </p:nvSpPr>
        <p:spPr>
          <a:xfrm>
            <a:off x="4763058" y="3601916"/>
            <a:ext cx="1713940" cy="13004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Structured Filter</a:t>
            </a:r>
          </a:p>
          <a:p>
            <a:endParaRPr lang="en-US" sz="900" b="1" dirty="0"/>
          </a:p>
          <a:p>
            <a:pPr marL="171450" indent="-171450">
              <a:buFont typeface="Arial" panose="020B0604020202020204" pitchFamily="34" charset="0"/>
              <a:buChar char="•"/>
            </a:pPr>
            <a:r>
              <a:rPr lang="en-US" sz="900" b="1" dirty="0"/>
              <a:t> </a:t>
            </a:r>
            <a:r>
              <a:rPr lang="en-US" sz="900" dirty="0"/>
              <a:t>Pandas SQL-like filtering on DataFrame columns.</a:t>
            </a:r>
          </a:p>
          <a:p>
            <a:pPr marL="171450" indent="-171450">
              <a:buFont typeface="Arial" panose="020B0604020202020204" pitchFamily="34" charset="0"/>
              <a:buChar char="•"/>
            </a:pPr>
            <a:r>
              <a:rPr lang="en-US" sz="900" b="1" dirty="0"/>
              <a:t>Crucial Safety Gate:</a:t>
            </a:r>
            <a:r>
              <a:rPr lang="en-US" sz="900" dirty="0"/>
              <a:t> If JSON returns empty Filters, pivot to generic help message</a:t>
            </a:r>
          </a:p>
        </p:txBody>
      </p:sp>
      <p:sp>
        <p:nvSpPr>
          <p:cNvPr id="31" name="Rectangle 30">
            <a:extLst>
              <a:ext uri="{FF2B5EF4-FFF2-40B4-BE49-F238E27FC236}">
                <a16:creationId xmlns:a16="http://schemas.microsoft.com/office/drawing/2014/main" id="{3CCF5BE4-F913-6A38-20E2-2465FA108594}"/>
              </a:ext>
            </a:extLst>
          </p:cNvPr>
          <p:cNvSpPr/>
          <p:nvPr/>
        </p:nvSpPr>
        <p:spPr>
          <a:xfrm>
            <a:off x="6854778" y="3589517"/>
            <a:ext cx="1713940" cy="13004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Semantic Vector Search </a:t>
            </a:r>
          </a:p>
          <a:p>
            <a:endParaRPr lang="en-US" sz="900" b="1" dirty="0"/>
          </a:p>
          <a:p>
            <a:pPr marL="171450" indent="-171450">
              <a:buFont typeface="Arial" panose="020B0604020202020204" pitchFamily="34" charset="0"/>
              <a:buChar char="•"/>
            </a:pPr>
            <a:r>
              <a:rPr lang="en-US" sz="900" dirty="0"/>
              <a:t> Hybrid Fallback</a:t>
            </a:r>
          </a:p>
          <a:p>
            <a:pPr marL="171450" indent="-171450">
              <a:buFont typeface="Arial" panose="020B0604020202020204" pitchFamily="34" charset="0"/>
              <a:buChar char="•"/>
            </a:pPr>
            <a:r>
              <a:rPr lang="en-US" sz="900" dirty="0"/>
              <a:t>Cosine-similarity search against Summary + Description embeddings.</a:t>
            </a:r>
          </a:p>
        </p:txBody>
      </p:sp>
      <p:sp>
        <p:nvSpPr>
          <p:cNvPr id="33" name="Rectangle 32">
            <a:extLst>
              <a:ext uri="{FF2B5EF4-FFF2-40B4-BE49-F238E27FC236}">
                <a16:creationId xmlns:a16="http://schemas.microsoft.com/office/drawing/2014/main" id="{551C24D5-2CFC-D605-72C4-F7573448A579}"/>
              </a:ext>
            </a:extLst>
          </p:cNvPr>
          <p:cNvSpPr/>
          <p:nvPr/>
        </p:nvSpPr>
        <p:spPr>
          <a:xfrm>
            <a:off x="8947200" y="3601916"/>
            <a:ext cx="2087932" cy="13004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Structural Fallback (Resilience)</a:t>
            </a:r>
          </a:p>
          <a:p>
            <a:pPr algn="ctr"/>
            <a:endParaRPr lang="en-US" sz="900" b="1" dirty="0"/>
          </a:p>
          <a:p>
            <a:pPr marL="171450" indent="-171450">
              <a:buFont typeface="Arial" panose="020B0604020202020204" pitchFamily="34" charset="0"/>
              <a:buChar char="•"/>
            </a:pPr>
            <a:r>
              <a:rPr lang="en-US" sz="900" dirty="0"/>
              <a:t>Activated if Ollama is offline or times out.</a:t>
            </a:r>
          </a:p>
          <a:p>
            <a:pPr marL="171450" indent="-171450">
              <a:buFont typeface="Arial" panose="020B0604020202020204" pitchFamily="34" charset="0"/>
              <a:buChar char="•"/>
            </a:pPr>
            <a:r>
              <a:rPr lang="en-US" sz="900" dirty="0"/>
              <a:t>Hardcoded Regex + difflib fuzzy matcher (handles typos like crticl).</a:t>
            </a:r>
          </a:p>
          <a:p>
            <a:pPr marL="171450" indent="-171450">
              <a:buFont typeface="Arial" panose="020B0604020202020204" pitchFamily="34" charset="0"/>
              <a:buChar char="•"/>
            </a:pPr>
            <a:r>
              <a:rPr lang="en-US" sz="900" dirty="0"/>
              <a:t>Handles basic queries: "average score", "list overdue", "count backlog".</a:t>
            </a:r>
          </a:p>
        </p:txBody>
      </p:sp>
      <p:cxnSp>
        <p:nvCxnSpPr>
          <p:cNvPr id="35" name="Connector: Elbow 34">
            <a:extLst>
              <a:ext uri="{FF2B5EF4-FFF2-40B4-BE49-F238E27FC236}">
                <a16:creationId xmlns:a16="http://schemas.microsoft.com/office/drawing/2014/main" id="{38485E71-C660-6FF3-77EA-CA87C59CC5F6}"/>
              </a:ext>
            </a:extLst>
          </p:cNvPr>
          <p:cNvCxnSpPr>
            <a:cxnSpLocks/>
            <a:stCxn id="13" idx="2"/>
            <a:endCxn id="25" idx="1"/>
          </p:cNvCxnSpPr>
          <p:nvPr/>
        </p:nvCxnSpPr>
        <p:spPr>
          <a:xfrm rot="16200000" flipH="1">
            <a:off x="2488784" y="3883741"/>
            <a:ext cx="935916" cy="2995748"/>
          </a:xfrm>
          <a:prstGeom prst="bentConnector2">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0E39A131-62A9-8943-D32D-C0E6A48521CE}"/>
              </a:ext>
            </a:extLst>
          </p:cNvPr>
          <p:cNvCxnSpPr>
            <a:cxnSpLocks/>
            <a:stCxn id="14" idx="0"/>
            <a:endCxn id="33" idx="0"/>
          </p:cNvCxnSpPr>
          <p:nvPr/>
        </p:nvCxnSpPr>
        <p:spPr>
          <a:xfrm rot="5400000" flipH="1" flipV="1">
            <a:off x="6819058" y="429808"/>
            <a:ext cx="12700" cy="6344216"/>
          </a:xfrm>
          <a:prstGeom prst="bentConnector3">
            <a:avLst>
              <a:gd name="adj1" fmla="val 1800000"/>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7A4DA1DE-8050-970F-0FEC-975D77CFE99A}"/>
              </a:ext>
            </a:extLst>
          </p:cNvPr>
          <p:cNvSpPr txBox="1"/>
          <p:nvPr/>
        </p:nvSpPr>
        <p:spPr>
          <a:xfrm>
            <a:off x="6662038" y="3194125"/>
            <a:ext cx="1442055" cy="230832"/>
          </a:xfrm>
          <a:prstGeom prst="rect">
            <a:avLst/>
          </a:prstGeom>
          <a:noFill/>
        </p:spPr>
        <p:txBody>
          <a:bodyPr wrap="square" rtlCol="0">
            <a:spAutoFit/>
          </a:bodyPr>
          <a:lstStyle/>
          <a:p>
            <a:r>
              <a:rPr lang="en-US" sz="900" dirty="0">
                <a:solidFill>
                  <a:schemeClr val="bg1"/>
                </a:solidFill>
              </a:rPr>
              <a:t>If LLM unavailable</a:t>
            </a:r>
          </a:p>
        </p:txBody>
      </p:sp>
      <p:cxnSp>
        <p:nvCxnSpPr>
          <p:cNvPr id="46" name="Straight Arrow Connector 45">
            <a:extLst>
              <a:ext uri="{FF2B5EF4-FFF2-40B4-BE49-F238E27FC236}">
                <a16:creationId xmlns:a16="http://schemas.microsoft.com/office/drawing/2014/main" id="{9793B85E-D294-EB25-22A8-62E05F0C72B7}"/>
              </a:ext>
            </a:extLst>
          </p:cNvPr>
          <p:cNvCxnSpPr>
            <a:stCxn id="14" idx="3"/>
            <a:endCxn id="29" idx="1"/>
          </p:cNvCxnSpPr>
          <p:nvPr/>
        </p:nvCxnSpPr>
        <p:spPr>
          <a:xfrm>
            <a:off x="4503920" y="4252164"/>
            <a:ext cx="259138" cy="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1A72353-97AF-273E-918F-3802215F9DBF}"/>
              </a:ext>
            </a:extLst>
          </p:cNvPr>
          <p:cNvCxnSpPr>
            <a:stCxn id="29" idx="3"/>
            <a:endCxn id="31" idx="1"/>
          </p:cNvCxnSpPr>
          <p:nvPr/>
        </p:nvCxnSpPr>
        <p:spPr>
          <a:xfrm flipV="1">
            <a:off x="6476998" y="4239765"/>
            <a:ext cx="377780" cy="12399"/>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F320884-0FD0-2C9D-0331-39FB281F450F}"/>
              </a:ext>
            </a:extLst>
          </p:cNvPr>
          <p:cNvCxnSpPr>
            <a:stCxn id="29" idx="2"/>
            <a:endCxn id="25" idx="0"/>
          </p:cNvCxnSpPr>
          <p:nvPr/>
        </p:nvCxnSpPr>
        <p:spPr>
          <a:xfrm>
            <a:off x="5620028" y="4902412"/>
            <a:ext cx="0" cy="741182"/>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7CB6B295-53E1-6505-D715-59347A2A4A7C}"/>
              </a:ext>
            </a:extLst>
          </p:cNvPr>
          <p:cNvCxnSpPr>
            <a:stCxn id="31" idx="2"/>
            <a:endCxn id="25" idx="3"/>
          </p:cNvCxnSpPr>
          <p:nvPr/>
        </p:nvCxnSpPr>
        <p:spPr>
          <a:xfrm rot="5400000">
            <a:off x="6768814" y="4906639"/>
            <a:ext cx="959560" cy="926308"/>
          </a:xfrm>
          <a:prstGeom prst="bentConnector2">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CF1B9DCE-368C-C391-F330-2A7F03152587}"/>
              </a:ext>
            </a:extLst>
          </p:cNvPr>
          <p:cNvSpPr txBox="1"/>
          <p:nvPr/>
        </p:nvSpPr>
        <p:spPr>
          <a:xfrm>
            <a:off x="6423240" y="4274224"/>
            <a:ext cx="565861" cy="215444"/>
          </a:xfrm>
          <a:prstGeom prst="rect">
            <a:avLst/>
          </a:prstGeom>
          <a:noFill/>
        </p:spPr>
        <p:txBody>
          <a:bodyPr wrap="square" rtlCol="0">
            <a:spAutoFit/>
          </a:bodyPr>
          <a:lstStyle/>
          <a:p>
            <a:r>
              <a:rPr lang="en-US" sz="800" dirty="0">
                <a:solidFill>
                  <a:schemeClr val="bg1"/>
                </a:solidFill>
              </a:rPr>
              <a:t>If empty</a:t>
            </a:r>
          </a:p>
        </p:txBody>
      </p:sp>
      <p:cxnSp>
        <p:nvCxnSpPr>
          <p:cNvPr id="56" name="Straight Arrow Connector 55">
            <a:extLst>
              <a:ext uri="{FF2B5EF4-FFF2-40B4-BE49-F238E27FC236}">
                <a16:creationId xmlns:a16="http://schemas.microsoft.com/office/drawing/2014/main" id="{82BF02B0-0425-115A-FE32-D1FC2B93B961}"/>
              </a:ext>
            </a:extLst>
          </p:cNvPr>
          <p:cNvCxnSpPr>
            <a:stCxn id="13" idx="3"/>
            <a:endCxn id="14" idx="1"/>
          </p:cNvCxnSpPr>
          <p:nvPr/>
        </p:nvCxnSpPr>
        <p:spPr>
          <a:xfrm flipV="1">
            <a:off x="2315838" y="4252164"/>
            <a:ext cx="474142" cy="11245"/>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CD715139-2005-CB65-D5AA-3345DD4F814D}"/>
              </a:ext>
            </a:extLst>
          </p:cNvPr>
          <p:cNvCxnSpPr>
            <a:stCxn id="33" idx="2"/>
          </p:cNvCxnSpPr>
          <p:nvPr/>
        </p:nvCxnSpPr>
        <p:spPr>
          <a:xfrm rot="5400000">
            <a:off x="7949392" y="3807798"/>
            <a:ext cx="947161" cy="3136388"/>
          </a:xfrm>
          <a:prstGeom prst="bentConnector2">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25657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B6106-3EC7-0987-351F-892FFD544D85}"/>
            </a:ext>
          </a:extLst>
        </p:cNvPr>
        <p:cNvGrpSpPr/>
        <p:nvPr/>
      </p:nvGrpSpPr>
      <p:grpSpPr>
        <a:xfrm>
          <a:off x="0" y="0"/>
          <a:ext cx="0" cy="0"/>
          <a:chOff x="0" y="0"/>
          <a:chExt cx="0" cy="0"/>
        </a:xfrm>
      </p:grpSpPr>
      <p:sp>
        <p:nvSpPr>
          <p:cNvPr id="23" name="Text 3">
            <a:extLst>
              <a:ext uri="{FF2B5EF4-FFF2-40B4-BE49-F238E27FC236}">
                <a16:creationId xmlns:a16="http://schemas.microsoft.com/office/drawing/2014/main" id="{20379218-0D77-104F-B7C4-B762BD6662D7}"/>
              </a:ext>
            </a:extLst>
          </p:cNvPr>
          <p:cNvSpPr/>
          <p:nvPr/>
        </p:nvSpPr>
        <p:spPr>
          <a:xfrm>
            <a:off x="458880" y="1046110"/>
            <a:ext cx="9859495" cy="411957"/>
          </a:xfrm>
          <a:prstGeom prst="rect">
            <a:avLst/>
          </a:prstGeom>
          <a:noFill/>
          <a:ln>
            <a:miter lim="800000"/>
          </a:ln>
        </p:spPr>
        <p:txBody>
          <a:bodyPr wrap="square" lIns="0" tIns="0" rIns="0" bIns="0" rtlCol="0" anchor="ctr"/>
          <a:lstStyle/>
          <a:p>
            <a:pPr fontAlgn="ctr">
              <a:lnSpc>
                <a:spcPts val="3672"/>
              </a:lnSpc>
            </a:pPr>
            <a:endParaRPr lang="en-US" sz="1600" dirty="0"/>
          </a:p>
        </p:txBody>
      </p:sp>
      <p:sp>
        <p:nvSpPr>
          <p:cNvPr id="5" name="Text 0">
            <a:extLst>
              <a:ext uri="{FF2B5EF4-FFF2-40B4-BE49-F238E27FC236}">
                <a16:creationId xmlns:a16="http://schemas.microsoft.com/office/drawing/2014/main" id="{32EBF098-08C3-FD75-5AE7-489647148C97}"/>
              </a:ext>
            </a:extLst>
          </p:cNvPr>
          <p:cNvSpPr/>
          <p:nvPr/>
        </p:nvSpPr>
        <p:spPr>
          <a:xfrm>
            <a:off x="0" y="240999"/>
            <a:ext cx="11525250" cy="548580"/>
          </a:xfrm>
          <a:prstGeom prst="rect">
            <a:avLst/>
          </a:prstGeom>
          <a:noFill/>
          <a:ln>
            <a:miter lim="800000"/>
          </a:ln>
        </p:spPr>
        <p:txBody>
          <a:bodyPr wrap="square" lIns="0" tIns="0" rIns="0" bIns="0" rtlCol="0" anchor="t"/>
          <a:lstStyle/>
          <a:p>
            <a:pPr marL="2286" algn="ctr">
              <a:spcAft>
                <a:spcPts val="600"/>
              </a:spcAft>
            </a:pPr>
            <a:r>
              <a:rPr lang="en-US" sz="3000" kern="0" dirty="0">
                <a:solidFill>
                  <a:schemeClr val="bg1"/>
                </a:solidFill>
                <a:latin typeface="Inter SemiBold"/>
                <a:ea typeface="Inter SemiBold" pitchFamily="34" charset="-122"/>
              </a:rPr>
              <a:t>Chatbot : Core capability &amp; Industry Comparison</a:t>
            </a:r>
            <a:endParaRPr lang="en-US" sz="3000" kern="0" dirty="0">
              <a:solidFill>
                <a:schemeClr val="bg1"/>
              </a:solidFill>
              <a:ea typeface="Inter SemiBold" pitchFamily="34" charset="-122"/>
            </a:endParaRPr>
          </a:p>
        </p:txBody>
      </p:sp>
      <p:sp>
        <p:nvSpPr>
          <p:cNvPr id="10" name="Text 3">
            <a:extLst>
              <a:ext uri="{FF2B5EF4-FFF2-40B4-BE49-F238E27FC236}">
                <a16:creationId xmlns:a16="http://schemas.microsoft.com/office/drawing/2014/main" id="{9746A7B1-5FEB-CEE8-E343-7A95860162E2}"/>
              </a:ext>
            </a:extLst>
          </p:cNvPr>
          <p:cNvSpPr/>
          <p:nvPr/>
        </p:nvSpPr>
        <p:spPr>
          <a:xfrm>
            <a:off x="304798" y="1463942"/>
            <a:ext cx="4840943" cy="2222972"/>
          </a:xfrm>
          <a:prstGeom prst="rect">
            <a:avLst/>
          </a:prstGeom>
          <a:noFill/>
          <a:ln>
            <a:miter lim="800000"/>
          </a:ln>
        </p:spPr>
        <p:txBody>
          <a:bodyPr wrap="square" lIns="0" tIns="0" rIns="0" bIns="0" rtlCol="0" anchor="t"/>
          <a:lstStyle/>
          <a:p>
            <a:endParaRPr lang="en-US" dirty="0">
              <a:solidFill>
                <a:schemeClr val="bg1"/>
              </a:solidFill>
            </a:endParaRPr>
          </a:p>
          <a:p>
            <a:pPr marL="285750" lvl="0" indent="-285750">
              <a:buFont typeface="Arial" panose="020B0604020202020204" pitchFamily="34" charset="0"/>
              <a:buChar char="•"/>
            </a:pPr>
            <a:r>
              <a:rPr lang="en-US" b="1" dirty="0">
                <a:solidFill>
                  <a:schemeClr val="bg1"/>
                </a:solidFill>
              </a:rPr>
              <a:t>Intent Classification &amp; Complex Aggregations : </a:t>
            </a:r>
            <a:r>
              <a:rPr lang="en-US" dirty="0">
                <a:solidFill>
                  <a:schemeClr val="bg1"/>
                </a:solidFill>
              </a:rPr>
              <a:t>The LLM engine is capable of classifying user queries into intents  (list, count, avg, dist, or detail) and a set of applicable filters (priorities, statuses, score thresholds, and date constraints).</a:t>
            </a:r>
          </a:p>
          <a:p>
            <a:pPr marL="285750" lvl="0" indent="-285750">
              <a:buFont typeface="Arial" panose="020B0604020202020204" pitchFamily="34" charset="0"/>
              <a:buChar char="•"/>
            </a:pPr>
            <a:endParaRPr lang="en-US" dirty="0">
              <a:solidFill>
                <a:schemeClr val="bg1"/>
              </a:solidFill>
            </a:endParaRPr>
          </a:p>
          <a:p>
            <a:pPr marL="285750" lvl="0" indent="-285750">
              <a:buFont typeface="Arial" panose="020B0604020202020204" pitchFamily="34" charset="0"/>
              <a:buChar char="•"/>
            </a:pPr>
            <a:r>
              <a:rPr lang="en-US" b="1" dirty="0">
                <a:solidFill>
                  <a:schemeClr val="bg1"/>
                </a:solidFill>
              </a:rPr>
              <a:t>Generic Fuzzy Typo Correction </a:t>
            </a:r>
            <a:r>
              <a:rPr lang="en-US" dirty="0">
                <a:solidFill>
                  <a:schemeClr val="bg1"/>
                </a:solidFill>
              </a:rPr>
              <a:t>Instead of hardcoding regular expressions for anticipated misspellings the module integrates Python’s difflib.get_close_matches(). This allows the structural parser to dynamically correct user typos in filter values </a:t>
            </a:r>
          </a:p>
          <a:p>
            <a:pPr marL="285750" lvl="0" indent="-285750">
              <a:buFont typeface="Arial" panose="020B0604020202020204" pitchFamily="34" charset="0"/>
              <a:buChar char="•"/>
            </a:pPr>
            <a:endParaRPr lang="en-US" dirty="0">
              <a:solidFill>
                <a:schemeClr val="bg1"/>
              </a:solidFill>
            </a:endParaRPr>
          </a:p>
          <a:p>
            <a:pPr lvl="0"/>
            <a:endParaRPr lang="en-US" dirty="0">
              <a:solidFill>
                <a:schemeClr val="bg1"/>
              </a:solidFill>
            </a:endParaRPr>
          </a:p>
          <a:p>
            <a:pPr lvl="0"/>
            <a:endParaRPr lang="en-US" dirty="0">
              <a:solidFill>
                <a:schemeClr val="bg1"/>
              </a:solidFill>
            </a:endParaRPr>
          </a:p>
        </p:txBody>
      </p:sp>
      <p:pic>
        <p:nvPicPr>
          <p:cNvPr id="6" name="Picture 5">
            <a:extLst>
              <a:ext uri="{FF2B5EF4-FFF2-40B4-BE49-F238E27FC236}">
                <a16:creationId xmlns:a16="http://schemas.microsoft.com/office/drawing/2014/main" id="{72FCEC7C-CED9-F8F4-68CC-01F16DBA6B1D}"/>
              </a:ext>
            </a:extLst>
          </p:cNvPr>
          <p:cNvPicPr>
            <a:picLocks noChangeAspect="1"/>
          </p:cNvPicPr>
          <p:nvPr/>
        </p:nvPicPr>
        <p:blipFill>
          <a:blip r:embed="rId3"/>
          <a:stretch>
            <a:fillRect/>
          </a:stretch>
        </p:blipFill>
        <p:spPr>
          <a:xfrm>
            <a:off x="5388627" y="1878106"/>
            <a:ext cx="6762786" cy="3841376"/>
          </a:xfrm>
          <a:prstGeom prst="rect">
            <a:avLst/>
          </a:prstGeom>
        </p:spPr>
      </p:pic>
      <p:sp>
        <p:nvSpPr>
          <p:cNvPr id="7" name="TextBox 6">
            <a:extLst>
              <a:ext uri="{FF2B5EF4-FFF2-40B4-BE49-F238E27FC236}">
                <a16:creationId xmlns:a16="http://schemas.microsoft.com/office/drawing/2014/main" id="{D6E59FA5-701F-6C20-4C36-5301999752C0}"/>
              </a:ext>
            </a:extLst>
          </p:cNvPr>
          <p:cNvSpPr txBox="1"/>
          <p:nvPr/>
        </p:nvSpPr>
        <p:spPr>
          <a:xfrm>
            <a:off x="2807632" y="1064039"/>
            <a:ext cx="10370485" cy="646331"/>
          </a:xfrm>
          <a:prstGeom prst="rect">
            <a:avLst/>
          </a:prstGeom>
          <a:noFill/>
        </p:spPr>
        <p:txBody>
          <a:bodyPr wrap="square" rtlCol="0">
            <a:spAutoFit/>
          </a:bodyPr>
          <a:lstStyle/>
          <a:p>
            <a:r>
              <a:rPr lang="en-US" b="1" dirty="0">
                <a:solidFill>
                  <a:schemeClr val="bg1"/>
                </a:solidFill>
              </a:rPr>
              <a:t>Functional Capabilities &amp; Benchmarking  (Industry comparison)</a:t>
            </a:r>
          </a:p>
          <a:p>
            <a:endParaRPr lang="en-US" dirty="0"/>
          </a:p>
        </p:txBody>
      </p:sp>
    </p:spTree>
    <p:extLst>
      <p:ext uri="{BB962C8B-B14F-4D97-AF65-F5344CB8AC3E}">
        <p14:creationId xmlns:p14="http://schemas.microsoft.com/office/powerpoint/2010/main" val="24359882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52BA2-D930-C19C-135D-F2611F738E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C79DFB7-D802-16BB-983B-2FFABACF3B25}"/>
              </a:ext>
            </a:extLst>
          </p:cNvPr>
          <p:cNvSpPr/>
          <p:nvPr/>
        </p:nvSpPr>
        <p:spPr>
          <a:xfrm>
            <a:off x="0" y="2891039"/>
            <a:ext cx="11525250" cy="548580"/>
          </a:xfrm>
          <a:prstGeom prst="rect">
            <a:avLst/>
          </a:prstGeom>
          <a:noFill/>
          <a:ln>
            <a:miter lim="800000"/>
          </a:ln>
        </p:spPr>
        <p:txBody>
          <a:bodyPr wrap="square" lIns="0" tIns="0" rIns="0" bIns="0" rtlCol="0" anchor="t"/>
          <a:lstStyle/>
          <a:p>
            <a:pPr algn="ctr" fontAlgn="ctr">
              <a:lnSpc>
                <a:spcPts val="4320"/>
              </a:lnSpc>
            </a:pPr>
            <a:r>
              <a:rPr lang="en-US" sz="3750" kern="0" spc="-225" dirty="0">
                <a:solidFill>
                  <a:srgbClr val="FFFFFF"/>
                </a:solidFill>
                <a:latin typeface="Inter SemiBold" pitchFamily="34" charset="0"/>
                <a:ea typeface="Inter SemiBold" pitchFamily="34" charset="-122"/>
                <a:cs typeface="Inter SemiBold" pitchFamily="34" charset="-120"/>
              </a:rPr>
              <a:t>Demo</a:t>
            </a:r>
            <a:endParaRPr lang="en-US" dirty="0"/>
          </a:p>
        </p:txBody>
      </p:sp>
    </p:spTree>
    <p:extLst>
      <p:ext uri="{BB962C8B-B14F-4D97-AF65-F5344CB8AC3E}">
        <p14:creationId xmlns:p14="http://schemas.microsoft.com/office/powerpoint/2010/main" val="2804618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F1CCC-7A14-D37D-773F-B279B10ECE5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6FABAB2-64DD-0D02-588C-315BF5133D63}"/>
              </a:ext>
            </a:extLst>
          </p:cNvPr>
          <p:cNvSpPr/>
          <p:nvPr/>
        </p:nvSpPr>
        <p:spPr>
          <a:xfrm>
            <a:off x="333375" y="378172"/>
            <a:ext cx="11525250" cy="548580"/>
          </a:xfrm>
          <a:prstGeom prst="rect">
            <a:avLst/>
          </a:prstGeom>
          <a:noFill/>
          <a:ln>
            <a:miter lim="800000"/>
          </a:ln>
        </p:spPr>
        <p:txBody>
          <a:bodyPr wrap="square" lIns="0" tIns="0" rIns="0" bIns="0" rtlCol="0" anchor="t"/>
          <a:lstStyle/>
          <a:p>
            <a:pPr algn="ctr" fontAlgn="ctr">
              <a:lnSpc>
                <a:spcPts val="4320"/>
              </a:lnSpc>
            </a:pPr>
            <a:r>
              <a:rPr lang="en-US" sz="3750" kern="0" spc="-225" dirty="0">
                <a:solidFill>
                  <a:srgbClr val="FFFFFF"/>
                </a:solidFill>
                <a:latin typeface="Inter SemiBold" pitchFamily="34" charset="0"/>
                <a:ea typeface="Inter SemiBold" pitchFamily="34" charset="-122"/>
                <a:cs typeface="Inter SemiBold" pitchFamily="34" charset="-120"/>
              </a:rPr>
              <a:t>Conclusion</a:t>
            </a:r>
            <a:endParaRPr lang="en-US" dirty="0"/>
          </a:p>
        </p:txBody>
      </p:sp>
      <p:sp>
        <p:nvSpPr>
          <p:cNvPr id="4" name="TextBox 3">
            <a:extLst>
              <a:ext uri="{FF2B5EF4-FFF2-40B4-BE49-F238E27FC236}">
                <a16:creationId xmlns:a16="http://schemas.microsoft.com/office/drawing/2014/main" id="{74EAA3D8-FD0F-5D51-F6EC-889657BB9291}"/>
              </a:ext>
            </a:extLst>
          </p:cNvPr>
          <p:cNvSpPr txBox="1"/>
          <p:nvPr/>
        </p:nvSpPr>
        <p:spPr>
          <a:xfrm>
            <a:off x="416858" y="1164470"/>
            <a:ext cx="11358283" cy="6017032"/>
          </a:xfrm>
          <a:prstGeom prst="rect">
            <a:avLst/>
          </a:prstGeom>
          <a:noFill/>
        </p:spPr>
        <p:txBody>
          <a:bodyPr wrap="square">
            <a:spAutoFit/>
          </a:bodyPr>
          <a:lstStyle/>
          <a:p>
            <a:r>
              <a:rPr lang="en-US" b="1" dirty="0">
                <a:solidFill>
                  <a:schemeClr val="bg1"/>
                </a:solidFill>
              </a:rPr>
              <a:t>Key Findings:</a:t>
            </a:r>
          </a:p>
          <a:p>
            <a:endParaRPr lang="en-US" b="1" dirty="0">
              <a:solidFill>
                <a:schemeClr val="bg1"/>
              </a:solidFill>
            </a:endParaRPr>
          </a:p>
          <a:p>
            <a:pPr marL="285750" lvl="0" indent="-285750">
              <a:buFont typeface="Arial" panose="020B0604020202020204" pitchFamily="34" charset="0"/>
              <a:buChar char="•"/>
            </a:pPr>
            <a:r>
              <a:rPr lang="en-US" dirty="0">
                <a:solidFill>
                  <a:schemeClr val="bg1"/>
                </a:solidFill>
              </a:rPr>
              <a:t>Hybrid Approach Superiority: The hybrid model significantly outperforms pure rule-based, validating the core research hypothesis.</a:t>
            </a:r>
            <a:endParaRPr lang="en-US" b="1" dirty="0">
              <a:solidFill>
                <a:schemeClr val="bg1"/>
              </a:solidFill>
            </a:endParaRPr>
          </a:p>
          <a:p>
            <a:pPr marL="285750" lvl="0" indent="-285750">
              <a:buFont typeface="Arial" panose="020B0604020202020204" pitchFamily="34" charset="0"/>
              <a:buChar char="•"/>
            </a:pPr>
            <a:r>
              <a:rPr lang="en-US" dirty="0">
                <a:solidFill>
                  <a:schemeClr val="bg1"/>
                </a:solidFill>
              </a:rPr>
              <a:t>Complementary Detection: The rule engine catches structural issues (missing fields, format violations) that ML misses, while ML detects semantic hollowness (vague language, non-actionable content) that rules cannot identify.</a:t>
            </a:r>
            <a:endParaRPr lang="en-US" b="1" dirty="0">
              <a:solidFill>
                <a:schemeClr val="bg1"/>
              </a:solidFill>
            </a:endParaRPr>
          </a:p>
          <a:p>
            <a:pPr marL="285750" lvl="0" indent="-285750">
              <a:buFont typeface="Arial" panose="020B0604020202020204" pitchFamily="34" charset="0"/>
              <a:buChar char="•"/>
            </a:pPr>
            <a:r>
              <a:rPr lang="en-US" dirty="0">
                <a:solidFill>
                  <a:schemeClr val="bg1"/>
                </a:solidFill>
              </a:rPr>
              <a:t>Optimal Configuration: The 60% Rule / 40% ML weight configuration with a 70% threshold provides the best balance of accuracy (92.51%), precision (89.85%), and recall (93.9%).</a:t>
            </a:r>
            <a:endParaRPr lang="en-US" b="1" dirty="0">
              <a:solidFill>
                <a:schemeClr val="bg1"/>
              </a:solidFill>
            </a:endParaRPr>
          </a:p>
          <a:p>
            <a:pPr marL="285750" lvl="0" indent="-285750">
              <a:buFont typeface="Arial" panose="020B0604020202020204" pitchFamily="34" charset="0"/>
              <a:buChar char="•"/>
            </a:pPr>
            <a:r>
              <a:rPr lang="en-US" dirty="0">
                <a:solidFill>
                  <a:schemeClr val="bg1"/>
                </a:solidFill>
              </a:rPr>
              <a:t>Domain-Specific Effectiveness: The custom vague term library and rule configurations, developed specifically for the AML domain, contribute significantly to the system's effectiveness.</a:t>
            </a:r>
          </a:p>
          <a:p>
            <a:pPr marL="285750" lvl="0" indent="-285750">
              <a:buFont typeface="Arial" panose="020B0604020202020204" pitchFamily="34" charset="0"/>
              <a:buChar char="•"/>
            </a:pPr>
            <a:endParaRPr lang="en-US" b="1" dirty="0">
              <a:solidFill>
                <a:schemeClr val="bg1"/>
              </a:solidFill>
            </a:endParaRPr>
          </a:p>
          <a:p>
            <a:pPr lvl="0"/>
            <a:r>
              <a:rPr lang="en-US" b="1" dirty="0">
                <a:solidFill>
                  <a:schemeClr val="bg1"/>
                </a:solidFill>
              </a:rPr>
              <a:t>Summary</a:t>
            </a:r>
          </a:p>
          <a:p>
            <a:pPr marL="285750" lvl="0" indent="-285750">
              <a:buFont typeface="Arial" panose="020B0604020202020204" pitchFamily="34" charset="0"/>
              <a:buChar char="•"/>
            </a:pPr>
            <a:endParaRPr lang="en-US" b="1" dirty="0">
              <a:solidFill>
                <a:schemeClr val="bg1"/>
              </a:solidFill>
            </a:endParaRPr>
          </a:p>
          <a:p>
            <a:pPr marL="285750" marR="0" indent="-285750">
              <a:spcAft>
                <a:spcPts val="1000"/>
              </a:spcAft>
              <a:buFont typeface="Arial" panose="020B0604020202020204" pitchFamily="34" charset="0"/>
              <a:buChar char="•"/>
            </a:pPr>
            <a:r>
              <a:rPr lang="en-US" dirty="0">
                <a:solidFill>
                  <a:schemeClr val="bg1"/>
                </a:solidFill>
              </a:rPr>
              <a:t>The developed Hybrid Scoring Framework successfully demonstrates that combining deterministic rule-based validation with probabilistic machine learning significantly enhances requirement quality assessment.</a:t>
            </a:r>
          </a:p>
          <a:p>
            <a:pPr marL="285750" marR="0" indent="-285750">
              <a:spcAft>
                <a:spcPts val="1000"/>
              </a:spcAft>
              <a:buFont typeface="Arial" panose="020B0604020202020204" pitchFamily="34" charset="0"/>
              <a:buChar char="•"/>
            </a:pPr>
            <a:r>
              <a:rPr lang="en-US" dirty="0">
                <a:solidFill>
                  <a:schemeClr val="bg1"/>
                </a:solidFill>
              </a:rPr>
              <a:t> By automating the detection of semantically hollow requirements, teams can reduce the time spent in manual reviews and minimize sprint spillover.</a:t>
            </a:r>
          </a:p>
          <a:p>
            <a:pPr marL="285750" marR="0" indent="-285750">
              <a:spcAft>
                <a:spcPts val="1000"/>
              </a:spcAft>
              <a:buFont typeface="Arial" panose="020B0604020202020204" pitchFamily="34" charset="0"/>
              <a:buChar char="•"/>
            </a:pPr>
            <a:r>
              <a:rPr lang="en-US" dirty="0">
                <a:solidFill>
                  <a:schemeClr val="bg1"/>
                </a:solidFill>
              </a:rPr>
              <a:t>Recommendation: Future iterations should focus on integrating this framework directly into the Jira webhook API to provide real-time, 'as-you-type' feedback to creators.</a:t>
            </a:r>
          </a:p>
          <a:p>
            <a:pPr marL="285750" lvl="0" indent="-285750">
              <a:buFont typeface="Arial" panose="020B0604020202020204" pitchFamily="34" charset="0"/>
              <a:buChar char="•"/>
            </a:pPr>
            <a:endParaRPr lang="en-US" b="1" dirty="0">
              <a:solidFill>
                <a:schemeClr val="bg1"/>
              </a:solidFill>
            </a:endParaRPr>
          </a:p>
        </p:txBody>
      </p:sp>
    </p:spTree>
    <p:extLst>
      <p:ext uri="{BB962C8B-B14F-4D97-AF65-F5344CB8AC3E}">
        <p14:creationId xmlns:p14="http://schemas.microsoft.com/office/powerpoint/2010/main" val="3697845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D7B60-DA7B-AF44-0A0E-961160949CC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CF518C5-0B4F-A433-2A14-BDE48D508116}"/>
              </a:ext>
            </a:extLst>
          </p:cNvPr>
          <p:cNvSpPr>
            <a:spLocks noGrp="1"/>
          </p:cNvSpPr>
          <p:nvPr>
            <p:ph type="title"/>
          </p:nvPr>
        </p:nvSpPr>
        <p:spPr>
          <a:xfrm>
            <a:off x="1262743" y="3592829"/>
            <a:ext cx="9107055" cy="1524000"/>
          </a:xfrm>
        </p:spPr>
        <p:txBody>
          <a:bodyPr/>
          <a:lstStyle/>
          <a:p>
            <a:pPr algn="ctr">
              <a:lnSpc>
                <a:spcPts val="3888"/>
              </a:lnSpc>
            </a:pPr>
            <a:br>
              <a:rPr lang="en-US" sz="3200" kern="0" spc="-203" dirty="0">
                <a:solidFill>
                  <a:srgbClr val="FFFFFF"/>
                </a:solidFill>
                <a:ea typeface="Inter SemiBold" pitchFamily="34" charset="-122"/>
                <a:cs typeface="Inter SemiBold" pitchFamily="34" charset="-120"/>
              </a:rPr>
            </a:br>
            <a:r>
              <a:rPr lang="en-US" sz="3200" kern="0" spc="-203" dirty="0">
                <a:solidFill>
                  <a:srgbClr val="FFFFFF"/>
                </a:solidFill>
                <a:ea typeface="Inter SemiBold" pitchFamily="34" charset="-122"/>
                <a:cs typeface="Inter SemiBold" pitchFamily="34" charset="-120"/>
              </a:rPr>
              <a:t>Questions and Suggestions</a:t>
            </a:r>
            <a:endParaRPr lang="en-US" sz="3200" dirty="0"/>
          </a:p>
        </p:txBody>
      </p:sp>
      <p:sp>
        <p:nvSpPr>
          <p:cNvPr id="2" name="Slide Number Placeholder 1">
            <a:extLst>
              <a:ext uri="{FF2B5EF4-FFF2-40B4-BE49-F238E27FC236}">
                <a16:creationId xmlns:a16="http://schemas.microsoft.com/office/drawing/2014/main" id="{974ED713-518C-66E5-ADF4-22C88C33F380}"/>
              </a:ext>
            </a:extLst>
          </p:cNvPr>
          <p:cNvSpPr>
            <a:spLocks noGrp="1"/>
          </p:cNvSpPr>
          <p:nvPr>
            <p:ph type="sldNum" sz="quarter" idx="16"/>
          </p:nvPr>
        </p:nvSpPr>
        <p:spPr>
          <a:xfrm>
            <a:off x="8839200" y="6340476"/>
            <a:ext cx="18288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8D7E44-7D4F-4942-A8C9-2DF6BF8399E8}" type="slidenum">
              <a:rPr lang="en-US" smtClean="0"/>
              <a:pPr/>
              <a:t>26</a:t>
            </a:fld>
            <a:endParaRPr lang="en-US" dirty="0"/>
          </a:p>
        </p:txBody>
      </p:sp>
    </p:spTree>
    <p:extLst>
      <p:ext uri="{BB962C8B-B14F-4D97-AF65-F5344CB8AC3E}">
        <p14:creationId xmlns:p14="http://schemas.microsoft.com/office/powerpoint/2010/main" val="1318945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92EB4-3FAB-B2B6-ADFE-08009E0D9BE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E47C99A-C816-7485-E569-B0B34AD36B53}"/>
              </a:ext>
            </a:extLst>
          </p:cNvPr>
          <p:cNvSpPr>
            <a:spLocks noGrp="1"/>
          </p:cNvSpPr>
          <p:nvPr>
            <p:ph type="title"/>
          </p:nvPr>
        </p:nvSpPr>
        <p:spPr>
          <a:xfrm>
            <a:off x="1262743" y="3592829"/>
            <a:ext cx="9107055" cy="1524000"/>
          </a:xfrm>
        </p:spPr>
        <p:txBody>
          <a:bodyPr/>
          <a:lstStyle/>
          <a:p>
            <a:pPr algn="ctr">
              <a:lnSpc>
                <a:spcPts val="3888"/>
              </a:lnSpc>
            </a:pPr>
            <a:r>
              <a:rPr lang="en-US" sz="3200" kern="0" spc="-203" dirty="0">
                <a:solidFill>
                  <a:srgbClr val="FFFFFF"/>
                </a:solidFill>
                <a:ea typeface="Inter SemiBold" pitchFamily="34" charset="-122"/>
                <a:cs typeface="Inter SemiBold" pitchFamily="34" charset="-120"/>
              </a:rPr>
              <a:t>THANK YOU</a:t>
            </a:r>
            <a:endParaRPr lang="en-US" sz="3200" dirty="0"/>
          </a:p>
        </p:txBody>
      </p:sp>
      <p:sp>
        <p:nvSpPr>
          <p:cNvPr id="2" name="Slide Number Placeholder 1">
            <a:extLst>
              <a:ext uri="{FF2B5EF4-FFF2-40B4-BE49-F238E27FC236}">
                <a16:creationId xmlns:a16="http://schemas.microsoft.com/office/drawing/2014/main" id="{D687E160-0C9A-2F7C-4C25-F59B1F392ED7}"/>
              </a:ext>
            </a:extLst>
          </p:cNvPr>
          <p:cNvSpPr>
            <a:spLocks noGrp="1"/>
          </p:cNvSpPr>
          <p:nvPr>
            <p:ph type="sldNum" sz="quarter" idx="16"/>
          </p:nvPr>
        </p:nvSpPr>
        <p:spPr>
          <a:xfrm>
            <a:off x="8839200" y="6340476"/>
            <a:ext cx="18288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8D7E44-7D4F-4942-A8C9-2DF6BF8399E8}" type="slidenum">
              <a:rPr lang="en-US" smtClean="0"/>
              <a:pPr/>
              <a:t>27</a:t>
            </a:fld>
            <a:endParaRPr lang="en-US" dirty="0"/>
          </a:p>
        </p:txBody>
      </p:sp>
      <p:graphicFrame>
        <p:nvGraphicFramePr>
          <p:cNvPr id="6" name="Table 5">
            <a:extLst>
              <a:ext uri="{FF2B5EF4-FFF2-40B4-BE49-F238E27FC236}">
                <a16:creationId xmlns:a16="http://schemas.microsoft.com/office/drawing/2014/main" id="{90F74966-B87E-D2E3-B990-CADDBB4C2C3F}"/>
              </a:ext>
            </a:extLst>
          </p:cNvPr>
          <p:cNvGraphicFramePr>
            <a:graphicFrameLocks noGrp="1"/>
          </p:cNvGraphicFramePr>
          <p:nvPr/>
        </p:nvGraphicFramePr>
        <p:xfrm>
          <a:off x="8238744" y="5116829"/>
          <a:ext cx="2532888" cy="404114"/>
        </p:xfrm>
        <a:graphic>
          <a:graphicData uri="http://schemas.openxmlformats.org/drawingml/2006/table">
            <a:tbl>
              <a:tblPr/>
              <a:tblGrid>
                <a:gridCol w="2532888">
                  <a:extLst>
                    <a:ext uri="{9D8B030D-6E8A-4147-A177-3AD203B41FA5}">
                      <a16:colId xmlns:a16="http://schemas.microsoft.com/office/drawing/2014/main" val="4215647134"/>
                    </a:ext>
                  </a:extLst>
                </a:gridCol>
              </a:tblGrid>
              <a:tr h="106360">
                <a:tc>
                  <a:txBody>
                    <a:bodyPr/>
                    <a:lstStyle/>
                    <a:p>
                      <a:pPr algn="ctr" fontAlgn="ctr"/>
                      <a:r>
                        <a:rPr lang="en-US" sz="1200" b="1" i="0" u="none" strike="noStrike" dirty="0">
                          <a:solidFill>
                            <a:schemeClr val="bg1"/>
                          </a:solidFill>
                          <a:effectLst/>
                          <a:latin typeface="+mj-lt"/>
                        </a:rPr>
                        <a:t>KAMTHEKAR PRASANNA YESHWANTRAO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973968"/>
                  </a:ext>
                </a:extLst>
              </a:tr>
              <a:tr h="125078">
                <a:tc>
                  <a:txBody>
                    <a:bodyPr/>
                    <a:lstStyle/>
                    <a:p>
                      <a:pPr algn="ctr">
                        <a:lnSpc>
                          <a:spcPts val="1744"/>
                        </a:lnSpc>
                        <a:spcBef>
                          <a:spcPts val="745"/>
                        </a:spcBef>
                      </a:pPr>
                      <a:r>
                        <a:rPr lang="en-US" sz="1200" b="1" kern="0" spc="-26" dirty="0">
                          <a:solidFill>
                            <a:srgbClr val="FFFFFF">
                              <a:alpha val="80000"/>
                            </a:srgbClr>
                          </a:solidFill>
                          <a:latin typeface="+mj-lt"/>
                          <a:ea typeface="Inter Medium" pitchFamily="34" charset="-122"/>
                          <a:cs typeface="Inter Medium" pitchFamily="34" charset="-120"/>
                        </a:rPr>
                        <a:t> BITS ID: 2024DA04180</a:t>
                      </a:r>
                      <a:endParaRPr lang="en-US" sz="1200" b="1" dirty="0">
                        <a:latin typeface="+mj-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3590566"/>
                  </a:ext>
                </a:extLst>
              </a:tr>
            </a:tbl>
          </a:graphicData>
        </a:graphic>
      </p:graphicFrame>
    </p:spTree>
    <p:extLst>
      <p:ext uri="{BB962C8B-B14F-4D97-AF65-F5344CB8AC3E}">
        <p14:creationId xmlns:p14="http://schemas.microsoft.com/office/powerpoint/2010/main" val="23976734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139CE5"/>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3157</TotalTime>
  <Words>3669</Words>
  <Application>Microsoft Office PowerPoint</Application>
  <PresentationFormat>Widescreen</PresentationFormat>
  <Paragraphs>500</Paragraphs>
  <Slides>27</Slides>
  <Notes>24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Arial</vt:lpstr>
      <vt:lpstr>Calibri</vt:lpstr>
      <vt:lpstr>Calibri Light</vt:lpstr>
      <vt:lpstr>Courier New</vt:lpstr>
      <vt:lpstr>Inter Extra Bold</vt:lpstr>
      <vt:lpstr>Inter Medium</vt:lpstr>
      <vt:lpstr>Inter SemiBold</vt:lpstr>
      <vt:lpstr>Segoe UI</vt:lpstr>
      <vt:lpstr>Symbol</vt:lpstr>
      <vt:lpstr>Times New Roman</vt:lpstr>
      <vt:lpstr>Office Theme</vt:lpstr>
      <vt:lpstr>Final Report Presentation :  A Hybrid Scoring Framework for Jira Requirement Quality: Integrating Domain Rules with Machine Learning Classification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Questions and Suggestions</vt:lpstr>
      <vt:lpstr>THANK YOU</vt:lpstr>
    </vt:vector>
  </TitlesOfParts>
  <Company>Beautiful.ai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Presentation</dc:subject>
  <dc:creator>Beautiful.ai</dc:creator>
  <cp:lastModifiedBy>Prasanna Kamthekar</cp:lastModifiedBy>
  <cp:revision>23</cp:revision>
  <dcterms:created xsi:type="dcterms:W3CDTF">2026-05-16T16:55:21Z</dcterms:created>
  <dcterms:modified xsi:type="dcterms:W3CDTF">2026-08-01T14:44:00Z</dcterms:modified>
</cp:coreProperties>
</file>